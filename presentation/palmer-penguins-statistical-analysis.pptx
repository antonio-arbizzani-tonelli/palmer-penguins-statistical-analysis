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5a242c6a2b40c0" /><Relationship Type="http://schemas.openxmlformats.org/officeDocument/2006/relationships/extended-properties" Target="/docProps/app.xml" Id="R15234f3542c5478f" /><Relationship Type="http://schemas.openxmlformats.org/officeDocument/2006/relationships/officeDocument" Target="/ppt/presentation.xml" Id="Rf9af8709adca45e4" /></Relationships>
</file>

<file path=ppt/presentation.xml><?xml version="1.0" encoding="utf-8"?>
<p:presentation xmlns:p="http://schemas.openxmlformats.org/presentationml/2006/main">
  <p:sldMasterIdLst>
    <p:sldMasterId xmlns:r="http://schemas.openxmlformats.org/officeDocument/2006/relationships" id="2147483648" r:id="R9efbaea54fbd4239"/>
  </p:sldMasterIdLst>
  <p:notesMasterIdLst>
    <p:notesMasterId xmlns:r="http://schemas.openxmlformats.org/officeDocument/2006/relationships" r:id="R2069440752b145e5"/>
  </p:notesMasterIdLst>
  <p:sldIdLst>
    <p:sldId xmlns:r="http://schemas.openxmlformats.org/officeDocument/2006/relationships" id="256" r:id="R5a450a9b862e48e7"/>
    <p:sldId xmlns:r="http://schemas.openxmlformats.org/officeDocument/2006/relationships" id="257" r:id="Rd229ffbff85147a9"/>
    <p:sldId xmlns:r="http://schemas.openxmlformats.org/officeDocument/2006/relationships" id="258" r:id="Re3bff45dc33d4773"/>
    <p:sldId xmlns:r="http://schemas.openxmlformats.org/officeDocument/2006/relationships" id="259" r:id="Rd997a3ab82e344af"/>
    <p:sldId xmlns:r="http://schemas.openxmlformats.org/officeDocument/2006/relationships" id="260" r:id="Rff6ada4b1f934691"/>
    <p:sldId xmlns:r="http://schemas.openxmlformats.org/officeDocument/2006/relationships" id="261" r:id="R72fb29f56f24424a"/>
    <p:sldId xmlns:r="http://schemas.openxmlformats.org/officeDocument/2006/relationships" id="262" r:id="R52243a52039a4759"/>
    <p:sldId xmlns:r="http://schemas.openxmlformats.org/officeDocument/2006/relationships" id="263" r:id="R1c3fe1f1e239458e"/>
    <p:sldId xmlns:r="http://schemas.openxmlformats.org/officeDocument/2006/relationships" id="264" r:id="R819190e8edae4440"/>
    <p:sldId xmlns:r="http://schemas.openxmlformats.org/officeDocument/2006/relationships" id="265" r:id="Rf233fddfc6fb4072"/>
    <p:sldId xmlns:r="http://schemas.openxmlformats.org/officeDocument/2006/relationships" id="266" r:id="R41ed117eaef14914"/>
    <p:sldId xmlns:r="http://schemas.openxmlformats.org/officeDocument/2006/relationships" id="267" r:id="R1358280b0b2846df"/>
    <p:sldId xmlns:r="http://schemas.openxmlformats.org/officeDocument/2006/relationships" id="268" r:id="R34b79a5c5a134955"/>
    <p:sldId xmlns:r="http://schemas.openxmlformats.org/officeDocument/2006/relationships" id="269" r:id="R8c8146e5a0c64007"/>
    <p:sldId xmlns:r="http://schemas.openxmlformats.org/officeDocument/2006/relationships" id="270" r:id="Re3898cfbeb64457a"/>
    <p:sldId xmlns:r="http://schemas.openxmlformats.org/officeDocument/2006/relationships" id="271" r:id="R548bfabe49e14a6d"/>
    <p:sldId xmlns:r="http://schemas.openxmlformats.org/officeDocument/2006/relationships" id="272" r:id="R1ce786e67e5446d3"/>
    <p:sldId xmlns:r="http://schemas.openxmlformats.org/officeDocument/2006/relationships" id="273" r:id="Ra5b1fbb39c1f43d4"/>
    <p:sldId xmlns:r="http://schemas.openxmlformats.org/officeDocument/2006/relationships" id="274" r:id="R41f54e80ba624f75"/>
    <p:sldId xmlns:r="http://schemas.openxmlformats.org/officeDocument/2006/relationships" id="275" r:id="R485a59f328c84de3"/>
    <p:sldId xmlns:r="http://schemas.openxmlformats.org/officeDocument/2006/relationships" id="276" r:id="R5507a01174cc411f"/>
    <p:sldId xmlns:r="http://schemas.openxmlformats.org/officeDocument/2006/relationships" id="277" r:id="R22fe2595fc8a4b5e"/>
    <p:sldId xmlns:r="http://schemas.openxmlformats.org/officeDocument/2006/relationships" id="278" r:id="Rf0805fc3ee9548e5"/>
    <p:sldId xmlns:r="http://schemas.openxmlformats.org/officeDocument/2006/relationships" id="279" r:id="R7a3f441b5b44452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17b1755c9ca4a7f" /><Relationship Type="http://schemas.openxmlformats.org/officeDocument/2006/relationships/slideMaster" Target="/ppt/slideMasters/slideMaster1.xml" Id="R9efbaea54fbd4239" /><Relationship Type="http://schemas.openxmlformats.org/officeDocument/2006/relationships/notesMaster" Target="/ppt/notesMasters/notesMaster1.xml" Id="R2069440752b145e5" /><Relationship Type="http://schemas.openxmlformats.org/officeDocument/2006/relationships/presProps" Target="/ppt/presProps.xml" Id="R232e420461ef4eeb" /><Relationship Type="http://schemas.openxmlformats.org/officeDocument/2006/relationships/viewProps" Target="/ppt/viewProps.xml" Id="R4217cfd7721e4b1b" /><Relationship Type="http://schemas.openxmlformats.org/officeDocument/2006/relationships/tableStyles" Target="/ppt/tableStyles.xml" Id="R1968be916ed14494" /><Relationship Type="http://schemas.openxmlformats.org/officeDocument/2006/relationships/slide" Target="/ppt/slides/slide1.xml" Id="R5a450a9b862e48e7" /><Relationship Type="http://schemas.openxmlformats.org/officeDocument/2006/relationships/slide" Target="/ppt/slides/slide2.xml" Id="Rd229ffbff85147a9" /><Relationship Type="http://schemas.openxmlformats.org/officeDocument/2006/relationships/slide" Target="/ppt/slides/slide3.xml" Id="Re3bff45dc33d4773" /><Relationship Type="http://schemas.openxmlformats.org/officeDocument/2006/relationships/slide" Target="/ppt/slides/slide4.xml" Id="Rd997a3ab82e344af" /><Relationship Type="http://schemas.openxmlformats.org/officeDocument/2006/relationships/slide" Target="/ppt/slides/slide5.xml" Id="Rff6ada4b1f934691" /><Relationship Type="http://schemas.openxmlformats.org/officeDocument/2006/relationships/slide" Target="/ppt/slides/slide6.xml" Id="R72fb29f56f24424a" /><Relationship Type="http://schemas.openxmlformats.org/officeDocument/2006/relationships/slide" Target="/ppt/slides/slide7.xml" Id="R52243a52039a4759" /><Relationship Type="http://schemas.openxmlformats.org/officeDocument/2006/relationships/slide" Target="/ppt/slides/slide8.xml" Id="R1c3fe1f1e239458e" /><Relationship Type="http://schemas.openxmlformats.org/officeDocument/2006/relationships/slide" Target="/ppt/slides/slide9.xml" Id="R819190e8edae4440" /><Relationship Type="http://schemas.openxmlformats.org/officeDocument/2006/relationships/slide" Target="/ppt/slides/slide10.xml" Id="Rf233fddfc6fb4072" /><Relationship Type="http://schemas.openxmlformats.org/officeDocument/2006/relationships/slide" Target="/ppt/slides/slide11.xml" Id="R41ed117eaef14914" /><Relationship Type="http://schemas.openxmlformats.org/officeDocument/2006/relationships/slide" Target="/ppt/slides/slide12.xml" Id="R1358280b0b2846df" /><Relationship Type="http://schemas.openxmlformats.org/officeDocument/2006/relationships/slide" Target="/ppt/slides/slide13.xml" Id="R34b79a5c5a134955" /><Relationship Type="http://schemas.openxmlformats.org/officeDocument/2006/relationships/slide" Target="/ppt/slides/slide14.xml" Id="R8c8146e5a0c64007" /><Relationship Type="http://schemas.openxmlformats.org/officeDocument/2006/relationships/slide" Target="/ppt/slides/slide15.xml" Id="Re3898cfbeb64457a" /><Relationship Type="http://schemas.openxmlformats.org/officeDocument/2006/relationships/slide" Target="/ppt/slides/slide16.xml" Id="R548bfabe49e14a6d" /><Relationship Type="http://schemas.openxmlformats.org/officeDocument/2006/relationships/slide" Target="/ppt/slides/slide17.xml" Id="R1ce786e67e5446d3" /><Relationship Type="http://schemas.openxmlformats.org/officeDocument/2006/relationships/slide" Target="/ppt/slides/slide18.xml" Id="Ra5b1fbb39c1f43d4" /><Relationship Type="http://schemas.openxmlformats.org/officeDocument/2006/relationships/slide" Target="/ppt/slides/slide19.xml" Id="R41f54e80ba624f75" /><Relationship Type="http://schemas.openxmlformats.org/officeDocument/2006/relationships/slide" Target="/ppt/slides/slide20.xml" Id="R485a59f328c84de3" /><Relationship Type="http://schemas.openxmlformats.org/officeDocument/2006/relationships/slide" Target="/ppt/slides/slide21.xml" Id="R5507a01174cc411f" /><Relationship Type="http://schemas.openxmlformats.org/officeDocument/2006/relationships/slide" Target="/ppt/slides/slide22.xml" Id="R22fe2595fc8a4b5e" /><Relationship Type="http://schemas.openxmlformats.org/officeDocument/2006/relationships/slide" Target="/ppt/slides/slide23.xml" Id="Rf0805fc3ee9548e5" /><Relationship Type="http://schemas.openxmlformats.org/officeDocument/2006/relationships/slide" Target="/ppt/slides/slide24.xml" Id="R7a3f441b5b4445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bee51cbe0545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1f1615c50047d5" /><Relationship Type="http://schemas.openxmlformats.org/officeDocument/2006/relationships/notesMaster" Target="/ppt/notesMasters/notesMaster1.xml" Id="R1b6e2696496840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5d60d7ff754e7c" /><Relationship Type="http://schemas.openxmlformats.org/officeDocument/2006/relationships/notesMaster" Target="/ppt/notesMasters/notesMaster1.xml" Id="Rf1573fa997a54b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1a7bbd20f648ce" /><Relationship Type="http://schemas.openxmlformats.org/officeDocument/2006/relationships/notesMaster" Target="/ppt/notesMasters/notesMaster1.xml" Id="R58b5629775a944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26a6036d784e02" /><Relationship Type="http://schemas.openxmlformats.org/officeDocument/2006/relationships/notesMaster" Target="/ppt/notesMasters/notesMaster1.xml" Id="R064b6d898c924d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c1a61555d54a6d" /><Relationship Type="http://schemas.openxmlformats.org/officeDocument/2006/relationships/notesMaster" Target="/ppt/notesMasters/notesMaster1.xml" Id="R23be546807994e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aa307fdf734c47" /><Relationship Type="http://schemas.openxmlformats.org/officeDocument/2006/relationships/notesMaster" Target="/ppt/notesMasters/notesMaster1.xml" Id="Rfee7d1fdb63940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84f643ee884e62" /><Relationship Type="http://schemas.openxmlformats.org/officeDocument/2006/relationships/notesMaster" Target="/ppt/notesMasters/notesMaster1.xml" Id="R2cefe1fa6cc54e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3492aaa93f4d11" /><Relationship Type="http://schemas.openxmlformats.org/officeDocument/2006/relationships/notesMaster" Target="/ppt/notesMasters/notesMaster1.xml" Id="Re6b74dd9244749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e403c20e5b4665" /><Relationship Type="http://schemas.openxmlformats.org/officeDocument/2006/relationships/notesMaster" Target="/ppt/notesMasters/notesMaster1.xml" Id="R2e8c351a800048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e4c5e5a5ef4ed4" /><Relationship Type="http://schemas.openxmlformats.org/officeDocument/2006/relationships/notesMaster" Target="/ppt/notesMasters/notesMaster1.xml" Id="R83c43d446bc644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31c2bd46e847f1" /><Relationship Type="http://schemas.openxmlformats.org/officeDocument/2006/relationships/notesMaster" Target="/ppt/notesMasters/notesMaster1.xml" Id="R028705e1510e41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4ccf0ee1bd4073" /><Relationship Type="http://schemas.openxmlformats.org/officeDocument/2006/relationships/notesMaster" Target="/ppt/notesMasters/notesMaster1.xml" Id="Rbf11406a1ceb44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54a4e24b8734d68" /><Relationship Type="http://schemas.openxmlformats.org/officeDocument/2006/relationships/notesMaster" Target="/ppt/notesMasters/notesMaster1.xml" Id="R598881a2dc3e4c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a6ceaf290c4e55" /><Relationship Type="http://schemas.openxmlformats.org/officeDocument/2006/relationships/notesMaster" Target="/ppt/notesMasters/notesMaster1.xml" Id="R37fe4fd9164c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472a03ead94468" /><Relationship Type="http://schemas.openxmlformats.org/officeDocument/2006/relationships/notesMaster" Target="/ppt/notesMasters/notesMaster1.xml" Id="R2d791f842e0e44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32f3867bac40a8" /><Relationship Type="http://schemas.openxmlformats.org/officeDocument/2006/relationships/notesMaster" Target="/ppt/notesMasters/notesMaster1.xml" Id="R29f70218826c40c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dfcf20b0bd4345" /><Relationship Type="http://schemas.openxmlformats.org/officeDocument/2006/relationships/notesMaster" Target="/ppt/notesMasters/notesMaster1.xml" Id="R9994d30f9a984b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bf90cdee994225" /><Relationship Type="http://schemas.openxmlformats.org/officeDocument/2006/relationships/notesMaster" Target="/ppt/notesMasters/notesMaster1.xml" Id="Rdb2ea54ac75d40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f925a83e9743cd" /><Relationship Type="http://schemas.openxmlformats.org/officeDocument/2006/relationships/notesMaster" Target="/ppt/notesMasters/notesMaster1.xml" Id="Rd4d55621fa4a44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fc77f7b7aa94d9f" /><Relationship Type="http://schemas.openxmlformats.org/officeDocument/2006/relationships/notesMaster" Target="/ppt/notesMasters/notesMaster1.xml" Id="R10af7a7962aa4f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1b64c40393a46a2" /><Relationship Type="http://schemas.openxmlformats.org/officeDocument/2006/relationships/notesMaster" Target="/ppt/notesMasters/notesMaster1.xml" Id="Rf80c52c6be3e4f7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1ccc89d1a14aa6" /><Relationship Type="http://schemas.openxmlformats.org/officeDocument/2006/relationships/notesMaster" Target="/ppt/notesMasters/notesMaster1.xml" Id="R3965daace5e847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2ee008f71e4bde" /><Relationship Type="http://schemas.openxmlformats.org/officeDocument/2006/relationships/notesMaster" Target="/ppt/notesMasters/notesMaster1.xml" Id="R4be80c31e9e54c4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db0bd3bfbd49ce" /><Relationship Type="http://schemas.openxmlformats.org/officeDocument/2006/relationships/notesMaster" Target="/ppt/notesMasters/notesMaster1.xml" Id="R44f105d20c6345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440e1f8c33482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46d44e440e41e5" /><Relationship Type="http://schemas.openxmlformats.org/officeDocument/2006/relationships/slideLayout" Target="/ppt/slideLayouts/slideLayout1.xml" Id="R60e9dcb9e108420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e9dcb9e108420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410a4224254ef0" /><Relationship Type="http://schemas.openxmlformats.org/officeDocument/2006/relationships/image" Target="/ppt/media/image.jpeg" Id="Rad6c910254214b49" /><Relationship Type="http://schemas.openxmlformats.org/officeDocument/2006/relationships/notesSlide" Target="/ppt/notesSlides/notesSlide1.xml" Id="Re1ade92e35d141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dd8c503d8647ff" /><Relationship Type="http://schemas.openxmlformats.org/officeDocument/2006/relationships/notesSlide" Target="/ppt/notesSlides/notesSlide2.xml" Id="Rb043a2cfe91542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034799a8b44fe7" /><Relationship Type="http://schemas.openxmlformats.org/officeDocument/2006/relationships/notesSlide" Target="/ppt/notesSlides/notesSlide3.xml" Id="R64646342b71148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706ea256654477" /><Relationship Type="http://schemas.openxmlformats.org/officeDocument/2006/relationships/notesSlide" Target="/ppt/notesSlides/notesSlide4.xml" Id="R227e20c9d7d047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c45ba48a204fbb" /><Relationship Type="http://schemas.openxmlformats.org/officeDocument/2006/relationships/image" Target="/ppt/media/image.png" Id="Rf085c3a890f6433f" /><Relationship Type="http://schemas.openxmlformats.org/officeDocument/2006/relationships/image" Target="/ppt/media/image.svg" Id="R3177eed688164558" /><Relationship Type="http://schemas.openxmlformats.org/officeDocument/2006/relationships/notesSlide" Target="/ppt/notesSlides/notesSlide5.xml" Id="R3bbf364d9f3341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49f30c2cda4e97" /><Relationship Type="http://schemas.openxmlformats.org/officeDocument/2006/relationships/image" Target="/ppt/media/image2.png" Id="R79f9b52e2bb74ee8" /><Relationship Type="http://schemas.openxmlformats.org/officeDocument/2006/relationships/image" Target="/ppt/media/image2.svg" Id="R4986f535d0164178" /><Relationship Type="http://schemas.openxmlformats.org/officeDocument/2006/relationships/notesSlide" Target="/ppt/notesSlides/notesSlide6.xml" Id="R42020106e55c47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4d308dbfe6493f" /><Relationship Type="http://schemas.openxmlformats.org/officeDocument/2006/relationships/notesSlide" Target="/ppt/notesSlides/notesSlide7.xml" Id="R937b30a814cc4c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7b307cde95469a" /><Relationship Type="http://schemas.openxmlformats.org/officeDocument/2006/relationships/image" Target="/ppt/media/image3.png" Id="Rd5385b6e7e19428b" /><Relationship Type="http://schemas.openxmlformats.org/officeDocument/2006/relationships/image" Target="/ppt/media/image3.svg" Id="Rc10b125555764a1d" /><Relationship Type="http://schemas.openxmlformats.org/officeDocument/2006/relationships/image" Target="/ppt/media/image4.png" Id="R270fd2870bc24790" /><Relationship Type="http://schemas.openxmlformats.org/officeDocument/2006/relationships/image" Target="/ppt/media/image4.svg" Id="R4febaaa224c6401b" /><Relationship Type="http://schemas.openxmlformats.org/officeDocument/2006/relationships/notesSlide" Target="/ppt/notesSlides/notesSlide8.xml" Id="R7ad1261ea18c4a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24524a4ccb4490" /><Relationship Type="http://schemas.openxmlformats.org/officeDocument/2006/relationships/notesSlide" Target="/ppt/notesSlides/notesSlide9.xml" Id="R834fe96e32db49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20bfd03ec34bb0" /><Relationship Type="http://schemas.openxmlformats.org/officeDocument/2006/relationships/image" Target="/ppt/media/image5.png" Id="R9360230d235b4466" /><Relationship Type="http://schemas.openxmlformats.org/officeDocument/2006/relationships/image" Target="/ppt/media/image5.svg" Id="Rd9631423977b4e58" /><Relationship Type="http://schemas.openxmlformats.org/officeDocument/2006/relationships/notesSlide" Target="/ppt/notesSlides/notesSlide10.xml" Id="R56915a9d1c5c40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8682d9007a40ad" /><Relationship Type="http://schemas.openxmlformats.org/officeDocument/2006/relationships/image" Target="/ppt/media/image6.png" Id="R0d9992b55b6a41ea" /><Relationship Type="http://schemas.openxmlformats.org/officeDocument/2006/relationships/image" Target="/ppt/media/image6.svg" Id="R611b48bc9f724454" /><Relationship Type="http://schemas.openxmlformats.org/officeDocument/2006/relationships/notesSlide" Target="/ppt/notesSlides/notesSlide11.xml" Id="R1c29202155ee48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e672fe103d94610" /><Relationship Type="http://schemas.openxmlformats.org/officeDocument/2006/relationships/notesSlide" Target="/ppt/notesSlides/notesSlide12.xml" Id="R03e98e5c98aa44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36769bc4f041b2" /><Relationship Type="http://schemas.openxmlformats.org/officeDocument/2006/relationships/image" Target="/ppt/media/image7.png" Id="Rc5a6c0bd8adc4864" /><Relationship Type="http://schemas.openxmlformats.org/officeDocument/2006/relationships/image" Target="/ppt/media/image7.svg" Id="Rcc78b4d28b26422d" /><Relationship Type="http://schemas.openxmlformats.org/officeDocument/2006/relationships/notesSlide" Target="/ppt/notesSlides/notesSlide13.xml" Id="R63b5f3bfed414e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f4a5eb970e34e46" /><Relationship Type="http://schemas.openxmlformats.org/officeDocument/2006/relationships/image" Target="/ppt/media/image8.png" Id="Rbd2961e74bc24072" /><Relationship Type="http://schemas.openxmlformats.org/officeDocument/2006/relationships/image" Target="/ppt/media/image8.svg" Id="R77518b6bd24441ca" /><Relationship Type="http://schemas.openxmlformats.org/officeDocument/2006/relationships/notesSlide" Target="/ppt/notesSlides/notesSlide14.xml" Id="R0c29532337f849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2a11e78cf714aff" /><Relationship Type="http://schemas.openxmlformats.org/officeDocument/2006/relationships/notesSlide" Target="/ppt/notesSlides/notesSlide15.xml" Id="R2230e6834fdf45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2b193559384f28" /><Relationship Type="http://schemas.openxmlformats.org/officeDocument/2006/relationships/image" Target="/ppt/media/image9.png" Id="R653976c379a34de4" /><Relationship Type="http://schemas.openxmlformats.org/officeDocument/2006/relationships/image" Target="/ppt/media/image9.svg" Id="Rae34c0a8d9be494e" /><Relationship Type="http://schemas.openxmlformats.org/officeDocument/2006/relationships/notesSlide" Target="/ppt/notesSlides/notesSlide16.xml" Id="R21e633ac5e5548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0da4f0bf95f4f13" /><Relationship Type="http://schemas.openxmlformats.org/officeDocument/2006/relationships/image" Target="/ppt/media/image10.png" Id="R0f28061b54664ec2" /><Relationship Type="http://schemas.openxmlformats.org/officeDocument/2006/relationships/image" Target="/ppt/media/image10.svg" Id="R74ef0c9680024754" /><Relationship Type="http://schemas.openxmlformats.org/officeDocument/2006/relationships/notesSlide" Target="/ppt/notesSlides/notesSlide17.xml" Id="Rc8aa8140072349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d89da66d1e6448b" /><Relationship Type="http://schemas.openxmlformats.org/officeDocument/2006/relationships/notesSlide" Target="/ppt/notesSlides/notesSlide18.xml" Id="Re3c0648b98dc40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9c5892d5e06457c" /><Relationship Type="http://schemas.openxmlformats.org/officeDocument/2006/relationships/notesSlide" Target="/ppt/notesSlides/notesSlide19.xml" Id="Ra18f6afa5fa24c0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b4bc308f53f49c0" /><Relationship Type="http://schemas.openxmlformats.org/officeDocument/2006/relationships/notesSlide" Target="/ppt/notesSlides/notesSlide20.xml" Id="R94d373ae93fd423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c0944d01f3442a8" /><Relationship Type="http://schemas.openxmlformats.org/officeDocument/2006/relationships/notesSlide" Target="/ppt/notesSlides/notesSlide21.xml" Id="R7ab996e2b8ba4d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698b73c9269404d" /><Relationship Type="http://schemas.openxmlformats.org/officeDocument/2006/relationships/image" Target="/ppt/media/image11.png" Id="R1a7e1b20f8a1491a" /><Relationship Type="http://schemas.openxmlformats.org/officeDocument/2006/relationships/image" Target="/ppt/media/image11.svg" Id="R4a925e526d694734" /><Relationship Type="http://schemas.openxmlformats.org/officeDocument/2006/relationships/notesSlide" Target="/ppt/notesSlides/notesSlide22.xml" Id="R92075b5ce58c4b6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6ab9c5f24274eb7" /><Relationship Type="http://schemas.openxmlformats.org/officeDocument/2006/relationships/image" Target="/ppt/media/image12.png" Id="R68a987da21264a62" /><Relationship Type="http://schemas.openxmlformats.org/officeDocument/2006/relationships/notesSlide" Target="/ppt/notesSlides/notesSlide23.xml" Id="Rd3b9057a13c442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4d37f206e2944ac" /><Relationship Type="http://schemas.openxmlformats.org/officeDocument/2006/relationships/notesSlide" Target="/ppt/notesSlides/notesSlide24.xml" Id="R7145f23b150140af" /></Relationships>
</file>

<file path=ppt/slides/slide1.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4604E4-3965-4891-AB5E-29FAA317A529}"/>
              </a:ext>
            </a:extLst>
          </p:cNvPr>
          <p:cNvSpPr>
            <a:spLocks xmlns:a="http://schemas.openxmlformats.org/drawingml/2006/main" noGrp="1"/>
          </p:cNvSpPr>
          <p:nvPr/>
        </p:nvSpPr>
        <p:spPr>
          <a:xfrm xmlns:a="http://schemas.openxmlformats.org/drawingml/2006/main">
            <a:off x="990600" y="1042988"/>
            <a:ext cx="533400" cy="28575"/>
          </a:xfrm>
          <a:prstGeom xmlns:a="http://schemas.openxmlformats.org/drawingml/2006/main" prst="rect">
            <a:avLst/>
          </a:prstGeom>
          <a:solidFill xmlns:a="http://schemas.openxmlformats.org/drawingml/2006/main">
            <a:srgbClr val="C86C5A"/>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6658C3F1-82F2-47D6-9587-388F9C1F887F}"/>
              </a:ext>
            </a:extLst>
          </p:cNvPr>
          <p:cNvSpPr>
            <a:spLocks xmlns:a="http://schemas.openxmlformats.org/drawingml/2006/main" noGrp="1"/>
          </p:cNvSpPr>
          <p:nvPr/>
        </p:nvSpPr>
        <p:spPr>
          <a:xfrm xmlns:a="http://schemas.openxmlformats.org/drawingml/2006/main">
            <a:off x="1714500" y="914400"/>
            <a:ext cx="6251957"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STATISTICAL INFERENCE PROJECT</a:t>
            </a:r>
            <a:endParaRPr sz="1950"/>
          </a:p>
        </p:txBody>
      </p:sp>
      <p:sp>
        <p:nvSpPr>
          <p:cNvPr id="4" name="Text 2">
            <a:extLst xmlns:a="http://schemas.openxmlformats.org/drawingml/2006/main">
              <a:ext uri="{FF2B5EF4-FFF2-40B4-BE49-F238E27FC236}">
                <a16:creationId xmlns:a16="http://schemas.microsoft.com/office/drawing/2014/main" id="{B65DB751-015E-4B9D-A73B-069BD4D3B41B}"/>
              </a:ext>
            </a:extLst>
          </p:cNvPr>
          <p:cNvSpPr>
            <a:spLocks xmlns:a="http://schemas.openxmlformats.org/drawingml/2006/main" noGrp="1"/>
          </p:cNvSpPr>
          <p:nvPr/>
        </p:nvSpPr>
        <p:spPr>
          <a:xfrm xmlns:a="http://schemas.openxmlformats.org/drawingml/2006/main">
            <a:off x="990600" y="1822921"/>
            <a:ext cx="8123224" cy="2269182"/>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4563"/>
              </a:lnSpc>
              <a:buNone/>
            </a:pPr>
            <a:r>
              <a:rPr sz="9150" spc="-183">
                <a:solidFill>
                  <a:srgbClr val="202C35"/>
                </a:solidFill>
                <a:latin typeface="Georgia"/>
                <a:ea typeface="Georgia"/>
                <a:cs typeface="Georgia"/>
              </a:rPr>
              <a:t>Penguin morphometrics</a:t>
            </a:r>
            <a:endParaRPr sz="9150"/>
          </a:p>
        </p:txBody>
      </p:sp>
      <p:sp>
        <p:nvSpPr>
          <p:cNvPr id="5" name="Text 3">
            <a:extLst xmlns:a="http://schemas.openxmlformats.org/drawingml/2006/main">
              <a:ext uri="{FF2B5EF4-FFF2-40B4-BE49-F238E27FC236}">
                <a16:creationId xmlns:a16="http://schemas.microsoft.com/office/drawing/2014/main" id="{2B95763E-F18B-4016-A557-107507CB05C0}"/>
              </a:ext>
            </a:extLst>
          </p:cNvPr>
          <p:cNvSpPr>
            <a:spLocks xmlns:a="http://schemas.openxmlformats.org/drawingml/2006/main" noGrp="1"/>
          </p:cNvSpPr>
          <p:nvPr/>
        </p:nvSpPr>
        <p:spPr>
          <a:xfrm xmlns:a="http://schemas.openxmlformats.org/drawingml/2006/main">
            <a:off x="990600" y="4377854"/>
            <a:ext cx="7259955" cy="20955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17391"/>
              </a:lnSpc>
              <a:buNone/>
            </a:pPr>
            <a:r>
              <a:rPr sz="3000">
                <a:solidFill>
                  <a:srgbClr val="516674"/>
                </a:solidFill>
                <a:latin typeface="Arial"/>
                <a:ea typeface="Arial"/>
                <a:cs typeface="Arial"/>
              </a:rPr>
              <a:t>Body mass modelling and species classification on 324 complete observations from the Palmer Archipelago.</a:t>
            </a:r>
            <a:endParaRPr sz="3000"/>
          </a:p>
        </p:txBody>
      </p:sp>
      <p:sp>
        <p:nvSpPr>
          <p:cNvPr id="6" name="Shape 4">
            <a:extLst xmlns:a="http://schemas.openxmlformats.org/drawingml/2006/main">
              <a:ext uri="{FF2B5EF4-FFF2-40B4-BE49-F238E27FC236}">
                <a16:creationId xmlns:a16="http://schemas.microsoft.com/office/drawing/2014/main" id="{93EC713D-066F-4BA1-A90C-E28111F08E50}"/>
              </a:ext>
            </a:extLst>
          </p:cNvPr>
          <p:cNvSpPr>
            <a:spLocks xmlns:a="http://schemas.openxmlformats.org/drawingml/2006/main" noGrp="1"/>
          </p:cNvSpPr>
          <p:nvPr/>
        </p:nvSpPr>
        <p:spPr>
          <a:xfrm xmlns:a="http://schemas.openxmlformats.org/drawingml/2006/main">
            <a:off x="990600" y="6759104"/>
            <a:ext cx="2907060" cy="547688"/>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FD87636-77A6-4663-86E7-8153BC694974}"/>
              </a:ext>
            </a:extLst>
          </p:cNvPr>
          <p:cNvSpPr>
            <a:spLocks xmlns:a="http://schemas.openxmlformats.org/drawingml/2006/main" noGrp="1"/>
          </p:cNvSpPr>
          <p:nvPr/>
        </p:nvSpPr>
        <p:spPr>
          <a:xfrm xmlns:a="http://schemas.openxmlformats.org/drawingml/2006/main">
            <a:off x="1181100" y="6873404"/>
            <a:ext cx="2613272"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202C35"/>
                </a:solidFill>
                <a:latin typeface="Courier New"/>
                <a:ea typeface="Courier New"/>
                <a:cs typeface="Courier New"/>
              </a:rPr>
              <a:t>Linear regression</a:t>
            </a:r>
            <a:endParaRPr sz="1950"/>
          </a:p>
        </p:txBody>
      </p:sp>
      <p:sp>
        <p:nvSpPr>
          <p:cNvPr id="8" name="Shape 6">
            <a:extLst xmlns:a="http://schemas.openxmlformats.org/drawingml/2006/main">
              <a:ext uri="{FF2B5EF4-FFF2-40B4-BE49-F238E27FC236}">
                <a16:creationId xmlns:a16="http://schemas.microsoft.com/office/drawing/2014/main" id="{369C281F-DE71-406C-84F7-163697493855}"/>
              </a:ext>
            </a:extLst>
          </p:cNvPr>
          <p:cNvSpPr>
            <a:spLocks xmlns:a="http://schemas.openxmlformats.org/drawingml/2006/main" noGrp="1"/>
          </p:cNvSpPr>
          <p:nvPr/>
        </p:nvSpPr>
        <p:spPr>
          <a:xfrm xmlns:a="http://schemas.openxmlformats.org/drawingml/2006/main">
            <a:off x="4069110" y="6759104"/>
            <a:ext cx="2312715" cy="547688"/>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FB5C3366-7647-47AA-A2BD-779C562E45AF}"/>
              </a:ext>
            </a:extLst>
          </p:cNvPr>
          <p:cNvSpPr>
            <a:spLocks xmlns:a="http://schemas.openxmlformats.org/drawingml/2006/main" noGrp="1"/>
          </p:cNvSpPr>
          <p:nvPr/>
        </p:nvSpPr>
        <p:spPr>
          <a:xfrm xmlns:a="http://schemas.openxmlformats.org/drawingml/2006/main">
            <a:off x="4259610" y="6873404"/>
            <a:ext cx="2007915"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202C35"/>
                </a:solidFill>
                <a:latin typeface="Courier New"/>
                <a:ea typeface="Courier New"/>
                <a:cs typeface="Courier New"/>
              </a:rPr>
              <a:t>Two-way ANOVA</a:t>
            </a:r>
            <a:endParaRPr sz="1950"/>
          </a:p>
        </p:txBody>
      </p:sp>
      <p:sp>
        <p:nvSpPr>
          <p:cNvPr id="10" name="Shape 8">
            <a:extLst xmlns:a="http://schemas.openxmlformats.org/drawingml/2006/main">
              <a:ext uri="{FF2B5EF4-FFF2-40B4-BE49-F238E27FC236}">
                <a16:creationId xmlns:a16="http://schemas.microsoft.com/office/drawing/2014/main" id="{3B2756BF-B9B0-45BA-AB5D-B9EF30E070F1}"/>
              </a:ext>
            </a:extLst>
          </p:cNvPr>
          <p:cNvSpPr>
            <a:spLocks xmlns:a="http://schemas.openxmlformats.org/drawingml/2006/main" noGrp="1"/>
          </p:cNvSpPr>
          <p:nvPr/>
        </p:nvSpPr>
        <p:spPr>
          <a:xfrm xmlns:a="http://schemas.openxmlformats.org/drawingml/2006/main">
            <a:off x="990600" y="7478241"/>
            <a:ext cx="3204270" cy="547688"/>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42796EAE-F8AC-464A-A535-864EA7DF7BCA}"/>
              </a:ext>
            </a:extLst>
          </p:cNvPr>
          <p:cNvSpPr>
            <a:spLocks xmlns:a="http://schemas.openxmlformats.org/drawingml/2006/main" noGrp="1"/>
          </p:cNvSpPr>
          <p:nvPr/>
        </p:nvSpPr>
        <p:spPr>
          <a:xfrm xmlns:a="http://schemas.openxmlformats.org/drawingml/2006/main">
            <a:off x="1181100" y="7592541"/>
            <a:ext cx="2919398"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202C35"/>
                </a:solidFill>
                <a:latin typeface="Courier New"/>
                <a:ea typeface="Courier New"/>
                <a:cs typeface="Courier New"/>
              </a:rPr>
              <a:t>Logistic regression</a:t>
            </a:r>
            <a:endParaRPr sz="1950"/>
          </a:p>
        </p:txBody>
      </p:sp>
      <p:sp>
        <p:nvSpPr>
          <p:cNvPr id="12" name="Shape 10">
            <a:extLst xmlns:a="http://schemas.openxmlformats.org/drawingml/2006/main">
              <a:ext uri="{FF2B5EF4-FFF2-40B4-BE49-F238E27FC236}">
                <a16:creationId xmlns:a16="http://schemas.microsoft.com/office/drawing/2014/main" id="{70C03F71-0C67-4A84-9527-1FDCDE025772}"/>
              </a:ext>
            </a:extLst>
          </p:cNvPr>
          <p:cNvSpPr>
            <a:spLocks xmlns:a="http://schemas.openxmlformats.org/drawingml/2006/main" noGrp="1"/>
          </p:cNvSpPr>
          <p:nvPr/>
        </p:nvSpPr>
        <p:spPr>
          <a:xfrm xmlns:a="http://schemas.openxmlformats.org/drawingml/2006/main">
            <a:off x="990600" y="8648700"/>
            <a:ext cx="7886626"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ED6C8E21-12D0-4781-9E45-19D08D9DA607}"/>
              </a:ext>
            </a:extLst>
          </p:cNvPr>
          <p:cNvSpPr>
            <a:spLocks xmlns:a="http://schemas.openxmlformats.org/drawingml/2006/main" noGrp="1"/>
          </p:cNvSpPr>
          <p:nvPr/>
        </p:nvSpPr>
        <p:spPr>
          <a:xfrm xmlns:a="http://schemas.openxmlformats.org/drawingml/2006/main">
            <a:off x="990600" y="8801100"/>
            <a:ext cx="8123224" cy="8382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1739"/>
              </a:lnSpc>
              <a:buNone/>
            </a:pPr>
            <a:r>
              <a:rPr sz="2250">
                <a:solidFill>
                  <a:srgbClr val="202C35"/>
                </a:solidFill>
                <a:latin typeface="Arial"/>
                <a:ea typeface="Arial"/>
                <a:cs typeface="Arial"/>
              </a:rPr>
              <a:t>Antonio Arbizzani Tonelli · Simone Biraghi · Samuele Cipriani · Tommaso Frignani</a:t>
            </a:r>
            <a:endParaRPr sz="2250"/>
          </a:p>
        </p:txBody>
      </p:sp>
      <p:sp>
        <p:nvSpPr>
          <p:cNvPr id="14" name="Shape 12">
            <a:extLst xmlns:a="http://schemas.openxmlformats.org/drawingml/2006/main">
              <a:ext uri="{FF2B5EF4-FFF2-40B4-BE49-F238E27FC236}">
                <a16:creationId xmlns:a16="http://schemas.microsoft.com/office/drawing/2014/main" id="{C15E73E7-BD39-4C34-8AB7-6C60AA372B36}"/>
              </a:ext>
            </a:extLst>
          </p:cNvPr>
          <p:cNvSpPr>
            <a:spLocks xmlns:a="http://schemas.openxmlformats.org/drawingml/2006/main" noGrp="1"/>
          </p:cNvSpPr>
          <p:nvPr/>
        </p:nvSpPr>
        <p:spPr>
          <a:xfrm xmlns:a="http://schemas.openxmlformats.org/drawingml/2006/main">
            <a:off x="9601126" y="0"/>
            <a:ext cx="8686800" cy="10287000"/>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pic>
        <p:nvPicPr>
          <p:cNvPr id="29" name="Immagine 15"/>
          <p:cNvPicPr>
            <a:picLocks xmlns:a="http://schemas.openxmlformats.org/drawingml/2006/main" noChangeAspect="1"/>
          </p:cNvPicPr>
          <p:nvPr/>
        </p:nvPicPr>
        <p:blipFill>
          <a:blip xmlns:r="http://schemas.openxmlformats.org/officeDocument/2006/relationships" xmlns:a="http://schemas.openxmlformats.org/drawingml/2006/main" r:embed="Rad6c910254214b49"/>
          <a:srcRect xmlns:a="http://schemas.openxmlformats.org/drawingml/2006/main" l="0" t="0" r="45044" b="0"/>
          <a:stretch xmlns:a="http://schemas.openxmlformats.org/drawingml/2006/main">
            <a:fillRect l="0" t="0" r="0" b="0"/>
          </a:stretch>
        </p:blipFill>
        <p:spPr>
          <a:xfrm xmlns:a="http://schemas.openxmlformats.org/drawingml/2006/main" flipH="1">
            <a:off x="9601127" y="0"/>
            <a:ext cx="8686800" cy="10287000"/>
          </a:xfrm>
          <a:prstGeom xmlns:a="http://schemas.openxmlformats.org/drawingml/2006/main" prst="rect">
            <a:avLst/>
          </a:prstGeom>
        </p:spPr>
      </p:pic>
    </p:spTree>
    <p:extLst>
      <p:ext uri="{BB962C8B-B14F-4D97-AF65-F5344CB8AC3E}">
        <p14:creationId xmlns:p14="http://schemas.microsoft.com/office/powerpoint/2010/main" val="322399923"/>
      </p:ext>
    </p:extLst>
  </p:cSld>
</p:sld>
</file>

<file path=ppt/slides/slide2.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7FA5A3D-2395-442E-9CF0-BD8B694D1B0C}"/>
              </a:ext>
            </a:extLst>
          </p:cNvPr>
          <p:cNvSpPr>
            <a:spLocks xmlns:a="http://schemas.openxmlformats.org/drawingml/2006/main" noGrp="1"/>
          </p:cNvSpPr>
          <p:nvPr/>
        </p:nvSpPr>
        <p:spPr>
          <a:xfrm xmlns:a="http://schemas.openxmlformats.org/drawingml/2006/main">
            <a:off x="990600" y="766763"/>
            <a:ext cx="1682948"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CONTEXT</a:t>
            </a:r>
            <a:endParaRPr sz="1950"/>
          </a:p>
        </p:txBody>
      </p:sp>
      <p:sp>
        <p:nvSpPr>
          <p:cNvPr id="3" name="Text 1">
            <a:extLst xmlns:a="http://schemas.openxmlformats.org/drawingml/2006/main">
              <a:ext uri="{FF2B5EF4-FFF2-40B4-BE49-F238E27FC236}">
                <a16:creationId xmlns:a16="http://schemas.microsoft.com/office/drawing/2014/main" id="{A68D9F7A-848C-4E08-AB07-B6E40F13CBDF}"/>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02</a:t>
            </a:r>
            <a:endParaRPr sz="1950"/>
          </a:p>
        </p:txBody>
      </p:sp>
      <p:sp>
        <p:nvSpPr>
          <p:cNvPr id="4" name="Shape 2">
            <a:extLst xmlns:a="http://schemas.openxmlformats.org/drawingml/2006/main">
              <a:ext uri="{FF2B5EF4-FFF2-40B4-BE49-F238E27FC236}">
                <a16:creationId xmlns:a16="http://schemas.microsoft.com/office/drawing/2014/main" id="{A297A540-4107-44F0-A531-CA4E5AE918FD}"/>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167EC2C5-50B9-475D-9703-AAB97B59BAEF}"/>
              </a:ext>
            </a:extLst>
          </p:cNvPr>
          <p:cNvSpPr>
            <a:spLocks xmlns:a="http://schemas.openxmlformats.org/drawingml/2006/main" noGrp="1"/>
          </p:cNvSpPr>
          <p:nvPr/>
        </p:nvSpPr>
        <p:spPr>
          <a:xfrm xmlns:a="http://schemas.openxmlformats.org/drawingml/2006/main">
            <a:off x="990600" y="1519238"/>
            <a:ext cx="17937480" cy="75813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2195"/>
              </a:lnSpc>
              <a:buNone/>
            </a:pPr>
            <a:r>
              <a:rPr sz="5400" spc="-81">
                <a:solidFill>
                  <a:srgbClr val="202C35"/>
                </a:solidFill>
                <a:latin typeface="Georgia"/>
                <a:ea typeface="Georgia"/>
                <a:cs typeface="Georgia"/>
              </a:rPr>
              <a:t>Research questions</a:t>
            </a:r>
            <a:endParaRPr sz="5400"/>
          </a:p>
        </p:txBody>
      </p:sp>
      <p:sp>
        <p:nvSpPr>
          <p:cNvPr id="6" name="Text 4">
            <a:extLst xmlns:a="http://schemas.openxmlformats.org/drawingml/2006/main">
              <a:ext uri="{FF2B5EF4-FFF2-40B4-BE49-F238E27FC236}">
                <a16:creationId xmlns:a16="http://schemas.microsoft.com/office/drawing/2014/main" id="{9981F6DA-8D7B-4A27-9953-20E4B9CD1419}"/>
              </a:ext>
            </a:extLst>
          </p:cNvPr>
          <p:cNvSpPr>
            <a:spLocks xmlns:a="http://schemas.openxmlformats.org/drawingml/2006/main" noGrp="1"/>
          </p:cNvSpPr>
          <p:nvPr/>
        </p:nvSpPr>
        <p:spPr>
          <a:xfrm xmlns:a="http://schemas.openxmlformats.org/drawingml/2006/main">
            <a:off x="990600" y="2410718"/>
            <a:ext cx="12753975" cy="8858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550">
                <a:solidFill>
                  <a:srgbClr val="516674"/>
                </a:solidFill>
                <a:latin typeface="Arial"/>
                <a:ea typeface="Arial"/>
                <a:cs typeface="Arial"/>
              </a:rPr>
              <a:t>The same four morphological measurements support two analyses that answer different questions.</a:t>
            </a:r>
            <a:endParaRPr sz="2550"/>
          </a:p>
        </p:txBody>
      </p:sp>
      <p:sp>
        <p:nvSpPr>
          <p:cNvPr id="7" name="Shape 5">
            <a:extLst xmlns:a="http://schemas.openxmlformats.org/drawingml/2006/main">
              <a:ext uri="{FF2B5EF4-FFF2-40B4-BE49-F238E27FC236}">
                <a16:creationId xmlns:a16="http://schemas.microsoft.com/office/drawing/2014/main" id="{09DBC6B8-0652-4636-86DD-C51DA82D3F67}"/>
              </a:ext>
            </a:extLst>
          </p:cNvPr>
          <p:cNvSpPr>
            <a:spLocks xmlns:a="http://schemas.openxmlformats.org/drawingml/2006/main" noGrp="1"/>
          </p:cNvSpPr>
          <p:nvPr/>
        </p:nvSpPr>
        <p:spPr>
          <a:xfrm xmlns:a="http://schemas.openxmlformats.org/drawingml/2006/main">
            <a:off x="990600" y="3677543"/>
            <a:ext cx="7886700" cy="3810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44C6D92-0634-461F-859A-428A559EDDF7}"/>
              </a:ext>
            </a:extLst>
          </p:cNvPr>
          <p:cNvSpPr>
            <a:spLocks xmlns:a="http://schemas.openxmlformats.org/drawingml/2006/main" noGrp="1"/>
          </p:cNvSpPr>
          <p:nvPr/>
        </p:nvSpPr>
        <p:spPr>
          <a:xfrm xmlns:a="http://schemas.openxmlformats.org/drawingml/2006/main">
            <a:off x="990600" y="4001393"/>
            <a:ext cx="8675370" cy="5715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500"/>
              </a:lnSpc>
              <a:buNone/>
            </a:pPr>
            <a:r>
              <a:rPr sz="4200">
                <a:solidFill>
                  <a:srgbClr val="C86C5A"/>
                </a:solidFill>
                <a:latin typeface="Georgia"/>
                <a:ea typeface="Georgia"/>
                <a:cs typeface="Georgia"/>
              </a:rPr>
              <a:t>01</a:t>
            </a:r>
            <a:endParaRPr sz="4200"/>
          </a:p>
        </p:txBody>
      </p:sp>
      <p:sp>
        <p:nvSpPr>
          <p:cNvPr id="9" name="Text 7">
            <a:extLst xmlns:a="http://schemas.openxmlformats.org/drawingml/2006/main">
              <a:ext uri="{FF2B5EF4-FFF2-40B4-BE49-F238E27FC236}">
                <a16:creationId xmlns:a16="http://schemas.microsoft.com/office/drawing/2014/main" id="{6263DF8F-30F1-40D7-B14D-C644C1892DE0}"/>
              </a:ext>
            </a:extLst>
          </p:cNvPr>
          <p:cNvSpPr>
            <a:spLocks xmlns:a="http://schemas.openxmlformats.org/drawingml/2006/main" noGrp="1"/>
          </p:cNvSpPr>
          <p:nvPr/>
        </p:nvSpPr>
        <p:spPr>
          <a:xfrm xmlns:a="http://schemas.openxmlformats.org/drawingml/2006/main">
            <a:off x="990600" y="4820543"/>
            <a:ext cx="8675370" cy="56383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06154"/>
              </a:lnSpc>
              <a:buNone/>
            </a:pPr>
            <a:r>
              <a:rPr sz="3450">
                <a:solidFill>
                  <a:srgbClr val="202C35"/>
                </a:solidFill>
                <a:latin typeface="Georgia"/>
                <a:ea typeface="Georgia"/>
                <a:cs typeface="Georgia"/>
              </a:rPr>
              <a:t>What explains the variation in body mass?</a:t>
            </a:r>
            <a:endParaRPr sz="3450"/>
          </a:p>
        </p:txBody>
      </p:sp>
      <p:sp>
        <p:nvSpPr>
          <p:cNvPr id="10" name="Text 8">
            <a:extLst xmlns:a="http://schemas.openxmlformats.org/drawingml/2006/main">
              <a:ext uri="{FF2B5EF4-FFF2-40B4-BE49-F238E27FC236}">
                <a16:creationId xmlns:a16="http://schemas.microsoft.com/office/drawing/2014/main" id="{105C88D9-1956-4FDF-B518-A0DA2E78161D}"/>
              </a:ext>
            </a:extLst>
          </p:cNvPr>
          <p:cNvSpPr>
            <a:spLocks xmlns:a="http://schemas.openxmlformats.org/drawingml/2006/main" noGrp="1"/>
          </p:cNvSpPr>
          <p:nvPr/>
        </p:nvSpPr>
        <p:spPr>
          <a:xfrm xmlns:a="http://schemas.openxmlformats.org/drawingml/2006/main">
            <a:off x="990600" y="5632028"/>
            <a:ext cx="8123301" cy="92199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5405"/>
              </a:lnSpc>
              <a:buNone/>
            </a:pPr>
            <a:r>
              <a:rPr sz="2400">
                <a:solidFill>
                  <a:srgbClr val="516674"/>
                </a:solidFill>
                <a:latin typeface="Arial"/>
                <a:ea typeface="Arial"/>
                <a:cs typeface="Arial"/>
              </a:rPr>
              <a:t>A continuous response measured in grams, with morphological and categorical predictors.</a:t>
            </a:r>
            <a:endParaRPr sz="2400"/>
          </a:p>
        </p:txBody>
      </p:sp>
      <p:sp>
        <p:nvSpPr>
          <p:cNvPr id="11" name="Shape 9">
            <a:extLst xmlns:a="http://schemas.openxmlformats.org/drawingml/2006/main">
              <a:ext uri="{FF2B5EF4-FFF2-40B4-BE49-F238E27FC236}">
                <a16:creationId xmlns:a16="http://schemas.microsoft.com/office/drawing/2014/main" id="{83557BF1-BA58-4E3D-B06F-B0C466EB8175}"/>
              </a:ext>
            </a:extLst>
          </p:cNvPr>
          <p:cNvSpPr>
            <a:spLocks xmlns:a="http://schemas.openxmlformats.org/drawingml/2006/main" noGrp="1"/>
          </p:cNvSpPr>
          <p:nvPr/>
        </p:nvSpPr>
        <p:spPr>
          <a:xfrm xmlns:a="http://schemas.openxmlformats.org/drawingml/2006/main">
            <a:off x="990600" y="7172325"/>
            <a:ext cx="7886700" cy="847725"/>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CA38558A-92CA-4CEC-BC4C-80D4AF88F5EB}"/>
              </a:ext>
            </a:extLst>
          </p:cNvPr>
          <p:cNvSpPr>
            <a:spLocks xmlns:a="http://schemas.openxmlformats.org/drawingml/2006/main" noGrp="1"/>
          </p:cNvSpPr>
          <p:nvPr/>
        </p:nvSpPr>
        <p:spPr>
          <a:xfrm xmlns:a="http://schemas.openxmlformats.org/drawingml/2006/main">
            <a:off x="1276350" y="7419975"/>
            <a:ext cx="3727043" cy="3905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a:bodyPr>
          <a:lstStyle xmlns:a="http://schemas.openxmlformats.org/drawingml/2006/main"/>
          <a:p xmlns:a="http://schemas.openxmlformats.org/drawingml/2006/main">
            <a:pPr marL="0" indent="0" algn="l">
              <a:buNone/>
            </a:pPr>
            <a:r>
              <a:rPr sz="2400" b="1">
                <a:solidFill>
                  <a:srgbClr val="202C35"/>
                </a:solidFill>
                <a:latin typeface="Arial"/>
                <a:ea typeface="Arial"/>
                <a:cs typeface="Arial"/>
              </a:rPr>
              <a:t>Multiple linear regression</a:t>
            </a:r>
            <a:endParaRPr sz="2400"/>
          </a:p>
        </p:txBody>
      </p:sp>
      <p:sp>
        <p:nvSpPr>
          <p:cNvPr id="13" name="Text 11">
            <a:extLst xmlns:a="http://schemas.openxmlformats.org/drawingml/2006/main">
              <a:ext uri="{FF2B5EF4-FFF2-40B4-BE49-F238E27FC236}">
                <a16:creationId xmlns:a16="http://schemas.microsoft.com/office/drawing/2014/main" id="{70556F91-4223-4BAE-ABC5-2F60B3A8B857}"/>
              </a:ext>
            </a:extLst>
          </p:cNvPr>
          <p:cNvSpPr>
            <a:spLocks xmlns:a="http://schemas.openxmlformats.org/drawingml/2006/main" noGrp="1"/>
          </p:cNvSpPr>
          <p:nvPr/>
        </p:nvSpPr>
        <p:spPr>
          <a:xfrm xmlns:a="http://schemas.openxmlformats.org/drawingml/2006/main">
            <a:off x="6808440" y="7448550"/>
            <a:ext cx="1961421"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Courier New"/>
                <a:ea typeface="Courier New"/>
                <a:cs typeface="Courier New"/>
              </a:rPr>
              <a:t>slides 05–11</a:t>
            </a:r>
            <a:endParaRPr sz="1950"/>
          </a:p>
        </p:txBody>
      </p:sp>
      <p:sp>
        <p:nvSpPr>
          <p:cNvPr id="14" name="Shape 12">
            <a:extLst xmlns:a="http://schemas.openxmlformats.org/drawingml/2006/main">
              <a:ext uri="{FF2B5EF4-FFF2-40B4-BE49-F238E27FC236}">
                <a16:creationId xmlns:a16="http://schemas.microsoft.com/office/drawing/2014/main" id="{0A4E23EE-5368-4E90-A7E5-54AAE4DACD1E}"/>
              </a:ext>
            </a:extLst>
          </p:cNvPr>
          <p:cNvSpPr>
            <a:spLocks xmlns:a="http://schemas.openxmlformats.org/drawingml/2006/main" noGrp="1"/>
          </p:cNvSpPr>
          <p:nvPr/>
        </p:nvSpPr>
        <p:spPr>
          <a:xfrm xmlns:a="http://schemas.openxmlformats.org/drawingml/2006/main">
            <a:off x="990600" y="8172450"/>
            <a:ext cx="7886700" cy="847725"/>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622ACC4F-71D8-46FE-B853-6790CF11E53B}"/>
              </a:ext>
            </a:extLst>
          </p:cNvPr>
          <p:cNvSpPr>
            <a:spLocks xmlns:a="http://schemas.openxmlformats.org/drawingml/2006/main" noGrp="1"/>
          </p:cNvSpPr>
          <p:nvPr/>
        </p:nvSpPr>
        <p:spPr>
          <a:xfrm xmlns:a="http://schemas.openxmlformats.org/drawingml/2006/main">
            <a:off x="1276350" y="8420100"/>
            <a:ext cx="2546360" cy="3905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2400" b="1">
                <a:solidFill>
                  <a:srgbClr val="202C35"/>
                </a:solidFill>
                <a:latin typeface="Arial"/>
                <a:ea typeface="Arial"/>
                <a:cs typeface="Arial"/>
              </a:rPr>
              <a:t>Two-way ANOVA</a:t>
            </a:r>
            <a:endParaRPr sz="2400"/>
          </a:p>
        </p:txBody>
      </p:sp>
      <p:sp>
        <p:nvSpPr>
          <p:cNvPr id="16" name="Text 14">
            <a:extLst xmlns:a="http://schemas.openxmlformats.org/drawingml/2006/main">
              <a:ext uri="{FF2B5EF4-FFF2-40B4-BE49-F238E27FC236}">
                <a16:creationId xmlns:a16="http://schemas.microsoft.com/office/drawing/2014/main" id="{6C4ABE4E-2419-470C-B028-237B9074DD83}"/>
              </a:ext>
            </a:extLst>
          </p:cNvPr>
          <p:cNvSpPr>
            <a:spLocks xmlns:a="http://schemas.openxmlformats.org/drawingml/2006/main" noGrp="1"/>
          </p:cNvSpPr>
          <p:nvPr/>
        </p:nvSpPr>
        <p:spPr>
          <a:xfrm xmlns:a="http://schemas.openxmlformats.org/drawingml/2006/main">
            <a:off x="6808440" y="8448675"/>
            <a:ext cx="1961421"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Courier New"/>
                <a:ea typeface="Courier New"/>
                <a:cs typeface="Courier New"/>
              </a:rPr>
              <a:t>slides 13–14</a:t>
            </a:r>
            <a:endParaRPr sz="1950"/>
          </a:p>
        </p:txBody>
      </p:sp>
      <p:sp>
        <p:nvSpPr>
          <p:cNvPr id="17" name="Shape 15">
            <a:extLst xmlns:a="http://schemas.openxmlformats.org/drawingml/2006/main">
              <a:ext uri="{FF2B5EF4-FFF2-40B4-BE49-F238E27FC236}">
                <a16:creationId xmlns:a16="http://schemas.microsoft.com/office/drawing/2014/main" id="{70064E64-F3CE-4AEB-82BF-D4031B691A94}"/>
              </a:ext>
            </a:extLst>
          </p:cNvPr>
          <p:cNvSpPr>
            <a:spLocks xmlns:a="http://schemas.openxmlformats.org/drawingml/2006/main" noGrp="1"/>
          </p:cNvSpPr>
          <p:nvPr/>
        </p:nvSpPr>
        <p:spPr>
          <a:xfrm xmlns:a="http://schemas.openxmlformats.org/drawingml/2006/main">
            <a:off x="9410700" y="3677543"/>
            <a:ext cx="7886700" cy="3810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3050EB0B-8418-47A1-8BAC-D71B4AF48B3A}"/>
              </a:ext>
            </a:extLst>
          </p:cNvPr>
          <p:cNvSpPr>
            <a:spLocks xmlns:a="http://schemas.openxmlformats.org/drawingml/2006/main" noGrp="1"/>
          </p:cNvSpPr>
          <p:nvPr/>
        </p:nvSpPr>
        <p:spPr>
          <a:xfrm xmlns:a="http://schemas.openxmlformats.org/drawingml/2006/main">
            <a:off x="9410700" y="4001393"/>
            <a:ext cx="8675370" cy="5715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500"/>
              </a:lnSpc>
              <a:buNone/>
            </a:pPr>
            <a:r>
              <a:rPr sz="4200">
                <a:solidFill>
                  <a:srgbClr val="C86C5A"/>
                </a:solidFill>
                <a:latin typeface="Georgia"/>
                <a:ea typeface="Georgia"/>
                <a:cs typeface="Georgia"/>
              </a:rPr>
              <a:t>02</a:t>
            </a:r>
            <a:endParaRPr sz="4200"/>
          </a:p>
        </p:txBody>
      </p:sp>
      <p:sp>
        <p:nvSpPr>
          <p:cNvPr id="19" name="Text 17">
            <a:extLst xmlns:a="http://schemas.openxmlformats.org/drawingml/2006/main">
              <a:ext uri="{FF2B5EF4-FFF2-40B4-BE49-F238E27FC236}">
                <a16:creationId xmlns:a16="http://schemas.microsoft.com/office/drawing/2014/main" id="{24CC4CD5-7D2B-4A61-941C-2B25E03918F7}"/>
              </a:ext>
            </a:extLst>
          </p:cNvPr>
          <p:cNvSpPr>
            <a:spLocks xmlns:a="http://schemas.openxmlformats.org/drawingml/2006/main" noGrp="1"/>
          </p:cNvSpPr>
          <p:nvPr/>
        </p:nvSpPr>
        <p:spPr>
          <a:xfrm xmlns:a="http://schemas.openxmlformats.org/drawingml/2006/main">
            <a:off x="9410700" y="4820543"/>
            <a:ext cx="8123301" cy="108957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06154"/>
              </a:lnSpc>
              <a:buNone/>
            </a:pPr>
            <a:r>
              <a:rPr sz="3450">
                <a:solidFill>
                  <a:srgbClr val="202C35"/>
                </a:solidFill>
                <a:latin typeface="Georgia"/>
                <a:ea typeface="Georgia"/>
                <a:cs typeface="Georgia"/>
              </a:rPr>
              <a:t>Can measurements separate Adelie from Chinstrap?</a:t>
            </a:r>
            <a:endParaRPr sz="3450"/>
          </a:p>
        </p:txBody>
      </p:sp>
      <p:sp>
        <p:nvSpPr>
          <p:cNvPr id="20" name="Text 18">
            <a:extLst xmlns:a="http://schemas.openxmlformats.org/drawingml/2006/main">
              <a:ext uri="{FF2B5EF4-FFF2-40B4-BE49-F238E27FC236}">
                <a16:creationId xmlns:a16="http://schemas.microsoft.com/office/drawing/2014/main" id="{A8B01F8E-4D71-4DC8-8259-12EBDAE78A53}"/>
              </a:ext>
            </a:extLst>
          </p:cNvPr>
          <p:cNvSpPr>
            <a:spLocks xmlns:a="http://schemas.openxmlformats.org/drawingml/2006/main" noGrp="1"/>
          </p:cNvSpPr>
          <p:nvPr/>
        </p:nvSpPr>
        <p:spPr>
          <a:xfrm xmlns:a="http://schemas.openxmlformats.org/drawingml/2006/main">
            <a:off x="9410700" y="6157764"/>
            <a:ext cx="8123301" cy="92199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5405"/>
              </a:lnSpc>
              <a:buNone/>
            </a:pPr>
            <a:r>
              <a:rPr sz="2400">
                <a:solidFill>
                  <a:srgbClr val="516674"/>
                </a:solidFill>
                <a:latin typeface="Arial"/>
                <a:ea typeface="Arial"/>
                <a:cs typeface="Arial"/>
              </a:rPr>
              <a:t>A binary response on the 206 penguins of the two species that overlap in size.</a:t>
            </a:r>
            <a:endParaRPr sz="2400"/>
          </a:p>
        </p:txBody>
      </p:sp>
      <p:sp>
        <p:nvSpPr>
          <p:cNvPr id="21" name="Shape 19">
            <a:extLst xmlns:a="http://schemas.openxmlformats.org/drawingml/2006/main">
              <a:ext uri="{FF2B5EF4-FFF2-40B4-BE49-F238E27FC236}">
                <a16:creationId xmlns:a16="http://schemas.microsoft.com/office/drawing/2014/main" id="{FA82C62C-2975-4F79-A9DB-B63250F91EEC}"/>
              </a:ext>
            </a:extLst>
          </p:cNvPr>
          <p:cNvSpPr>
            <a:spLocks xmlns:a="http://schemas.openxmlformats.org/drawingml/2006/main" noGrp="1"/>
          </p:cNvSpPr>
          <p:nvPr/>
        </p:nvSpPr>
        <p:spPr>
          <a:xfrm xmlns:a="http://schemas.openxmlformats.org/drawingml/2006/main">
            <a:off x="9410700" y="7327404"/>
            <a:ext cx="7886700" cy="847725"/>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2164E48-3F3E-4376-9EBE-C1EDD28214D6}"/>
              </a:ext>
            </a:extLst>
          </p:cNvPr>
          <p:cNvSpPr>
            <a:spLocks xmlns:a="http://schemas.openxmlformats.org/drawingml/2006/main" noGrp="1"/>
          </p:cNvSpPr>
          <p:nvPr/>
        </p:nvSpPr>
        <p:spPr>
          <a:xfrm xmlns:a="http://schemas.openxmlformats.org/drawingml/2006/main">
            <a:off x="9696450" y="7575054"/>
            <a:ext cx="2795364" cy="3905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a:bodyPr>
          <a:lstStyle xmlns:a="http://schemas.openxmlformats.org/drawingml/2006/main"/>
          <a:p xmlns:a="http://schemas.openxmlformats.org/drawingml/2006/main">
            <a:pPr marL="0" indent="0" algn="l">
              <a:buNone/>
            </a:pPr>
            <a:r>
              <a:rPr sz="2400" b="1">
                <a:solidFill>
                  <a:srgbClr val="202C35"/>
                </a:solidFill>
                <a:latin typeface="Arial"/>
                <a:ea typeface="Arial"/>
                <a:cs typeface="Arial"/>
              </a:rPr>
              <a:t>Logistic regression</a:t>
            </a:r>
            <a:endParaRPr sz="2400"/>
          </a:p>
        </p:txBody>
      </p:sp>
      <p:sp>
        <p:nvSpPr>
          <p:cNvPr id="23" name="Text 21">
            <a:extLst xmlns:a="http://schemas.openxmlformats.org/drawingml/2006/main">
              <a:ext uri="{FF2B5EF4-FFF2-40B4-BE49-F238E27FC236}">
                <a16:creationId xmlns:a16="http://schemas.microsoft.com/office/drawing/2014/main" id="{8DE6B5D3-7A0B-405B-A7FE-3D0433B19E2F}"/>
              </a:ext>
            </a:extLst>
          </p:cNvPr>
          <p:cNvSpPr>
            <a:spLocks xmlns:a="http://schemas.openxmlformats.org/drawingml/2006/main" noGrp="1"/>
          </p:cNvSpPr>
          <p:nvPr/>
        </p:nvSpPr>
        <p:spPr>
          <a:xfrm xmlns:a="http://schemas.openxmlformats.org/drawingml/2006/main">
            <a:off x="15228540" y="7603629"/>
            <a:ext cx="1961421"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Courier New"/>
                <a:ea typeface="Courier New"/>
                <a:cs typeface="Courier New"/>
              </a:rPr>
              <a:t>slides 16–17</a:t>
            </a:r>
            <a:endParaRPr sz="1950"/>
          </a:p>
        </p:txBody>
      </p:sp>
      <p:sp>
        <p:nvSpPr>
          <p:cNvPr id="24" name="Shape 22">
            <a:extLst xmlns:a="http://schemas.openxmlformats.org/drawingml/2006/main">
              <a:ext uri="{FF2B5EF4-FFF2-40B4-BE49-F238E27FC236}">
                <a16:creationId xmlns:a16="http://schemas.microsoft.com/office/drawing/2014/main" id="{BAE29C46-76C6-4C61-97EB-73ED6875BF8A}"/>
              </a:ext>
            </a:extLst>
          </p:cNvPr>
          <p:cNvSpPr>
            <a:spLocks xmlns:a="http://schemas.openxmlformats.org/drawingml/2006/main" noGrp="1"/>
          </p:cNvSpPr>
          <p:nvPr/>
        </p:nvSpPr>
        <p:spPr>
          <a:xfrm xmlns:a="http://schemas.openxmlformats.org/drawingml/2006/main">
            <a:off x="9410700" y="8327529"/>
            <a:ext cx="7886700" cy="692646"/>
          </a:xfrm>
          <a:prstGeom xmlns:a="http://schemas.openxmlformats.org/drawingml/2006/main" prst="rect">
            <a:avLst/>
          </a:prstGeom>
          <a:ln xmlns:a="http://schemas.openxmlformats.org/drawingml/2006/main" w="19050">
            <a:solidFill>
              <a:srgbClr val="E4DBD6"/>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B73A1E6B-2DCE-4D54-89A2-43EE4840F450}"/>
              </a:ext>
            </a:extLst>
          </p:cNvPr>
          <p:cNvSpPr>
            <a:spLocks xmlns:a="http://schemas.openxmlformats.org/drawingml/2006/main" noGrp="1"/>
          </p:cNvSpPr>
          <p:nvPr/>
        </p:nvSpPr>
        <p:spPr>
          <a:xfrm xmlns:a="http://schemas.openxmlformats.org/drawingml/2006/main">
            <a:off x="9715500" y="8594229"/>
            <a:ext cx="5993130" cy="4381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00">
                <a:solidFill>
                  <a:srgbClr val="516674"/>
                </a:solidFill>
                <a:latin typeface="Arial"/>
                <a:ea typeface="Arial"/>
                <a:cs typeface="Arial"/>
              </a:rPr>
              <a:t>Gentoo is excluded: it separates trivially</a:t>
            </a:r>
            <a:endParaRPr sz="2400"/>
          </a:p>
        </p:txBody>
      </p:sp>
      <p:sp>
        <p:nvSpPr>
          <p:cNvPr id="26" name="Text 24">
            <a:extLst xmlns:a="http://schemas.openxmlformats.org/drawingml/2006/main">
              <a:ext uri="{FF2B5EF4-FFF2-40B4-BE49-F238E27FC236}">
                <a16:creationId xmlns:a16="http://schemas.microsoft.com/office/drawing/2014/main" id="{B434CAD0-9BF1-4199-9182-E6F5FCBDB9E8}"/>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27" name="Text 25">
            <a:extLst xmlns:a="http://schemas.openxmlformats.org/drawingml/2006/main">
              <a:ext uri="{FF2B5EF4-FFF2-40B4-BE49-F238E27FC236}">
                <a16:creationId xmlns:a16="http://schemas.microsoft.com/office/drawing/2014/main" id="{9F8466CC-BADC-42B0-A97C-D586660D1F64}"/>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02</a:t>
            </a:r>
            <a:endParaRPr sz="1800"/>
          </a:p>
        </p:txBody>
      </p:sp>
    </p:spTree>
    <p:extLst>
      <p:ext uri="{BB962C8B-B14F-4D97-AF65-F5344CB8AC3E}">
        <p14:creationId xmlns:p14="http://schemas.microsoft.com/office/powerpoint/2010/main" val="313267824"/>
      </p:ext>
    </p:extLst>
  </p:cSld>
</p:sld>
</file>

<file path=ppt/slides/slide3.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364C83C-40B3-46B9-8E61-CD52B3CA3D04}"/>
              </a:ext>
            </a:extLst>
          </p:cNvPr>
          <p:cNvSpPr>
            <a:spLocks xmlns:a="http://schemas.openxmlformats.org/drawingml/2006/main" noGrp="1"/>
          </p:cNvSpPr>
          <p:nvPr/>
        </p:nvSpPr>
        <p:spPr>
          <a:xfrm xmlns:a="http://schemas.openxmlformats.org/drawingml/2006/main">
            <a:off x="990600" y="766763"/>
            <a:ext cx="898103"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DATA</a:t>
            </a:r>
            <a:endParaRPr sz="1950"/>
          </a:p>
        </p:txBody>
      </p:sp>
      <p:sp>
        <p:nvSpPr>
          <p:cNvPr id="3" name="Text 1">
            <a:extLst xmlns:a="http://schemas.openxmlformats.org/drawingml/2006/main">
              <a:ext uri="{FF2B5EF4-FFF2-40B4-BE49-F238E27FC236}">
                <a16:creationId xmlns:a16="http://schemas.microsoft.com/office/drawing/2014/main" id="{6DF60119-7519-42E8-B5E9-A2A962423372}"/>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03</a:t>
            </a:r>
            <a:endParaRPr sz="1950"/>
          </a:p>
        </p:txBody>
      </p:sp>
      <p:sp>
        <p:nvSpPr>
          <p:cNvPr id="4" name="Shape 2">
            <a:extLst xmlns:a="http://schemas.openxmlformats.org/drawingml/2006/main">
              <a:ext uri="{FF2B5EF4-FFF2-40B4-BE49-F238E27FC236}">
                <a16:creationId xmlns:a16="http://schemas.microsoft.com/office/drawing/2014/main" id="{E162669C-1DAD-4622-A833-B608E16F5A7F}"/>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DB38BB0A-133E-4656-8947-3D7EC73FDB97}"/>
              </a:ext>
            </a:extLst>
          </p:cNvPr>
          <p:cNvSpPr>
            <a:spLocks xmlns:a="http://schemas.openxmlformats.org/drawingml/2006/main" noGrp="1"/>
          </p:cNvSpPr>
          <p:nvPr/>
        </p:nvSpPr>
        <p:spPr>
          <a:xfrm xmlns:a="http://schemas.openxmlformats.org/drawingml/2006/main">
            <a:off x="990600" y="1519238"/>
            <a:ext cx="17937480" cy="75813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2195"/>
              </a:lnSpc>
              <a:buNone/>
            </a:pPr>
            <a:r>
              <a:rPr sz="5400" spc="-81">
                <a:solidFill>
                  <a:srgbClr val="202C35"/>
                </a:solidFill>
                <a:latin typeface="Georgia"/>
                <a:ea typeface="Georgia"/>
                <a:cs typeface="Georgia"/>
              </a:rPr>
              <a:t>Dataset and variables</a:t>
            </a:r>
            <a:endParaRPr sz="5400"/>
          </a:p>
        </p:txBody>
      </p:sp>
      <p:sp>
        <p:nvSpPr>
          <p:cNvPr id="6" name="Text 4">
            <a:extLst xmlns:a="http://schemas.openxmlformats.org/drawingml/2006/main">
              <a:ext uri="{FF2B5EF4-FFF2-40B4-BE49-F238E27FC236}">
                <a16:creationId xmlns:a16="http://schemas.microsoft.com/office/drawing/2014/main" id="{371E7076-24BE-48BE-B318-1BCAC68D8D98}"/>
              </a:ext>
            </a:extLst>
          </p:cNvPr>
          <p:cNvSpPr>
            <a:spLocks xmlns:a="http://schemas.openxmlformats.org/drawingml/2006/main" noGrp="1"/>
          </p:cNvSpPr>
          <p:nvPr/>
        </p:nvSpPr>
        <p:spPr>
          <a:xfrm xmlns:a="http://schemas.openxmlformats.org/drawingml/2006/main">
            <a:off x="990600" y="2620268"/>
            <a:ext cx="6608274" cy="1119336"/>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lnSpc>
                <a:spcPct val="75680"/>
              </a:lnSpc>
              <a:buNone/>
            </a:pPr>
            <a:r>
              <a:rPr sz="9900" spc="-297">
                <a:solidFill>
                  <a:srgbClr val="202C35"/>
                </a:solidFill>
                <a:latin typeface="Georgia"/>
                <a:ea typeface="Georgia"/>
                <a:cs typeface="Georgia"/>
              </a:rPr>
              <a:t>324</a:t>
            </a:r>
            <a:endParaRPr sz="9900"/>
          </a:p>
        </p:txBody>
      </p:sp>
      <p:sp>
        <p:nvSpPr>
          <p:cNvPr id="7" name="Text 5">
            <a:extLst xmlns:a="http://schemas.openxmlformats.org/drawingml/2006/main">
              <a:ext uri="{FF2B5EF4-FFF2-40B4-BE49-F238E27FC236}">
                <a16:creationId xmlns:a16="http://schemas.microsoft.com/office/drawing/2014/main" id="{B20193A0-17CF-4486-A028-FE4ED9159226}"/>
              </a:ext>
            </a:extLst>
          </p:cNvPr>
          <p:cNvSpPr>
            <a:spLocks xmlns:a="http://schemas.openxmlformats.org/drawingml/2006/main" noGrp="1"/>
          </p:cNvSpPr>
          <p:nvPr/>
        </p:nvSpPr>
        <p:spPr>
          <a:xfrm xmlns:a="http://schemas.openxmlformats.org/drawingml/2006/main">
            <a:off x="990600" y="3815804"/>
            <a:ext cx="6187747" cy="78387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16866"/>
              </a:lnSpc>
              <a:buNone/>
            </a:pPr>
            <a:r>
              <a:rPr sz="2175">
                <a:solidFill>
                  <a:srgbClr val="516674"/>
                </a:solidFill>
                <a:latin typeface="Arial"/>
                <a:ea typeface="Arial"/>
                <a:cs typeface="Arial"/>
              </a:rPr>
              <a:t>complete observations, one row per penguin, after dropping every record with a missing field</a:t>
            </a:r>
            <a:endParaRPr sz="2175"/>
          </a:p>
        </p:txBody>
      </p:sp>
      <p:sp>
        <p:nvSpPr>
          <p:cNvPr id="8" name="Shape 6">
            <a:extLst xmlns:a="http://schemas.openxmlformats.org/drawingml/2006/main">
              <a:ext uri="{FF2B5EF4-FFF2-40B4-BE49-F238E27FC236}">
                <a16:creationId xmlns:a16="http://schemas.microsoft.com/office/drawing/2014/main" id="{29899C1D-14AE-46E9-824A-703DA4E29478}"/>
              </a:ext>
            </a:extLst>
          </p:cNvPr>
          <p:cNvSpPr>
            <a:spLocks xmlns:a="http://schemas.openxmlformats.org/drawingml/2006/main" noGrp="1"/>
          </p:cNvSpPr>
          <p:nvPr/>
        </p:nvSpPr>
        <p:spPr>
          <a:xfrm xmlns:a="http://schemas.openxmlformats.org/drawingml/2006/main">
            <a:off x="990600" y="4733032"/>
            <a:ext cx="6007522"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DA66DE47-9933-4110-92A9-0B450BD0AF88}"/>
              </a:ext>
            </a:extLst>
          </p:cNvPr>
          <p:cNvSpPr>
            <a:spLocks xmlns:a="http://schemas.openxmlformats.org/drawingml/2006/main" noGrp="1"/>
          </p:cNvSpPr>
          <p:nvPr/>
        </p:nvSpPr>
        <p:spPr>
          <a:xfrm xmlns:a="http://schemas.openxmlformats.org/drawingml/2006/main">
            <a:off x="990600" y="4909245"/>
            <a:ext cx="1647669" cy="2857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1725" b="1" spc="276">
                <a:solidFill>
                  <a:srgbClr val="C86C5A"/>
                </a:solidFill>
                <a:latin typeface="Arial"/>
                <a:ea typeface="Arial"/>
                <a:cs typeface="Arial"/>
              </a:rPr>
              <a:t>RESPONSE</a:t>
            </a:r>
            <a:endParaRPr sz="1725"/>
          </a:p>
        </p:txBody>
      </p:sp>
      <p:sp>
        <p:nvSpPr>
          <p:cNvPr id="10" name="Text 8">
            <a:extLst xmlns:a="http://schemas.openxmlformats.org/drawingml/2006/main">
              <a:ext uri="{FF2B5EF4-FFF2-40B4-BE49-F238E27FC236}">
                <a16:creationId xmlns:a16="http://schemas.microsoft.com/office/drawing/2014/main" id="{AC95E3D4-EC83-4DA9-ACDF-6F633EFDEFF7}"/>
              </a:ext>
            </a:extLst>
          </p:cNvPr>
          <p:cNvSpPr>
            <a:spLocks xmlns:a="http://schemas.openxmlformats.org/drawingml/2006/main" noGrp="1"/>
          </p:cNvSpPr>
          <p:nvPr/>
        </p:nvSpPr>
        <p:spPr>
          <a:xfrm xmlns:a="http://schemas.openxmlformats.org/drawingml/2006/main">
            <a:off x="990600" y="5237857"/>
            <a:ext cx="6608274" cy="4191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20000"/>
          </a:bodyPr>
          <a:lstStyle xmlns:a="http://schemas.openxmlformats.org/drawingml/2006/main"/>
          <a:p xmlns:a="http://schemas.openxmlformats.org/drawingml/2006/main">
            <a:pPr marL="0" indent="0" algn="l">
              <a:buNone/>
            </a:pPr>
            <a:r>
              <a:rPr sz="3000">
                <a:solidFill>
                  <a:srgbClr val="202C35"/>
                </a:solidFill>
                <a:latin typeface="Georgia"/>
                <a:ea typeface="Georgia"/>
                <a:cs typeface="Georgia"/>
              </a:rPr>
              <a:t>Body mass (g)</a:t>
            </a:r>
            <a:endParaRPr sz="3000"/>
          </a:p>
        </p:txBody>
      </p:sp>
      <p:sp>
        <p:nvSpPr>
          <p:cNvPr id="11" name="Shape 9">
            <a:extLst xmlns:a="http://schemas.openxmlformats.org/drawingml/2006/main">
              <a:ext uri="{FF2B5EF4-FFF2-40B4-BE49-F238E27FC236}">
                <a16:creationId xmlns:a16="http://schemas.microsoft.com/office/drawing/2014/main" id="{2C520EA5-50BB-43DE-AAA0-5D62913524C1}"/>
              </a:ext>
            </a:extLst>
          </p:cNvPr>
          <p:cNvSpPr>
            <a:spLocks xmlns:a="http://schemas.openxmlformats.org/drawingml/2006/main" noGrp="1"/>
          </p:cNvSpPr>
          <p:nvPr/>
        </p:nvSpPr>
        <p:spPr>
          <a:xfrm xmlns:a="http://schemas.openxmlformats.org/drawingml/2006/main">
            <a:off x="990600" y="5790307"/>
            <a:ext cx="6007522"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6500EBC0-9722-442B-8608-630B7A45AD43}"/>
              </a:ext>
            </a:extLst>
          </p:cNvPr>
          <p:cNvSpPr>
            <a:spLocks xmlns:a="http://schemas.openxmlformats.org/drawingml/2006/main" noGrp="1"/>
          </p:cNvSpPr>
          <p:nvPr/>
        </p:nvSpPr>
        <p:spPr>
          <a:xfrm xmlns:a="http://schemas.openxmlformats.org/drawingml/2006/main">
            <a:off x="990600" y="5966520"/>
            <a:ext cx="4234383" cy="2857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1725" b="1" spc="276">
                <a:solidFill>
                  <a:srgbClr val="C86C5A"/>
                </a:solidFill>
                <a:latin typeface="Arial"/>
                <a:ea typeface="Arial"/>
                <a:cs typeface="Arial"/>
              </a:rPr>
              <a:t>MEASURED IN MILLIMETRES</a:t>
            </a:r>
            <a:endParaRPr sz="1725"/>
          </a:p>
        </p:txBody>
      </p:sp>
      <p:sp>
        <p:nvSpPr>
          <p:cNvPr id="13" name="Text 11">
            <a:extLst xmlns:a="http://schemas.openxmlformats.org/drawingml/2006/main">
              <a:ext uri="{FF2B5EF4-FFF2-40B4-BE49-F238E27FC236}">
                <a16:creationId xmlns:a16="http://schemas.microsoft.com/office/drawing/2014/main" id="{987F47E0-C3E6-4D44-8B92-2C442549500C}"/>
              </a:ext>
            </a:extLst>
          </p:cNvPr>
          <p:cNvSpPr>
            <a:spLocks xmlns:a="http://schemas.openxmlformats.org/drawingml/2006/main" noGrp="1"/>
          </p:cNvSpPr>
          <p:nvPr/>
        </p:nvSpPr>
        <p:spPr>
          <a:xfrm xmlns:a="http://schemas.openxmlformats.org/drawingml/2006/main">
            <a:off x="990600" y="6295132"/>
            <a:ext cx="6608274" cy="4381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1739"/>
              </a:lnSpc>
              <a:buNone/>
            </a:pPr>
            <a:r>
              <a:rPr sz="2250">
                <a:solidFill>
                  <a:srgbClr val="202C35"/>
                </a:solidFill>
                <a:latin typeface="Arial"/>
                <a:ea typeface="Arial"/>
                <a:cs typeface="Arial"/>
              </a:rPr>
              <a:t>Bill length · Bill depth · Flipper length</a:t>
            </a:r>
            <a:endParaRPr sz="2250"/>
          </a:p>
        </p:txBody>
      </p:sp>
      <p:sp>
        <p:nvSpPr>
          <p:cNvPr id="14" name="Shape 12">
            <a:extLst xmlns:a="http://schemas.openxmlformats.org/drawingml/2006/main">
              <a:ext uri="{FF2B5EF4-FFF2-40B4-BE49-F238E27FC236}">
                <a16:creationId xmlns:a16="http://schemas.microsoft.com/office/drawing/2014/main" id="{3BA30BD5-A183-4984-9924-383227A8BF19}"/>
              </a:ext>
            </a:extLst>
          </p:cNvPr>
          <p:cNvSpPr>
            <a:spLocks xmlns:a="http://schemas.openxmlformats.org/drawingml/2006/main" noGrp="1"/>
          </p:cNvSpPr>
          <p:nvPr/>
        </p:nvSpPr>
        <p:spPr>
          <a:xfrm xmlns:a="http://schemas.openxmlformats.org/drawingml/2006/main">
            <a:off x="990600" y="6866632"/>
            <a:ext cx="6007522"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AFE10251-A795-4B02-B963-B5912722DF25}"/>
              </a:ext>
            </a:extLst>
          </p:cNvPr>
          <p:cNvSpPr>
            <a:spLocks xmlns:a="http://schemas.openxmlformats.org/drawingml/2006/main" noGrp="1"/>
          </p:cNvSpPr>
          <p:nvPr/>
        </p:nvSpPr>
        <p:spPr>
          <a:xfrm xmlns:a="http://schemas.openxmlformats.org/drawingml/2006/main">
            <a:off x="990600" y="7042845"/>
            <a:ext cx="2133645" cy="2857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1725" b="1" spc="276">
                <a:solidFill>
                  <a:srgbClr val="C86C5A"/>
                </a:solidFill>
                <a:latin typeface="Arial"/>
                <a:ea typeface="Arial"/>
                <a:cs typeface="Arial"/>
              </a:rPr>
              <a:t>CATEGORICAL</a:t>
            </a:r>
            <a:endParaRPr sz="1725"/>
          </a:p>
        </p:txBody>
      </p:sp>
      <p:sp>
        <p:nvSpPr>
          <p:cNvPr id="16" name="Text 14">
            <a:extLst xmlns:a="http://schemas.openxmlformats.org/drawingml/2006/main">
              <a:ext uri="{FF2B5EF4-FFF2-40B4-BE49-F238E27FC236}">
                <a16:creationId xmlns:a16="http://schemas.microsoft.com/office/drawing/2014/main" id="{451E445B-2041-43E0-802C-D2B5E5843486}"/>
              </a:ext>
            </a:extLst>
          </p:cNvPr>
          <p:cNvSpPr>
            <a:spLocks xmlns:a="http://schemas.openxmlformats.org/drawingml/2006/main" noGrp="1"/>
          </p:cNvSpPr>
          <p:nvPr/>
        </p:nvSpPr>
        <p:spPr>
          <a:xfrm xmlns:a="http://schemas.openxmlformats.org/drawingml/2006/main">
            <a:off x="990600" y="7371457"/>
            <a:ext cx="6608274" cy="4381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1739"/>
              </a:lnSpc>
              <a:buNone/>
            </a:pPr>
            <a:r>
              <a:rPr sz="2250">
                <a:solidFill>
                  <a:srgbClr val="202C35"/>
                </a:solidFill>
                <a:latin typeface="Arial"/>
                <a:ea typeface="Arial"/>
                <a:cs typeface="Arial"/>
              </a:rPr>
              <a:t>Species · Sex · Island · Clutch completion</a:t>
            </a:r>
            <a:endParaRPr sz="2250"/>
          </a:p>
        </p:txBody>
      </p:sp>
      <p:sp>
        <p:nvSpPr>
          <p:cNvPr id="17" name="Text 15">
            <a:extLst xmlns:a="http://schemas.openxmlformats.org/drawingml/2006/main">
              <a:ext uri="{FF2B5EF4-FFF2-40B4-BE49-F238E27FC236}">
                <a16:creationId xmlns:a16="http://schemas.microsoft.com/office/drawing/2014/main" id="{420CD216-CCB0-4828-9610-97B35A73BCB3}"/>
              </a:ext>
            </a:extLst>
          </p:cNvPr>
          <p:cNvSpPr>
            <a:spLocks xmlns:a="http://schemas.openxmlformats.org/drawingml/2006/main" noGrp="1"/>
          </p:cNvSpPr>
          <p:nvPr/>
        </p:nvSpPr>
        <p:spPr>
          <a:xfrm xmlns:a="http://schemas.openxmlformats.org/drawingml/2006/main">
            <a:off x="7607722" y="2620268"/>
            <a:ext cx="10658646"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516674"/>
                </a:solidFill>
                <a:latin typeface="Arial"/>
                <a:ea typeface="Arial"/>
                <a:cs typeface="Arial"/>
              </a:rPr>
              <a:t>COMPOSITION OF THE SAMPLE</a:t>
            </a:r>
            <a:endParaRPr sz="1800"/>
          </a:p>
        </p:txBody>
      </p:sp>
      <p:sp>
        <p:nvSpPr>
          <p:cNvPr id="18" name="Text 16">
            <a:extLst xmlns:a="http://schemas.openxmlformats.org/drawingml/2006/main">
              <a:ext uri="{FF2B5EF4-FFF2-40B4-BE49-F238E27FC236}">
                <a16:creationId xmlns:a16="http://schemas.microsoft.com/office/drawing/2014/main" id="{B5CCD270-8D35-4943-A46E-5E24D8D75A02}"/>
              </a:ext>
            </a:extLst>
          </p:cNvPr>
          <p:cNvSpPr>
            <a:spLocks xmlns:a="http://schemas.openxmlformats.org/drawingml/2006/main" noGrp="1"/>
          </p:cNvSpPr>
          <p:nvPr/>
        </p:nvSpPr>
        <p:spPr>
          <a:xfrm xmlns:a="http://schemas.openxmlformats.org/drawingml/2006/main">
            <a:off x="7607722" y="3072705"/>
            <a:ext cx="1096045" cy="4143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250">
                <a:solidFill>
                  <a:srgbClr val="202C35"/>
                </a:solidFill>
                <a:latin typeface="Arial"/>
                <a:ea typeface="Arial"/>
                <a:cs typeface="Arial"/>
              </a:rPr>
              <a:t>Species</a:t>
            </a:r>
            <a:endParaRPr sz="2250"/>
          </a:p>
        </p:txBody>
      </p:sp>
      <p:sp>
        <p:nvSpPr>
          <p:cNvPr id="19" name="Text 17">
            <a:extLst xmlns:a="http://schemas.openxmlformats.org/drawingml/2006/main">
              <a:ext uri="{FF2B5EF4-FFF2-40B4-BE49-F238E27FC236}">
                <a16:creationId xmlns:a16="http://schemas.microsoft.com/office/drawing/2014/main" id="{E92817ED-C78E-40ED-A016-64C4CFDD13BA}"/>
              </a:ext>
            </a:extLst>
          </p:cNvPr>
          <p:cNvSpPr>
            <a:spLocks xmlns:a="http://schemas.openxmlformats.org/drawingml/2006/main" noGrp="1"/>
          </p:cNvSpPr>
          <p:nvPr/>
        </p:nvSpPr>
        <p:spPr>
          <a:xfrm xmlns:a="http://schemas.openxmlformats.org/drawingml/2006/main">
            <a:off x="15377145" y="3096518"/>
            <a:ext cx="21122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516674"/>
                </a:solidFill>
                <a:latin typeface="Courier New"/>
                <a:ea typeface="Courier New"/>
                <a:cs typeface="Courier New"/>
              </a:rPr>
              <a:t>324 penguins</a:t>
            </a:r>
            <a:endParaRPr sz="2100"/>
          </a:p>
        </p:txBody>
      </p:sp>
      <p:sp>
        <p:nvSpPr>
          <p:cNvPr id="20" name="Shape 18">
            <a:extLst xmlns:a="http://schemas.openxmlformats.org/drawingml/2006/main">
              <a:ext uri="{FF2B5EF4-FFF2-40B4-BE49-F238E27FC236}">
                <a16:creationId xmlns:a16="http://schemas.microsoft.com/office/drawing/2014/main" id="{59262A17-D7E2-428B-9F64-118B95F38307}"/>
              </a:ext>
            </a:extLst>
          </p:cNvPr>
          <p:cNvSpPr>
            <a:spLocks xmlns:a="http://schemas.openxmlformats.org/drawingml/2006/main" noGrp="1"/>
          </p:cNvSpPr>
          <p:nvPr/>
        </p:nvSpPr>
        <p:spPr>
          <a:xfrm xmlns:a="http://schemas.openxmlformats.org/drawingml/2006/main">
            <a:off x="7607722" y="3544193"/>
            <a:ext cx="4123879" cy="32385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DCA4AF40-DBA9-4AE4-A5C2-B2C664D55AB6}"/>
              </a:ext>
            </a:extLst>
          </p:cNvPr>
          <p:cNvSpPr>
            <a:spLocks xmlns:a="http://schemas.openxmlformats.org/drawingml/2006/main" noGrp="1"/>
          </p:cNvSpPr>
          <p:nvPr/>
        </p:nvSpPr>
        <p:spPr>
          <a:xfrm xmlns:a="http://schemas.openxmlformats.org/drawingml/2006/main">
            <a:off x="7741072" y="3558480"/>
            <a:ext cx="1508760"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F8F6F2"/>
                </a:solidFill>
                <a:latin typeface="Courier New"/>
                <a:ea typeface="Courier New"/>
                <a:cs typeface="Courier New"/>
              </a:rPr>
              <a:t>Adelie 139</a:t>
            </a:r>
            <a:endParaRPr sz="1800"/>
          </a:p>
        </p:txBody>
      </p:sp>
      <p:sp>
        <p:nvSpPr>
          <p:cNvPr id="22" name="Shape 20">
            <a:extLst xmlns:a="http://schemas.openxmlformats.org/drawingml/2006/main">
              <a:ext uri="{FF2B5EF4-FFF2-40B4-BE49-F238E27FC236}">
                <a16:creationId xmlns:a16="http://schemas.microsoft.com/office/drawing/2014/main" id="{1304E846-9301-429F-A69A-D936314727D6}"/>
              </a:ext>
            </a:extLst>
          </p:cNvPr>
          <p:cNvSpPr>
            <a:spLocks xmlns:a="http://schemas.openxmlformats.org/drawingml/2006/main" noGrp="1"/>
          </p:cNvSpPr>
          <p:nvPr/>
        </p:nvSpPr>
        <p:spPr>
          <a:xfrm xmlns:a="http://schemas.openxmlformats.org/drawingml/2006/main">
            <a:off x="11769700" y="3544193"/>
            <a:ext cx="1988493" cy="323850"/>
          </a:xfrm>
          <a:prstGeom xmlns:a="http://schemas.openxmlformats.org/drawingml/2006/main" prst="rect">
            <a:avLst/>
          </a:prstGeom>
          <a:solidFill xmlns:a="http://schemas.openxmlformats.org/drawingml/2006/main">
            <a:srgbClr val="C86C5A"/>
          </a:solidFill>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AAA1302-EDE1-45F3-8827-462AA32653E5}"/>
              </a:ext>
            </a:extLst>
          </p:cNvPr>
          <p:cNvSpPr>
            <a:spLocks xmlns:a="http://schemas.openxmlformats.org/drawingml/2006/main" noGrp="1"/>
          </p:cNvSpPr>
          <p:nvPr/>
        </p:nvSpPr>
        <p:spPr>
          <a:xfrm xmlns:a="http://schemas.openxmlformats.org/drawingml/2006/main">
            <a:off x="11903050" y="3558480"/>
            <a:ext cx="1810561"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202C35"/>
                </a:solidFill>
                <a:latin typeface="Courier New"/>
                <a:ea typeface="Courier New"/>
                <a:cs typeface="Courier New"/>
              </a:rPr>
              <a:t>Chinstrap 67</a:t>
            </a:r>
            <a:endParaRPr sz="1800"/>
          </a:p>
        </p:txBody>
      </p:sp>
      <p:sp>
        <p:nvSpPr>
          <p:cNvPr id="24" name="Shape 22">
            <a:extLst xmlns:a="http://schemas.openxmlformats.org/drawingml/2006/main">
              <a:ext uri="{FF2B5EF4-FFF2-40B4-BE49-F238E27FC236}">
                <a16:creationId xmlns:a16="http://schemas.microsoft.com/office/drawing/2014/main" id="{59D310F6-15F0-4FA5-817A-825D23C74647}"/>
              </a:ext>
            </a:extLst>
          </p:cNvPr>
          <p:cNvSpPr>
            <a:spLocks xmlns:a="http://schemas.openxmlformats.org/drawingml/2006/main" noGrp="1"/>
          </p:cNvSpPr>
          <p:nvPr/>
        </p:nvSpPr>
        <p:spPr>
          <a:xfrm xmlns:a="http://schemas.openxmlformats.org/drawingml/2006/main">
            <a:off x="13796293" y="3544193"/>
            <a:ext cx="3501107" cy="323850"/>
          </a:xfrm>
          <a:prstGeom xmlns:a="http://schemas.openxmlformats.org/drawingml/2006/main" prst="rect">
            <a:avLst/>
          </a:prstGeom>
          <a:solidFill xmlns:a="http://schemas.openxmlformats.org/drawingml/2006/main">
            <a:srgbClr val="8FA0AA"/>
          </a:solidFill>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CF566C96-43A6-4AD5-946D-E4267DB7A836}"/>
              </a:ext>
            </a:extLst>
          </p:cNvPr>
          <p:cNvSpPr>
            <a:spLocks xmlns:a="http://schemas.openxmlformats.org/drawingml/2006/main" noGrp="1"/>
          </p:cNvSpPr>
          <p:nvPr/>
        </p:nvSpPr>
        <p:spPr>
          <a:xfrm xmlns:a="http://schemas.openxmlformats.org/drawingml/2006/main">
            <a:off x="13929643" y="3558480"/>
            <a:ext cx="1508760"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202C35"/>
                </a:solidFill>
                <a:latin typeface="Courier New"/>
                <a:ea typeface="Courier New"/>
                <a:cs typeface="Courier New"/>
              </a:rPr>
              <a:t>Gentoo 118</a:t>
            </a:r>
            <a:endParaRPr sz="1800"/>
          </a:p>
        </p:txBody>
      </p:sp>
      <p:sp>
        <p:nvSpPr>
          <p:cNvPr id="26" name="Text 24">
            <a:extLst xmlns:a="http://schemas.openxmlformats.org/drawingml/2006/main">
              <a:ext uri="{FF2B5EF4-FFF2-40B4-BE49-F238E27FC236}">
                <a16:creationId xmlns:a16="http://schemas.microsoft.com/office/drawing/2014/main" id="{5BDDD046-C052-4DCF-8649-11C2EA64D790}"/>
              </a:ext>
            </a:extLst>
          </p:cNvPr>
          <p:cNvSpPr>
            <a:spLocks xmlns:a="http://schemas.openxmlformats.org/drawingml/2006/main" noGrp="1"/>
          </p:cNvSpPr>
          <p:nvPr/>
        </p:nvSpPr>
        <p:spPr>
          <a:xfrm xmlns:a="http://schemas.openxmlformats.org/drawingml/2006/main">
            <a:off x="7607722" y="4058543"/>
            <a:ext cx="908298" cy="4143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250">
                <a:solidFill>
                  <a:srgbClr val="202C35"/>
                </a:solidFill>
                <a:latin typeface="Arial"/>
                <a:ea typeface="Arial"/>
                <a:cs typeface="Arial"/>
              </a:rPr>
              <a:t>Island</a:t>
            </a:r>
            <a:endParaRPr sz="2250"/>
          </a:p>
        </p:txBody>
      </p:sp>
      <p:sp>
        <p:nvSpPr>
          <p:cNvPr id="27" name="Text 25">
            <a:extLst xmlns:a="http://schemas.openxmlformats.org/drawingml/2006/main">
              <a:ext uri="{FF2B5EF4-FFF2-40B4-BE49-F238E27FC236}">
                <a16:creationId xmlns:a16="http://schemas.microsoft.com/office/drawing/2014/main" id="{8DAD866D-DE68-41F5-9BD4-0E1A8E68184C}"/>
              </a:ext>
            </a:extLst>
          </p:cNvPr>
          <p:cNvSpPr>
            <a:spLocks xmlns:a="http://schemas.openxmlformats.org/drawingml/2006/main" noGrp="1"/>
          </p:cNvSpPr>
          <p:nvPr/>
        </p:nvSpPr>
        <p:spPr>
          <a:xfrm xmlns:a="http://schemas.openxmlformats.org/drawingml/2006/main">
            <a:off x="15377145" y="4082355"/>
            <a:ext cx="21122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516674"/>
                </a:solidFill>
                <a:latin typeface="Courier New"/>
                <a:ea typeface="Courier New"/>
                <a:cs typeface="Courier New"/>
              </a:rPr>
              <a:t>324 penguins</a:t>
            </a:r>
            <a:endParaRPr sz="2100"/>
          </a:p>
        </p:txBody>
      </p:sp>
      <p:sp>
        <p:nvSpPr>
          <p:cNvPr id="28" name="Shape 26">
            <a:extLst xmlns:a="http://schemas.openxmlformats.org/drawingml/2006/main">
              <a:ext uri="{FF2B5EF4-FFF2-40B4-BE49-F238E27FC236}">
                <a16:creationId xmlns:a16="http://schemas.microsoft.com/office/drawing/2014/main" id="{2346E93F-0C0C-40DC-A187-79961A9085A8}"/>
              </a:ext>
            </a:extLst>
          </p:cNvPr>
          <p:cNvSpPr>
            <a:spLocks xmlns:a="http://schemas.openxmlformats.org/drawingml/2006/main" noGrp="1"/>
          </p:cNvSpPr>
          <p:nvPr/>
        </p:nvSpPr>
        <p:spPr>
          <a:xfrm xmlns:a="http://schemas.openxmlformats.org/drawingml/2006/main">
            <a:off x="7607722" y="4530030"/>
            <a:ext cx="4806181" cy="32385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DD16346F-0129-4320-935C-884D833A5AEA}"/>
              </a:ext>
            </a:extLst>
          </p:cNvPr>
          <p:cNvSpPr>
            <a:spLocks xmlns:a="http://schemas.openxmlformats.org/drawingml/2006/main" noGrp="1"/>
          </p:cNvSpPr>
          <p:nvPr/>
        </p:nvSpPr>
        <p:spPr>
          <a:xfrm xmlns:a="http://schemas.openxmlformats.org/drawingml/2006/main">
            <a:off x="7741072" y="4544318"/>
            <a:ext cx="1508760"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F8F6F2"/>
                </a:solidFill>
                <a:latin typeface="Courier New"/>
                <a:ea typeface="Courier New"/>
                <a:cs typeface="Courier New"/>
              </a:rPr>
              <a:t>Biscoe 162</a:t>
            </a:r>
            <a:endParaRPr sz="1800"/>
          </a:p>
        </p:txBody>
      </p:sp>
      <p:sp>
        <p:nvSpPr>
          <p:cNvPr id="30" name="Shape 28">
            <a:extLst xmlns:a="http://schemas.openxmlformats.org/drawingml/2006/main">
              <a:ext uri="{FF2B5EF4-FFF2-40B4-BE49-F238E27FC236}">
                <a16:creationId xmlns:a16="http://schemas.microsoft.com/office/drawing/2014/main" id="{105D511E-887C-4F01-80E1-2797E99CC43C}"/>
              </a:ext>
            </a:extLst>
          </p:cNvPr>
          <p:cNvSpPr>
            <a:spLocks xmlns:a="http://schemas.openxmlformats.org/drawingml/2006/main" noGrp="1"/>
          </p:cNvSpPr>
          <p:nvPr/>
        </p:nvSpPr>
        <p:spPr>
          <a:xfrm xmlns:a="http://schemas.openxmlformats.org/drawingml/2006/main">
            <a:off x="12452003" y="4530030"/>
            <a:ext cx="3530947" cy="323850"/>
          </a:xfrm>
          <a:prstGeom xmlns:a="http://schemas.openxmlformats.org/drawingml/2006/main" prst="rect">
            <a:avLst/>
          </a:prstGeom>
          <a:solidFill xmlns:a="http://schemas.openxmlformats.org/drawingml/2006/main">
            <a:srgbClr val="516674"/>
          </a:solidFill>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81632C87-CC4F-4485-B36E-DFB45C7CF4FF}"/>
              </a:ext>
            </a:extLst>
          </p:cNvPr>
          <p:cNvSpPr>
            <a:spLocks xmlns:a="http://schemas.openxmlformats.org/drawingml/2006/main" noGrp="1"/>
          </p:cNvSpPr>
          <p:nvPr/>
        </p:nvSpPr>
        <p:spPr>
          <a:xfrm xmlns:a="http://schemas.openxmlformats.org/drawingml/2006/main">
            <a:off x="12585353" y="4544318"/>
            <a:ext cx="1357900"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F8F6F2"/>
                </a:solidFill>
                <a:latin typeface="Courier New"/>
                <a:ea typeface="Courier New"/>
                <a:cs typeface="Courier New"/>
              </a:rPr>
              <a:t>Dream 119</a:t>
            </a:r>
            <a:endParaRPr sz="1800"/>
          </a:p>
        </p:txBody>
      </p:sp>
      <p:sp>
        <p:nvSpPr>
          <p:cNvPr id="32" name="Shape 30">
            <a:extLst xmlns:a="http://schemas.openxmlformats.org/drawingml/2006/main">
              <a:ext uri="{FF2B5EF4-FFF2-40B4-BE49-F238E27FC236}">
                <a16:creationId xmlns:a16="http://schemas.microsoft.com/office/drawing/2014/main" id="{D07BC39A-1C6B-4724-9B0B-82623EA22A5C}"/>
              </a:ext>
            </a:extLst>
          </p:cNvPr>
          <p:cNvSpPr>
            <a:spLocks xmlns:a="http://schemas.openxmlformats.org/drawingml/2006/main" noGrp="1"/>
          </p:cNvSpPr>
          <p:nvPr/>
        </p:nvSpPr>
        <p:spPr>
          <a:xfrm xmlns:a="http://schemas.openxmlformats.org/drawingml/2006/main">
            <a:off x="16021050" y="4530030"/>
            <a:ext cx="1276350" cy="323850"/>
          </a:xfrm>
          <a:prstGeom xmlns:a="http://schemas.openxmlformats.org/drawingml/2006/main" prst="rect">
            <a:avLst/>
          </a:prstGeom>
          <a:solidFill xmlns:a="http://schemas.openxmlformats.org/drawingml/2006/main">
            <a:srgbClr val="D3A79C"/>
          </a:solidFill>
        </p:spPr>
        <p:txBody>
          <a:bodyPr xmlns:a="http://schemas.openxmlformats.org/drawingml/2006/main"/>
          <a:lstStyle xmlns:a="http://schemas.openxmlformats.org/drawingml/2006/main"/>
          <a:p xmlns:a="http://schemas.openxmlformats.org/drawingml/2006/main">
            <a:endParaRPr/>
          </a:p>
        </p:txBody>
      </p:sp>
      <p:sp>
        <p:nvSpPr>
          <p:cNvPr id="33" name="Text 31">
            <a:extLst xmlns:a="http://schemas.openxmlformats.org/drawingml/2006/main">
              <a:ext uri="{FF2B5EF4-FFF2-40B4-BE49-F238E27FC236}">
                <a16:creationId xmlns:a16="http://schemas.microsoft.com/office/drawing/2014/main" id="{6D0EC73E-97F7-4E64-8D04-3CF7F5E0009C}"/>
              </a:ext>
            </a:extLst>
          </p:cNvPr>
          <p:cNvSpPr>
            <a:spLocks xmlns:a="http://schemas.openxmlformats.org/drawingml/2006/main" noGrp="1"/>
          </p:cNvSpPr>
          <p:nvPr/>
        </p:nvSpPr>
        <p:spPr>
          <a:xfrm xmlns:a="http://schemas.openxmlformats.org/drawingml/2006/main">
            <a:off x="16154400" y="4544318"/>
            <a:ext cx="350565"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202C35"/>
                </a:solidFill>
                <a:latin typeface="Courier New"/>
                <a:ea typeface="Courier New"/>
                <a:cs typeface="Courier New"/>
              </a:rPr>
              <a:t>43</a:t>
            </a:r>
            <a:endParaRPr sz="1800"/>
          </a:p>
        </p:txBody>
      </p:sp>
      <p:sp>
        <p:nvSpPr>
          <p:cNvPr id="34" name="Text 32">
            <a:extLst xmlns:a="http://schemas.openxmlformats.org/drawingml/2006/main">
              <a:ext uri="{FF2B5EF4-FFF2-40B4-BE49-F238E27FC236}">
                <a16:creationId xmlns:a16="http://schemas.microsoft.com/office/drawing/2014/main" id="{80608F17-A737-4603-B3FA-4121EFE3CE10}"/>
              </a:ext>
            </a:extLst>
          </p:cNvPr>
          <p:cNvSpPr>
            <a:spLocks xmlns:a="http://schemas.openxmlformats.org/drawingml/2006/main" noGrp="1"/>
          </p:cNvSpPr>
          <p:nvPr/>
        </p:nvSpPr>
        <p:spPr>
          <a:xfrm xmlns:a="http://schemas.openxmlformats.org/drawingml/2006/main">
            <a:off x="7607722" y="5044380"/>
            <a:ext cx="553492" cy="4143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250">
                <a:solidFill>
                  <a:srgbClr val="202C35"/>
                </a:solidFill>
                <a:latin typeface="Arial"/>
                <a:ea typeface="Arial"/>
                <a:cs typeface="Arial"/>
              </a:rPr>
              <a:t>Sex</a:t>
            </a:r>
            <a:endParaRPr sz="2250"/>
          </a:p>
        </p:txBody>
      </p:sp>
      <p:sp>
        <p:nvSpPr>
          <p:cNvPr id="35" name="Text 33">
            <a:extLst xmlns:a="http://schemas.openxmlformats.org/drawingml/2006/main">
              <a:ext uri="{FF2B5EF4-FFF2-40B4-BE49-F238E27FC236}">
                <a16:creationId xmlns:a16="http://schemas.microsoft.com/office/drawing/2014/main" id="{A5D4F995-D309-4B35-907C-ED57E7728547}"/>
              </a:ext>
            </a:extLst>
          </p:cNvPr>
          <p:cNvSpPr>
            <a:spLocks xmlns:a="http://schemas.openxmlformats.org/drawingml/2006/main" noGrp="1"/>
          </p:cNvSpPr>
          <p:nvPr/>
        </p:nvSpPr>
        <p:spPr>
          <a:xfrm xmlns:a="http://schemas.openxmlformats.org/drawingml/2006/main">
            <a:off x="15377145" y="5068193"/>
            <a:ext cx="21122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516674"/>
                </a:solidFill>
                <a:latin typeface="Courier New"/>
                <a:ea typeface="Courier New"/>
                <a:cs typeface="Courier New"/>
              </a:rPr>
              <a:t>324 penguins</a:t>
            </a:r>
            <a:endParaRPr sz="2100"/>
          </a:p>
        </p:txBody>
      </p:sp>
      <p:sp>
        <p:nvSpPr>
          <p:cNvPr id="36" name="Shape 34">
            <a:extLst xmlns:a="http://schemas.openxmlformats.org/drawingml/2006/main">
              <a:ext uri="{FF2B5EF4-FFF2-40B4-BE49-F238E27FC236}">
                <a16:creationId xmlns:a16="http://schemas.microsoft.com/office/drawing/2014/main" id="{83473FEE-03FC-4164-832B-96B2451B06D3}"/>
              </a:ext>
            </a:extLst>
          </p:cNvPr>
          <p:cNvSpPr>
            <a:spLocks xmlns:a="http://schemas.openxmlformats.org/drawingml/2006/main" noGrp="1"/>
          </p:cNvSpPr>
          <p:nvPr/>
        </p:nvSpPr>
        <p:spPr>
          <a:xfrm xmlns:a="http://schemas.openxmlformats.org/drawingml/2006/main">
            <a:off x="7607722" y="5515868"/>
            <a:ext cx="4855741" cy="323850"/>
          </a:xfrm>
          <a:prstGeom xmlns:a="http://schemas.openxmlformats.org/drawingml/2006/main" prst="rect">
            <a:avLst/>
          </a:prstGeom>
          <a:solidFill xmlns:a="http://schemas.openxmlformats.org/drawingml/2006/main">
            <a:srgbClr val="516674"/>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995DBD95-F4AC-4164-8ADF-91BB5A9AFAE2}"/>
              </a:ext>
            </a:extLst>
          </p:cNvPr>
          <p:cNvSpPr>
            <a:spLocks xmlns:a="http://schemas.openxmlformats.org/drawingml/2006/main" noGrp="1"/>
          </p:cNvSpPr>
          <p:nvPr/>
        </p:nvSpPr>
        <p:spPr>
          <a:xfrm xmlns:a="http://schemas.openxmlformats.org/drawingml/2006/main">
            <a:off x="7741072" y="5530155"/>
            <a:ext cx="1508760"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F8F6F2"/>
                </a:solidFill>
                <a:latin typeface="Courier New"/>
                <a:ea typeface="Courier New"/>
                <a:cs typeface="Courier New"/>
              </a:rPr>
              <a:t>Female 163</a:t>
            </a:r>
            <a:endParaRPr sz="1800"/>
          </a:p>
        </p:txBody>
      </p:sp>
      <p:sp>
        <p:nvSpPr>
          <p:cNvPr id="38" name="Shape 36">
            <a:extLst xmlns:a="http://schemas.openxmlformats.org/drawingml/2006/main">
              <a:ext uri="{FF2B5EF4-FFF2-40B4-BE49-F238E27FC236}">
                <a16:creationId xmlns:a16="http://schemas.microsoft.com/office/drawing/2014/main" id="{DEF177A1-3579-4865-9E28-F4DD7DCA791C}"/>
              </a:ext>
            </a:extLst>
          </p:cNvPr>
          <p:cNvSpPr>
            <a:spLocks xmlns:a="http://schemas.openxmlformats.org/drawingml/2006/main" noGrp="1"/>
          </p:cNvSpPr>
          <p:nvPr/>
        </p:nvSpPr>
        <p:spPr>
          <a:xfrm xmlns:a="http://schemas.openxmlformats.org/drawingml/2006/main">
            <a:off x="12501563" y="5515868"/>
            <a:ext cx="4795838" cy="32385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81427156-B9E9-40FA-8D44-1CE2585859BC}"/>
              </a:ext>
            </a:extLst>
          </p:cNvPr>
          <p:cNvSpPr>
            <a:spLocks xmlns:a="http://schemas.openxmlformats.org/drawingml/2006/main" noGrp="1"/>
          </p:cNvSpPr>
          <p:nvPr/>
        </p:nvSpPr>
        <p:spPr>
          <a:xfrm xmlns:a="http://schemas.openxmlformats.org/drawingml/2006/main">
            <a:off x="12634913" y="5530155"/>
            <a:ext cx="1173510"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F8F6F2"/>
                </a:solidFill>
                <a:latin typeface="Courier New"/>
                <a:ea typeface="Courier New"/>
                <a:cs typeface="Courier New"/>
              </a:rPr>
              <a:t>Male 161</a:t>
            </a:r>
            <a:endParaRPr sz="1800"/>
          </a:p>
        </p:txBody>
      </p:sp>
      <p:sp>
        <p:nvSpPr>
          <p:cNvPr id="40" name="Text 38">
            <a:extLst xmlns:a="http://schemas.openxmlformats.org/drawingml/2006/main">
              <a:ext uri="{FF2B5EF4-FFF2-40B4-BE49-F238E27FC236}">
                <a16:creationId xmlns:a16="http://schemas.microsoft.com/office/drawing/2014/main" id="{0A07EDCF-4A38-4D2C-ABB9-7717BA5C7273}"/>
              </a:ext>
            </a:extLst>
          </p:cNvPr>
          <p:cNvSpPr>
            <a:spLocks xmlns:a="http://schemas.openxmlformats.org/drawingml/2006/main" noGrp="1"/>
          </p:cNvSpPr>
          <p:nvPr/>
        </p:nvSpPr>
        <p:spPr>
          <a:xfrm xmlns:a="http://schemas.openxmlformats.org/drawingml/2006/main">
            <a:off x="7607722" y="6030218"/>
            <a:ext cx="2620357" cy="4143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250">
                <a:solidFill>
                  <a:srgbClr val="202C35"/>
                </a:solidFill>
                <a:latin typeface="Arial"/>
                <a:ea typeface="Arial"/>
                <a:cs typeface="Arial"/>
              </a:rPr>
              <a:t>Clutch completion</a:t>
            </a:r>
            <a:endParaRPr sz="2250"/>
          </a:p>
        </p:txBody>
      </p:sp>
      <p:sp>
        <p:nvSpPr>
          <p:cNvPr id="41" name="Text 39">
            <a:extLst xmlns:a="http://schemas.openxmlformats.org/drawingml/2006/main">
              <a:ext uri="{FF2B5EF4-FFF2-40B4-BE49-F238E27FC236}">
                <a16:creationId xmlns:a16="http://schemas.microsoft.com/office/drawing/2014/main" id="{77CF9783-9663-41A0-914E-66F1AAC93C62}"/>
              </a:ext>
            </a:extLst>
          </p:cNvPr>
          <p:cNvSpPr>
            <a:spLocks xmlns:a="http://schemas.openxmlformats.org/drawingml/2006/main" noGrp="1"/>
          </p:cNvSpPr>
          <p:nvPr/>
        </p:nvSpPr>
        <p:spPr>
          <a:xfrm xmlns:a="http://schemas.openxmlformats.org/drawingml/2006/main">
            <a:off x="15377145" y="6054030"/>
            <a:ext cx="21122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516674"/>
                </a:solidFill>
                <a:latin typeface="Courier New"/>
                <a:ea typeface="Courier New"/>
                <a:cs typeface="Courier New"/>
              </a:rPr>
              <a:t>324 penguins</a:t>
            </a:r>
            <a:endParaRPr sz="2100"/>
          </a:p>
        </p:txBody>
      </p:sp>
      <p:sp>
        <p:nvSpPr>
          <p:cNvPr id="42" name="Shape 40">
            <a:extLst xmlns:a="http://schemas.openxmlformats.org/drawingml/2006/main">
              <a:ext uri="{FF2B5EF4-FFF2-40B4-BE49-F238E27FC236}">
                <a16:creationId xmlns:a16="http://schemas.microsoft.com/office/drawing/2014/main" id="{9FBE9D1D-B97E-4A95-80E8-50508BECAAE3}"/>
              </a:ext>
            </a:extLst>
          </p:cNvPr>
          <p:cNvSpPr>
            <a:spLocks xmlns:a="http://schemas.openxmlformats.org/drawingml/2006/main" noGrp="1"/>
          </p:cNvSpPr>
          <p:nvPr/>
        </p:nvSpPr>
        <p:spPr>
          <a:xfrm xmlns:a="http://schemas.openxmlformats.org/drawingml/2006/main">
            <a:off x="7607722" y="6501705"/>
            <a:ext cx="8638729" cy="32385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143FD72A-3B02-40B7-807C-BCB76CA349FD}"/>
              </a:ext>
            </a:extLst>
          </p:cNvPr>
          <p:cNvSpPr>
            <a:spLocks xmlns:a="http://schemas.openxmlformats.org/drawingml/2006/main" noGrp="1"/>
          </p:cNvSpPr>
          <p:nvPr/>
        </p:nvSpPr>
        <p:spPr>
          <a:xfrm xmlns:a="http://schemas.openxmlformats.org/drawingml/2006/main">
            <a:off x="7741072" y="6515993"/>
            <a:ext cx="1961421"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F8F6F2"/>
                </a:solidFill>
                <a:latin typeface="Courier New"/>
                <a:ea typeface="Courier New"/>
                <a:cs typeface="Courier New"/>
              </a:rPr>
              <a:t>Completed 290</a:t>
            </a:r>
            <a:endParaRPr sz="1800"/>
          </a:p>
        </p:txBody>
      </p:sp>
      <p:sp>
        <p:nvSpPr>
          <p:cNvPr id="44" name="Shape 42">
            <a:extLst xmlns:a="http://schemas.openxmlformats.org/drawingml/2006/main">
              <a:ext uri="{FF2B5EF4-FFF2-40B4-BE49-F238E27FC236}">
                <a16:creationId xmlns:a16="http://schemas.microsoft.com/office/drawing/2014/main" id="{3EB50E28-4F8B-4009-B1EB-12AA46F63C0C}"/>
              </a:ext>
            </a:extLst>
          </p:cNvPr>
          <p:cNvSpPr>
            <a:spLocks xmlns:a="http://schemas.openxmlformats.org/drawingml/2006/main" noGrp="1"/>
          </p:cNvSpPr>
          <p:nvPr/>
        </p:nvSpPr>
        <p:spPr>
          <a:xfrm xmlns:a="http://schemas.openxmlformats.org/drawingml/2006/main">
            <a:off x="16284550" y="6501705"/>
            <a:ext cx="1012850" cy="323850"/>
          </a:xfrm>
          <a:prstGeom xmlns:a="http://schemas.openxmlformats.org/drawingml/2006/main" prst="rect">
            <a:avLst/>
          </a:prstGeom>
          <a:solidFill xmlns:a="http://schemas.openxmlformats.org/drawingml/2006/main">
            <a:srgbClr val="C86C5A"/>
          </a:solidFill>
        </p:spPr>
        <p:txBody>
          <a:bodyPr xmlns:a="http://schemas.openxmlformats.org/drawingml/2006/main"/>
          <a:lstStyle xmlns:a="http://schemas.openxmlformats.org/drawingml/2006/main"/>
          <a:p xmlns:a="http://schemas.openxmlformats.org/drawingml/2006/main">
            <a:endParaRPr/>
          </a:p>
        </p:txBody>
      </p:sp>
      <p:sp>
        <p:nvSpPr>
          <p:cNvPr id="45" name="Text 43">
            <a:extLst xmlns:a="http://schemas.openxmlformats.org/drawingml/2006/main">
              <a:ext uri="{FF2B5EF4-FFF2-40B4-BE49-F238E27FC236}">
                <a16:creationId xmlns:a16="http://schemas.microsoft.com/office/drawing/2014/main" id="{575846FD-60A8-43BC-A7D3-20F039E8E4FA}"/>
              </a:ext>
            </a:extLst>
          </p:cNvPr>
          <p:cNvSpPr>
            <a:spLocks xmlns:a="http://schemas.openxmlformats.org/drawingml/2006/main" noGrp="1"/>
          </p:cNvSpPr>
          <p:nvPr/>
        </p:nvSpPr>
        <p:spPr>
          <a:xfrm xmlns:a="http://schemas.openxmlformats.org/drawingml/2006/main">
            <a:off x="16417900" y="6515993"/>
            <a:ext cx="350565" cy="333375"/>
          </a:xfrm>
          <a:prstGeom xmlns:a="http://schemas.openxmlformats.org/drawingml/2006/main" prst="rect">
            <a:avLst/>
          </a:prstGeom>
          <a:noFill xmlns:a="http://schemas.openxmlformats.org/drawingml/2006/main"/>
        </p:spPr>
        <p:txBody>
          <a:bodyPr xmlns:a="http://schemas.openxmlformats.org/drawingml/2006/main" wrap="none" lIns="25400" tIns="25400" rIns="25400" bIns="25400" anchor="t">
            <a:normAutofit/>
          </a:bodyPr>
          <a:lstStyle xmlns:a="http://schemas.openxmlformats.org/drawingml/2006/main"/>
          <a:p xmlns:a="http://schemas.openxmlformats.org/drawingml/2006/main">
            <a:pPr marL="0" indent="0" algn="l">
              <a:buNone/>
            </a:pPr>
            <a:r>
              <a:rPr sz="1800">
                <a:solidFill>
                  <a:srgbClr val="202C35"/>
                </a:solidFill>
                <a:latin typeface="Courier New"/>
                <a:ea typeface="Courier New"/>
                <a:cs typeface="Courier New"/>
              </a:rPr>
              <a:t>34</a:t>
            </a:r>
            <a:endParaRPr sz="1800"/>
          </a:p>
        </p:txBody>
      </p:sp>
      <p:sp>
        <p:nvSpPr>
          <p:cNvPr id="46" name="Text 44">
            <a:extLst xmlns:a="http://schemas.openxmlformats.org/drawingml/2006/main">
              <a:ext uri="{FF2B5EF4-FFF2-40B4-BE49-F238E27FC236}">
                <a16:creationId xmlns:a16="http://schemas.microsoft.com/office/drawing/2014/main" id="{D713167B-9506-4374-A42F-E49E44CE49A7}"/>
              </a:ext>
            </a:extLst>
          </p:cNvPr>
          <p:cNvSpPr>
            <a:spLocks xmlns:a="http://schemas.openxmlformats.org/drawingml/2006/main" noGrp="1"/>
          </p:cNvSpPr>
          <p:nvPr/>
        </p:nvSpPr>
        <p:spPr>
          <a:xfrm xmlns:a="http://schemas.openxmlformats.org/drawingml/2006/main">
            <a:off x="7607722" y="7073205"/>
            <a:ext cx="8829675" cy="1198066"/>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4923"/>
              </a:lnSpc>
              <a:buNone/>
            </a:pPr>
            <a:r>
              <a:rPr sz="2100">
                <a:solidFill>
                  <a:srgbClr val="516674"/>
                </a:solidFill>
                <a:latin typeface="Arial"/>
                <a:ea typeface="Arial"/>
                <a:cs typeface="Arial"/>
              </a:rPr>
              <a:t>Mean body mass is 3703 g for Adelie, 3730 g for Chinstrap and 5091 g for Gentoo. Adelie and Chinstrap are almost indistinguishable on mass alone, which is exactly why the classifier uses shape instead.</a:t>
            </a:r>
            <a:endParaRPr sz="2100"/>
          </a:p>
        </p:txBody>
      </p:sp>
      <p:sp>
        <p:nvSpPr>
          <p:cNvPr id="47" name="Text 45">
            <a:extLst xmlns:a="http://schemas.openxmlformats.org/drawingml/2006/main">
              <a:ext uri="{FF2B5EF4-FFF2-40B4-BE49-F238E27FC236}">
                <a16:creationId xmlns:a16="http://schemas.microsoft.com/office/drawing/2014/main" id="{7C0D7238-F1EC-4AF2-A53C-36131E268DFD}"/>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48" name="Text 46">
            <a:extLst xmlns:a="http://schemas.openxmlformats.org/drawingml/2006/main">
              <a:ext uri="{FF2B5EF4-FFF2-40B4-BE49-F238E27FC236}">
                <a16:creationId xmlns:a16="http://schemas.microsoft.com/office/drawing/2014/main" id="{556B9248-B345-47E9-A8C0-A32346DE4604}"/>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03</a:t>
            </a:r>
            <a:endParaRPr sz="1800"/>
          </a:p>
        </p:txBody>
      </p:sp>
    </p:spTree>
    <p:extLst>
      <p:ext uri="{BB962C8B-B14F-4D97-AF65-F5344CB8AC3E}">
        <p14:creationId xmlns:p14="http://schemas.microsoft.com/office/powerpoint/2010/main" val="1478852018"/>
      </p:ext>
    </p:extLst>
  </p:cSld>
</p:sld>
</file>

<file path=ppt/slides/slide4.xml><?xml version="1.0" encoding="utf-8"?>
<p:sld xmlns:p="http://schemas.openxmlformats.org/presentationml/2006/main">
  <p:cSld>
    <p:bg>
      <p:bgPr>
        <a:solidFill xmlns:a="http://schemas.openxmlformats.org/drawingml/2006/main">
          <a:srgbClr val="B85C4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7AB140-753C-4E27-88A8-C16F7BF49EFE}"/>
              </a:ext>
            </a:extLst>
          </p:cNvPr>
          <p:cNvSpPr>
            <a:spLocks xmlns:a="http://schemas.openxmlformats.org/drawingml/2006/main" noGrp="1"/>
          </p:cNvSpPr>
          <p:nvPr/>
        </p:nvSpPr>
        <p:spPr>
          <a:xfrm xmlns:a="http://schemas.openxmlformats.org/drawingml/2006/main">
            <a:off x="990600" y="1042988"/>
            <a:ext cx="533400" cy="28575"/>
          </a:xfrm>
          <a:prstGeom xmlns:a="http://schemas.openxmlformats.org/drawingml/2006/main" prst="rect">
            <a:avLst/>
          </a:prstGeom>
          <a:solidFill xmlns:a="http://schemas.openxmlformats.org/drawingml/2006/main">
            <a:srgbClr val="F8F6F2"/>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B3F77111-CC66-4426-8241-0896AD85E0C8}"/>
              </a:ext>
            </a:extLst>
          </p:cNvPr>
          <p:cNvSpPr>
            <a:spLocks xmlns:a="http://schemas.openxmlformats.org/drawingml/2006/main" noGrp="1"/>
          </p:cNvSpPr>
          <p:nvPr/>
        </p:nvSpPr>
        <p:spPr>
          <a:xfrm xmlns:a="http://schemas.openxmlformats.org/drawingml/2006/main">
            <a:off x="1714500" y="914400"/>
            <a:ext cx="1798365"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F6DED8"/>
                </a:solidFill>
                <a:latin typeface="Arial"/>
                <a:ea typeface="Arial"/>
                <a:cs typeface="Arial"/>
              </a:rPr>
              <a:t>PART ONE</a:t>
            </a:r>
            <a:endParaRPr sz="1950"/>
          </a:p>
        </p:txBody>
      </p:sp>
      <p:sp>
        <p:nvSpPr>
          <p:cNvPr id="4" name="Text 2">
            <a:extLst xmlns:a="http://schemas.openxmlformats.org/drawingml/2006/main">
              <a:ext uri="{FF2B5EF4-FFF2-40B4-BE49-F238E27FC236}">
                <a16:creationId xmlns:a16="http://schemas.microsoft.com/office/drawing/2014/main" id="{A6652B98-1A27-4F4C-B5A9-7909C9368753}"/>
              </a:ext>
            </a:extLst>
          </p:cNvPr>
          <p:cNvSpPr>
            <a:spLocks xmlns:a="http://schemas.openxmlformats.org/drawingml/2006/main" noGrp="1"/>
          </p:cNvSpPr>
          <p:nvPr/>
        </p:nvSpPr>
        <p:spPr>
          <a:xfrm xmlns:a="http://schemas.openxmlformats.org/drawingml/2006/main">
            <a:off x="990600" y="3770040"/>
            <a:ext cx="17937480" cy="1085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8000"/>
              </a:lnSpc>
              <a:buNone/>
            </a:pPr>
            <a:r>
              <a:rPr sz="8250" spc="-165">
                <a:solidFill>
                  <a:srgbClr val="FFF8F5"/>
                </a:solidFill>
                <a:latin typeface="Georgia"/>
                <a:ea typeface="Georgia"/>
                <a:cs typeface="Georgia"/>
              </a:rPr>
              <a:t>Modelling body mass</a:t>
            </a:r>
            <a:endParaRPr sz="8250"/>
          </a:p>
        </p:txBody>
      </p:sp>
      <p:sp>
        <p:nvSpPr>
          <p:cNvPr id="5" name="Text 3">
            <a:extLst xmlns:a="http://schemas.openxmlformats.org/drawingml/2006/main">
              <a:ext uri="{FF2B5EF4-FFF2-40B4-BE49-F238E27FC236}">
                <a16:creationId xmlns:a16="http://schemas.microsoft.com/office/drawing/2014/main" id="{F317E60E-3F4E-4097-B1C3-A6FF2167711D}"/>
              </a:ext>
            </a:extLst>
          </p:cNvPr>
          <p:cNvSpPr>
            <a:spLocks xmlns:a="http://schemas.openxmlformats.org/drawingml/2006/main" noGrp="1"/>
          </p:cNvSpPr>
          <p:nvPr/>
        </p:nvSpPr>
        <p:spPr>
          <a:xfrm xmlns:a="http://schemas.openxmlformats.org/drawingml/2006/main">
            <a:off x="990600" y="5103540"/>
            <a:ext cx="11772900" cy="105147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2299"/>
              </a:lnSpc>
              <a:buNone/>
            </a:pPr>
            <a:r>
              <a:rPr sz="2850">
                <a:solidFill>
                  <a:srgbClr val="F6DED8"/>
                </a:solidFill>
                <a:latin typeface="Arial"/>
                <a:ea typeface="Arial"/>
                <a:cs typeface="Arial"/>
              </a:rPr>
              <a:t>From the strongest univariate association to a multivariable model, its diagnostics, its simplification and its out-of-sample error.</a:t>
            </a:r>
            <a:endParaRPr sz="2850"/>
          </a:p>
        </p:txBody>
      </p:sp>
      <p:sp>
        <p:nvSpPr>
          <p:cNvPr id="6" name="Text 4">
            <a:extLst xmlns:a="http://schemas.openxmlformats.org/drawingml/2006/main">
              <a:ext uri="{FF2B5EF4-FFF2-40B4-BE49-F238E27FC236}">
                <a16:creationId xmlns:a16="http://schemas.microsoft.com/office/drawing/2014/main" id="{024F6513-7CA2-4D5F-9DC4-632BFE6B4709}"/>
              </a:ext>
            </a:extLst>
          </p:cNvPr>
          <p:cNvSpPr>
            <a:spLocks xmlns:a="http://schemas.openxmlformats.org/drawingml/2006/main" noGrp="1"/>
          </p:cNvSpPr>
          <p:nvPr/>
        </p:nvSpPr>
        <p:spPr>
          <a:xfrm xmlns:a="http://schemas.openxmlformats.org/drawingml/2006/main">
            <a:off x="990600" y="8686800"/>
            <a:ext cx="2185243" cy="7239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05 Correlation</a:t>
            </a:r>
            <a:endParaRPr sz="2100"/>
          </a:p>
        </p:txBody>
      </p:sp>
      <p:sp>
        <p:nvSpPr>
          <p:cNvPr id="7" name="Text 5">
            <a:extLst xmlns:a="http://schemas.openxmlformats.org/drawingml/2006/main">
              <a:ext uri="{FF2B5EF4-FFF2-40B4-BE49-F238E27FC236}">
                <a16:creationId xmlns:a16="http://schemas.microsoft.com/office/drawing/2014/main" id="{E5F213A6-CBFA-4A3D-9CBA-D47F67880AA3}"/>
              </a:ext>
            </a:extLst>
          </p:cNvPr>
          <p:cNvSpPr>
            <a:spLocks xmlns:a="http://schemas.openxmlformats.org/drawingml/2006/main" noGrp="1"/>
          </p:cNvSpPr>
          <p:nvPr/>
        </p:nvSpPr>
        <p:spPr>
          <a:xfrm xmlns:a="http://schemas.openxmlformats.org/drawingml/2006/main">
            <a:off x="3633043" y="8686800"/>
            <a:ext cx="2486620" cy="7239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06 Specification</a:t>
            </a:r>
            <a:endParaRPr sz="2100"/>
          </a:p>
        </p:txBody>
      </p:sp>
      <p:sp>
        <p:nvSpPr>
          <p:cNvPr id="8" name="Text 6">
            <a:extLst xmlns:a="http://schemas.openxmlformats.org/drawingml/2006/main">
              <a:ext uri="{FF2B5EF4-FFF2-40B4-BE49-F238E27FC236}">
                <a16:creationId xmlns:a16="http://schemas.microsoft.com/office/drawing/2014/main" id="{295E022A-83FE-4DD4-B7A3-EA030A5F8B46}"/>
              </a:ext>
            </a:extLst>
          </p:cNvPr>
          <p:cNvSpPr>
            <a:spLocks xmlns:a="http://schemas.openxmlformats.org/drawingml/2006/main" noGrp="1"/>
          </p:cNvSpPr>
          <p:nvPr/>
        </p:nvSpPr>
        <p:spPr>
          <a:xfrm xmlns:a="http://schemas.openxmlformats.org/drawingml/2006/main">
            <a:off x="6576864" y="8686800"/>
            <a:ext cx="980108" cy="7239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07 Fit</a:t>
            </a:r>
            <a:endParaRPr sz="2100"/>
          </a:p>
        </p:txBody>
      </p:sp>
      <p:sp>
        <p:nvSpPr>
          <p:cNvPr id="9" name="Text 7">
            <a:extLst xmlns:a="http://schemas.openxmlformats.org/drawingml/2006/main">
              <a:ext uri="{FF2B5EF4-FFF2-40B4-BE49-F238E27FC236}">
                <a16:creationId xmlns:a16="http://schemas.microsoft.com/office/drawing/2014/main" id="{3874CA97-1D0D-451B-9D37-359307BB76B7}"/>
              </a:ext>
            </a:extLst>
          </p:cNvPr>
          <p:cNvSpPr>
            <a:spLocks xmlns:a="http://schemas.openxmlformats.org/drawingml/2006/main" noGrp="1"/>
          </p:cNvSpPr>
          <p:nvPr/>
        </p:nvSpPr>
        <p:spPr>
          <a:xfrm xmlns:a="http://schemas.openxmlformats.org/drawingml/2006/main">
            <a:off x="8014171" y="8686800"/>
            <a:ext cx="2185318" cy="7239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08 Diagnostics</a:t>
            </a:r>
            <a:endParaRPr sz="2100"/>
          </a:p>
        </p:txBody>
      </p:sp>
      <p:sp>
        <p:nvSpPr>
          <p:cNvPr id="10" name="Text 8">
            <a:extLst xmlns:a="http://schemas.openxmlformats.org/drawingml/2006/main">
              <a:ext uri="{FF2B5EF4-FFF2-40B4-BE49-F238E27FC236}">
                <a16:creationId xmlns:a16="http://schemas.microsoft.com/office/drawing/2014/main" id="{1174E97A-CC40-45D0-8A6B-01D5FB9E3000}"/>
              </a:ext>
            </a:extLst>
          </p:cNvPr>
          <p:cNvSpPr>
            <a:spLocks xmlns:a="http://schemas.openxmlformats.org/drawingml/2006/main" noGrp="1"/>
          </p:cNvSpPr>
          <p:nvPr/>
        </p:nvSpPr>
        <p:spPr>
          <a:xfrm xmlns:a="http://schemas.openxmlformats.org/drawingml/2006/main">
            <a:off x="10656689" y="8686800"/>
            <a:ext cx="1883941" cy="7239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09 Selection</a:t>
            </a:r>
            <a:endParaRPr sz="2100"/>
          </a:p>
        </p:txBody>
      </p:sp>
      <p:sp>
        <p:nvSpPr>
          <p:cNvPr id="11" name="Text 9">
            <a:extLst xmlns:a="http://schemas.openxmlformats.org/drawingml/2006/main">
              <a:ext uri="{FF2B5EF4-FFF2-40B4-BE49-F238E27FC236}">
                <a16:creationId xmlns:a16="http://schemas.microsoft.com/office/drawing/2014/main" id="{DBCBD546-686C-4F94-A5C1-2506787C6150}"/>
              </a:ext>
            </a:extLst>
          </p:cNvPr>
          <p:cNvSpPr>
            <a:spLocks xmlns:a="http://schemas.openxmlformats.org/drawingml/2006/main" noGrp="1"/>
          </p:cNvSpPr>
          <p:nvPr/>
        </p:nvSpPr>
        <p:spPr>
          <a:xfrm xmlns:a="http://schemas.openxmlformats.org/drawingml/2006/main">
            <a:off x="12997830" y="8686800"/>
            <a:ext cx="1883941" cy="7239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10 Intervals</a:t>
            </a:r>
            <a:endParaRPr sz="2100"/>
          </a:p>
        </p:txBody>
      </p:sp>
      <p:sp>
        <p:nvSpPr>
          <p:cNvPr id="12" name="Text 10">
            <a:extLst xmlns:a="http://schemas.openxmlformats.org/drawingml/2006/main">
              <a:ext uri="{FF2B5EF4-FFF2-40B4-BE49-F238E27FC236}">
                <a16:creationId xmlns:a16="http://schemas.microsoft.com/office/drawing/2014/main" id="{A4B74C40-5891-43C1-90A9-8D6804D2134C}"/>
              </a:ext>
            </a:extLst>
          </p:cNvPr>
          <p:cNvSpPr>
            <a:spLocks xmlns:a="http://schemas.openxmlformats.org/drawingml/2006/main" noGrp="1"/>
          </p:cNvSpPr>
          <p:nvPr/>
        </p:nvSpPr>
        <p:spPr>
          <a:xfrm xmlns:a="http://schemas.openxmlformats.org/drawingml/2006/main">
            <a:off x="15338971" y="8686800"/>
            <a:ext cx="2034629" cy="7239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11 Validation</a:t>
            </a:r>
            <a:endParaRPr sz="2100"/>
          </a:p>
        </p:txBody>
      </p:sp>
    </p:spTree>
    <p:extLst>
      <p:ext uri="{BB962C8B-B14F-4D97-AF65-F5344CB8AC3E}">
        <p14:creationId xmlns:p14="http://schemas.microsoft.com/office/powerpoint/2010/main" val="216405644"/>
      </p:ext>
    </p:extLst>
  </p:cSld>
</p:sld>
</file>

<file path=ppt/slides/slide5.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6F0EEC-E04E-4BDA-A2E0-3ED0FC1E7A9A}"/>
              </a:ext>
            </a:extLst>
          </p:cNvPr>
          <p:cNvSpPr>
            <a:spLocks xmlns:a="http://schemas.openxmlformats.org/drawingml/2006/main" noGrp="1"/>
          </p:cNvSpPr>
          <p:nvPr/>
        </p:nvSpPr>
        <p:spPr>
          <a:xfrm xmlns:a="http://schemas.openxmlformats.org/drawingml/2006/main">
            <a:off x="990600" y="766763"/>
            <a:ext cx="4471191"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EXPLORATORY ANALYSIS</a:t>
            </a:r>
            <a:endParaRPr sz="1950"/>
          </a:p>
        </p:txBody>
      </p:sp>
      <p:sp>
        <p:nvSpPr>
          <p:cNvPr id="3" name="Text 1">
            <a:extLst xmlns:a="http://schemas.openxmlformats.org/drawingml/2006/main">
              <a:ext uri="{FF2B5EF4-FFF2-40B4-BE49-F238E27FC236}">
                <a16:creationId xmlns:a16="http://schemas.microsoft.com/office/drawing/2014/main" id="{79A3D1EF-2823-4781-90BD-DA56FB4A359B}"/>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05</a:t>
            </a:r>
            <a:endParaRPr sz="1950"/>
          </a:p>
        </p:txBody>
      </p:sp>
      <p:sp>
        <p:nvSpPr>
          <p:cNvPr id="4" name="Shape 2">
            <a:extLst xmlns:a="http://schemas.openxmlformats.org/drawingml/2006/main">
              <a:ext uri="{FF2B5EF4-FFF2-40B4-BE49-F238E27FC236}">
                <a16:creationId xmlns:a16="http://schemas.microsoft.com/office/drawing/2014/main" id="{A1517AA4-13D6-4C91-8743-B5635AB8E473}"/>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51731F4A-3C75-476F-BE83-5ADEF6432A5D}"/>
              </a:ext>
            </a:extLst>
          </p:cNvPr>
          <p:cNvSpPr>
            <a:spLocks xmlns:a="http://schemas.openxmlformats.org/drawingml/2006/main" noGrp="1"/>
          </p:cNvSpPr>
          <p:nvPr/>
        </p:nvSpPr>
        <p:spPr>
          <a:xfrm xmlns:a="http://schemas.openxmlformats.org/drawingml/2006/main">
            <a:off x="990600" y="1500188"/>
            <a:ext cx="15716250" cy="71697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Flipper length carries most of the univariate signal</a:t>
            </a:r>
            <a:endParaRPr sz="495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f085c3a890f6433f">
            <a:extLst>
              <a:ext uri="{96DAC541-7B7A-43D3-8B79-37D633B846F1}">
                <asvg:svgBlip xmlns:asvg="http://schemas.microsoft.com/office/drawing/2016/SVG/main" r:embed="R3177eed688164558"/>
              </a:ext>
            </a:extLst>
          </a:blip>
          <a:stretch xmlns:a="http://schemas.openxmlformats.org/drawingml/2006/main">
            <a:fillRect l="0" t="0" r="0" b="0"/>
          </a:stretch>
        </p:blipFill>
        <p:spPr>
          <a:xfrm xmlns:a="http://schemas.openxmlformats.org/drawingml/2006/main">
            <a:off x="990600" y="2464817"/>
            <a:ext cx="10186988" cy="615062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060CD93F-AC5B-4A27-8F06-E8C52F43D447}"/>
              </a:ext>
            </a:extLst>
          </p:cNvPr>
          <p:cNvSpPr>
            <a:spLocks xmlns:a="http://schemas.openxmlformats.org/drawingml/2006/main" noGrp="1"/>
          </p:cNvSpPr>
          <p:nvPr/>
        </p:nvSpPr>
        <p:spPr>
          <a:xfrm xmlns:a="http://schemas.openxmlformats.org/drawingml/2006/main">
            <a:off x="2171700" y="8824987"/>
            <a:ext cx="190500" cy="190500"/>
          </a:xfrm>
          <a:prstGeom xmlns:a="http://schemas.openxmlformats.org/drawingml/2006/main" prst="ellipse">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5D94461E-9094-4E41-953A-B115492CCC6D}"/>
              </a:ext>
            </a:extLst>
          </p:cNvPr>
          <p:cNvSpPr>
            <a:spLocks xmlns:a="http://schemas.openxmlformats.org/drawingml/2006/main" noGrp="1"/>
          </p:cNvSpPr>
          <p:nvPr/>
        </p:nvSpPr>
        <p:spPr>
          <a:xfrm xmlns:a="http://schemas.openxmlformats.org/drawingml/2006/main">
            <a:off x="2476500" y="8748787"/>
            <a:ext cx="833958"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Adelie</a:t>
            </a:r>
            <a:endParaRPr sz="2100"/>
          </a:p>
        </p:txBody>
      </p:sp>
      <p:sp>
        <p:nvSpPr>
          <p:cNvPr id="9" name="Shape 6">
            <a:extLst xmlns:a="http://schemas.openxmlformats.org/drawingml/2006/main">
              <a:ext uri="{FF2B5EF4-FFF2-40B4-BE49-F238E27FC236}">
                <a16:creationId xmlns:a16="http://schemas.microsoft.com/office/drawing/2014/main" id="{30CA5F71-3B0D-4351-BF45-2E644728AFD4}"/>
              </a:ext>
            </a:extLst>
          </p:cNvPr>
          <p:cNvSpPr>
            <a:spLocks xmlns:a="http://schemas.openxmlformats.org/drawingml/2006/main" noGrp="1"/>
          </p:cNvSpPr>
          <p:nvPr/>
        </p:nvSpPr>
        <p:spPr>
          <a:xfrm xmlns:a="http://schemas.openxmlformats.org/drawingml/2006/main">
            <a:off x="3615258" y="8824987"/>
            <a:ext cx="190500" cy="190500"/>
          </a:xfrm>
          <a:prstGeom xmlns:a="http://schemas.openxmlformats.org/drawingml/2006/main" prst="ellipse">
            <a:avLst/>
          </a:prstGeom>
          <a:solidFill xmlns:a="http://schemas.openxmlformats.org/drawingml/2006/main">
            <a:srgbClr val="C86C5A"/>
          </a:solidFill>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90618FF5-FC7B-40DE-95B5-66DAB1401DDE}"/>
              </a:ext>
            </a:extLst>
          </p:cNvPr>
          <p:cNvSpPr>
            <a:spLocks xmlns:a="http://schemas.openxmlformats.org/drawingml/2006/main" noGrp="1"/>
          </p:cNvSpPr>
          <p:nvPr/>
        </p:nvSpPr>
        <p:spPr>
          <a:xfrm xmlns:a="http://schemas.openxmlformats.org/drawingml/2006/main">
            <a:off x="3920058" y="8748787"/>
            <a:ext cx="122701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Chinstrap</a:t>
            </a:r>
            <a:endParaRPr sz="2100"/>
          </a:p>
        </p:txBody>
      </p:sp>
      <p:sp>
        <p:nvSpPr>
          <p:cNvPr id="11" name="Shape 8">
            <a:extLst xmlns:a="http://schemas.openxmlformats.org/drawingml/2006/main">
              <a:ext uri="{FF2B5EF4-FFF2-40B4-BE49-F238E27FC236}">
                <a16:creationId xmlns:a16="http://schemas.microsoft.com/office/drawing/2014/main" id="{0C27A072-1CF0-47F8-8498-E2FE49EC98BF}"/>
              </a:ext>
            </a:extLst>
          </p:cNvPr>
          <p:cNvSpPr>
            <a:spLocks xmlns:a="http://schemas.openxmlformats.org/drawingml/2006/main" noGrp="1"/>
          </p:cNvSpPr>
          <p:nvPr/>
        </p:nvSpPr>
        <p:spPr>
          <a:xfrm xmlns:a="http://schemas.openxmlformats.org/drawingml/2006/main">
            <a:off x="5451872" y="8824987"/>
            <a:ext cx="190500" cy="190500"/>
          </a:xfrm>
          <a:prstGeom xmlns:a="http://schemas.openxmlformats.org/drawingml/2006/main" prst="ellipse">
            <a:avLst/>
          </a:prstGeom>
          <a:solidFill xmlns:a="http://schemas.openxmlformats.org/drawingml/2006/main">
            <a:srgbClr val="8FA0AA"/>
          </a:solidFill>
        </p:spPr>
        <p:txBody>
          <a:bodyPr xmlns:a="http://schemas.openxmlformats.org/drawingml/2006/main"/>
          <a:lstStyle xmlns:a="http://schemas.openxmlformats.org/drawingml/2006/main"/>
          <a:p xmlns:a="http://schemas.openxmlformats.org/drawingml/2006/main">
            <a:endParaRPr/>
          </a:p>
        </p:txBody>
      </p:sp>
      <p:sp>
        <p:nvSpPr>
          <p:cNvPr id="12" name="Text 9">
            <a:extLst xmlns:a="http://schemas.openxmlformats.org/drawingml/2006/main">
              <a:ext uri="{FF2B5EF4-FFF2-40B4-BE49-F238E27FC236}">
                <a16:creationId xmlns:a16="http://schemas.microsoft.com/office/drawing/2014/main" id="{F5848A39-1CE2-438F-A5ED-19D5D06BBB35}"/>
              </a:ext>
            </a:extLst>
          </p:cNvPr>
          <p:cNvSpPr>
            <a:spLocks xmlns:a="http://schemas.openxmlformats.org/drawingml/2006/main" noGrp="1"/>
          </p:cNvSpPr>
          <p:nvPr/>
        </p:nvSpPr>
        <p:spPr>
          <a:xfrm xmlns:a="http://schemas.openxmlformats.org/drawingml/2006/main">
            <a:off x="5756672" y="8748787"/>
            <a:ext cx="95071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Gentoo</a:t>
            </a:r>
            <a:endParaRPr sz="2100"/>
          </a:p>
        </p:txBody>
      </p:sp>
      <p:sp>
        <p:nvSpPr>
          <p:cNvPr id="13" name="Shape 10">
            <a:extLst xmlns:a="http://schemas.openxmlformats.org/drawingml/2006/main">
              <a:ext uri="{FF2B5EF4-FFF2-40B4-BE49-F238E27FC236}">
                <a16:creationId xmlns:a16="http://schemas.microsoft.com/office/drawing/2014/main" id="{9C5C3626-99AC-467C-BFDE-1EE68C7F1669}"/>
              </a:ext>
            </a:extLst>
          </p:cNvPr>
          <p:cNvSpPr>
            <a:spLocks xmlns:a="http://schemas.openxmlformats.org/drawingml/2006/main" noGrp="1"/>
          </p:cNvSpPr>
          <p:nvPr/>
        </p:nvSpPr>
        <p:spPr>
          <a:xfrm xmlns:a="http://schemas.openxmlformats.org/drawingml/2006/main">
            <a:off x="11710988" y="2464817"/>
            <a:ext cx="5586413" cy="2583135"/>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08AE2A91-06E3-48F2-B870-1B3F23FACE42}"/>
              </a:ext>
            </a:extLst>
          </p:cNvPr>
          <p:cNvSpPr>
            <a:spLocks xmlns:a="http://schemas.openxmlformats.org/drawingml/2006/main" noGrp="1"/>
          </p:cNvSpPr>
          <p:nvPr/>
        </p:nvSpPr>
        <p:spPr>
          <a:xfrm xmlns:a="http://schemas.openxmlformats.org/drawingml/2006/main">
            <a:off x="12053888" y="2788667"/>
            <a:ext cx="5390674" cy="104961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79254"/>
              </a:lnSpc>
              <a:buNone/>
            </a:pPr>
            <a:r>
              <a:rPr sz="8850">
                <a:solidFill>
                  <a:srgbClr val="C86C5A"/>
                </a:solidFill>
                <a:latin typeface="Georgia"/>
                <a:ea typeface="Georgia"/>
                <a:cs typeface="Georgia"/>
              </a:rPr>
              <a:t>0.88</a:t>
            </a:r>
            <a:endParaRPr sz="8850"/>
          </a:p>
        </p:txBody>
      </p:sp>
      <p:sp>
        <p:nvSpPr>
          <p:cNvPr id="15" name="Text 12">
            <a:extLst xmlns:a="http://schemas.openxmlformats.org/drawingml/2006/main">
              <a:ext uri="{FF2B5EF4-FFF2-40B4-BE49-F238E27FC236}">
                <a16:creationId xmlns:a16="http://schemas.microsoft.com/office/drawing/2014/main" id="{7ACAFAB8-6F8D-4174-B535-5BE523C5581C}"/>
              </a:ext>
            </a:extLst>
          </p:cNvPr>
          <p:cNvSpPr>
            <a:spLocks xmlns:a="http://schemas.openxmlformats.org/drawingml/2006/main" noGrp="1"/>
          </p:cNvSpPr>
          <p:nvPr/>
        </p:nvSpPr>
        <p:spPr>
          <a:xfrm xmlns:a="http://schemas.openxmlformats.org/drawingml/2006/main">
            <a:off x="12053888" y="3952577"/>
            <a:ext cx="5047631" cy="8096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17391"/>
              </a:lnSpc>
              <a:buNone/>
            </a:pPr>
            <a:r>
              <a:rPr sz="2250">
                <a:solidFill>
                  <a:srgbClr val="202C35"/>
                </a:solidFill>
                <a:latin typeface="Arial"/>
                <a:ea typeface="Arial"/>
                <a:cs typeface="Arial"/>
              </a:rPr>
              <a:t>Pearson correlation between flipper length and body mass, n = 324</a:t>
            </a:r>
            <a:endParaRPr sz="2250"/>
          </a:p>
        </p:txBody>
      </p:sp>
      <p:sp>
        <p:nvSpPr>
          <p:cNvPr id="16" name="Shape 13">
            <a:extLst xmlns:a="http://schemas.openxmlformats.org/drawingml/2006/main">
              <a:ext uri="{FF2B5EF4-FFF2-40B4-BE49-F238E27FC236}">
                <a16:creationId xmlns:a16="http://schemas.microsoft.com/office/drawing/2014/main" id="{B5565E53-8938-4837-BE12-3767D4A71F60}"/>
              </a:ext>
            </a:extLst>
          </p:cNvPr>
          <p:cNvSpPr>
            <a:spLocks xmlns:a="http://schemas.openxmlformats.org/drawingml/2006/main" noGrp="1"/>
          </p:cNvSpPr>
          <p:nvPr/>
        </p:nvSpPr>
        <p:spPr>
          <a:xfrm xmlns:a="http://schemas.openxmlformats.org/drawingml/2006/main">
            <a:off x="11710988" y="5733752"/>
            <a:ext cx="5586413"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E358EBED-9AF5-47F7-884C-D1810850F733}"/>
              </a:ext>
            </a:extLst>
          </p:cNvPr>
          <p:cNvSpPr>
            <a:spLocks xmlns:a="http://schemas.openxmlformats.org/drawingml/2006/main" noGrp="1"/>
          </p:cNvSpPr>
          <p:nvPr/>
        </p:nvSpPr>
        <p:spPr>
          <a:xfrm xmlns:a="http://schemas.openxmlformats.org/drawingml/2006/main">
            <a:off x="11710988" y="6162377"/>
            <a:ext cx="5586413"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9B12990-FF10-4FFB-BD2B-E633ADA431D5}"/>
              </a:ext>
            </a:extLst>
          </p:cNvPr>
          <p:cNvSpPr>
            <a:spLocks xmlns:a="http://schemas.openxmlformats.org/drawingml/2006/main" noGrp="1"/>
          </p:cNvSpPr>
          <p:nvPr/>
        </p:nvSpPr>
        <p:spPr>
          <a:xfrm xmlns:a="http://schemas.openxmlformats.org/drawingml/2006/main">
            <a:off x="11710988" y="6591002"/>
            <a:ext cx="5586413"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397B43D3-D771-4CCF-81B7-2FCF059D56F6}"/>
              </a:ext>
            </a:extLst>
          </p:cNvPr>
          <p:cNvSpPr>
            <a:spLocks xmlns:a="http://schemas.openxmlformats.org/drawingml/2006/main" noGrp="1"/>
          </p:cNvSpPr>
          <p:nvPr/>
        </p:nvSpPr>
        <p:spPr>
          <a:xfrm xmlns:a="http://schemas.openxmlformats.org/drawingml/2006/main">
            <a:off x="11710988" y="6814542"/>
            <a:ext cx="5754005" cy="235803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4923"/>
              </a:lnSpc>
              <a:buNone/>
            </a:pPr>
            <a:r>
              <a:rPr sz="2100">
                <a:solidFill>
                  <a:srgbClr val="516674"/>
                </a:solidFill>
                <a:latin typeface="Arial"/>
                <a:ea typeface="Arial"/>
                <a:cs typeface="Arial"/>
              </a:rPr>
              <a:t>The negative bill-depth correlation is a between-species effect, not a biological rule: Gentoo are the heaviest birds and also the shallowest-billed. Pooled correlations therefore cannot be read as within-species relationships.</a:t>
            </a:r>
            <a:endParaRPr sz="2100"/>
          </a:p>
        </p:txBody>
      </p:sp>
      <p:sp>
        <p:nvSpPr>
          <p:cNvPr id="20" name="Text 17">
            <a:extLst xmlns:a="http://schemas.openxmlformats.org/drawingml/2006/main">
              <a:ext uri="{FF2B5EF4-FFF2-40B4-BE49-F238E27FC236}">
                <a16:creationId xmlns:a16="http://schemas.microsoft.com/office/drawing/2014/main" id="{47C91A20-8B24-470C-8DBC-42F89CFD566A}"/>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21" name="Text 18">
            <a:extLst xmlns:a="http://schemas.openxmlformats.org/drawingml/2006/main">
              <a:ext uri="{FF2B5EF4-FFF2-40B4-BE49-F238E27FC236}">
                <a16:creationId xmlns:a16="http://schemas.microsoft.com/office/drawing/2014/main" id="{7AC892C1-6E81-49FD-A324-CBA146AB4A05}"/>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05</a:t>
            </a:r>
            <a:endParaRPr sz="1800"/>
          </a:p>
        </p:txBody>
      </p:sp>
    </p:spTree>
    <p:extLst>
      <p:ext uri="{BB962C8B-B14F-4D97-AF65-F5344CB8AC3E}">
        <p14:creationId xmlns:p14="http://schemas.microsoft.com/office/powerpoint/2010/main" val="1742899557"/>
      </p:ext>
    </p:extLst>
  </p:cSld>
</p:sld>
</file>

<file path=ppt/slides/slide6.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ED39A7-23EE-4605-87B3-0839F12E1363}"/>
              </a:ext>
            </a:extLst>
          </p:cNvPr>
          <p:cNvSpPr>
            <a:spLocks xmlns:a="http://schemas.openxmlformats.org/drawingml/2006/main" noGrp="1"/>
          </p:cNvSpPr>
          <p:nvPr/>
        </p:nvSpPr>
        <p:spPr>
          <a:xfrm xmlns:a="http://schemas.openxmlformats.org/drawingml/2006/main">
            <a:off x="990600" y="766763"/>
            <a:ext cx="2682322"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LINEAR MODEL</a:t>
            </a:r>
            <a:endParaRPr sz="1950"/>
          </a:p>
        </p:txBody>
      </p:sp>
      <p:sp>
        <p:nvSpPr>
          <p:cNvPr id="3" name="Text 1">
            <a:extLst xmlns:a="http://schemas.openxmlformats.org/drawingml/2006/main">
              <a:ext uri="{FF2B5EF4-FFF2-40B4-BE49-F238E27FC236}">
                <a16:creationId xmlns:a16="http://schemas.microsoft.com/office/drawing/2014/main" id="{8C2432D0-C3DD-4E9C-A232-FD48AF90AAC4}"/>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06</a:t>
            </a:r>
            <a:endParaRPr sz="1950"/>
          </a:p>
        </p:txBody>
      </p:sp>
      <p:sp>
        <p:nvSpPr>
          <p:cNvPr id="4" name="Shape 2">
            <a:extLst xmlns:a="http://schemas.openxmlformats.org/drawingml/2006/main">
              <a:ext uri="{FF2B5EF4-FFF2-40B4-BE49-F238E27FC236}">
                <a16:creationId xmlns:a16="http://schemas.microsoft.com/office/drawing/2014/main" id="{E3EDAE26-612C-49FC-BC27-B3150FBCF2AB}"/>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81354623-0250-482B-9A08-6F5513B11B02}"/>
              </a:ext>
            </a:extLst>
          </p:cNvPr>
          <p:cNvSpPr>
            <a:spLocks xmlns:a="http://schemas.openxmlformats.org/drawingml/2006/main" noGrp="1"/>
          </p:cNvSpPr>
          <p:nvPr/>
        </p:nvSpPr>
        <p:spPr>
          <a:xfrm xmlns:a="http://schemas.openxmlformats.org/drawingml/2006/main">
            <a:off x="990600" y="1500188"/>
            <a:ext cx="17937480" cy="71697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Multivariable body-mass model</a:t>
            </a:r>
            <a:endParaRPr sz="4950"/>
          </a:p>
        </p:txBody>
      </p:sp>
      <p:sp>
        <p:nvSpPr>
          <p:cNvPr id="6" name="Shape 4">
            <a:extLst xmlns:a="http://schemas.openxmlformats.org/drawingml/2006/main">
              <a:ext uri="{FF2B5EF4-FFF2-40B4-BE49-F238E27FC236}">
                <a16:creationId xmlns:a16="http://schemas.microsoft.com/office/drawing/2014/main" id="{EAAAB95C-0239-4B3F-9C95-22A8153AF49F}"/>
              </a:ext>
            </a:extLst>
          </p:cNvPr>
          <p:cNvSpPr>
            <a:spLocks xmlns:a="http://schemas.openxmlformats.org/drawingml/2006/main" noGrp="1"/>
          </p:cNvSpPr>
          <p:nvPr/>
        </p:nvSpPr>
        <p:spPr>
          <a:xfrm xmlns:a="http://schemas.openxmlformats.org/drawingml/2006/main">
            <a:off x="990600" y="2464817"/>
            <a:ext cx="6309345" cy="2409825"/>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454C8DB4-E2F5-4C2B-B822-257B5F386F59}"/>
              </a:ext>
            </a:extLst>
          </p:cNvPr>
          <p:cNvSpPr>
            <a:spLocks xmlns:a="http://schemas.openxmlformats.org/drawingml/2006/main" noGrp="1"/>
          </p:cNvSpPr>
          <p:nvPr/>
        </p:nvSpPr>
        <p:spPr>
          <a:xfrm xmlns:a="http://schemas.openxmlformats.org/drawingml/2006/main">
            <a:off x="990600" y="2464817"/>
            <a:ext cx="76200" cy="2409825"/>
          </a:xfrm>
          <a:prstGeom xmlns:a="http://schemas.openxmlformats.org/drawingml/2006/main" prst="rect">
            <a:avLst/>
          </a:prstGeom>
          <a:solidFill xmlns:a="http://schemas.openxmlformats.org/drawingml/2006/main">
            <a:srgbClr val="B85C4A"/>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92CA7F83-C0AE-40AE-8513-7E1D14C07DD4}"/>
              </a:ext>
            </a:extLst>
          </p:cNvPr>
          <p:cNvSpPr>
            <a:spLocks xmlns:a="http://schemas.openxmlformats.org/drawingml/2006/main" noGrp="1"/>
          </p:cNvSpPr>
          <p:nvPr/>
        </p:nvSpPr>
        <p:spPr>
          <a:xfrm xmlns:a="http://schemas.openxmlformats.org/drawingml/2006/main">
            <a:off x="1390650" y="2769617"/>
            <a:ext cx="5774725" cy="1838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54918"/>
              </a:lnSpc>
              <a:buNone/>
            </a:pPr>
            <a:r>
              <a:rPr sz="2025">
                <a:solidFill>
                  <a:srgbClr val="202C35"/>
                </a:solidFill>
                <a:highlight>
                  <a:srgbClr val="F6EAE6"/>
                </a:highlight>
                <a:latin typeface="Courier New"/>
                <a:ea typeface="Courier New"/>
                <a:cs typeface="Courier New"/>
              </a:rPr>
              <a:t>body mass ~ species + island + clutch completion + bill length + bill depth + flipper length + sex</a:t>
            </a:r>
            <a:endParaRPr sz="2025"/>
          </a:p>
        </p:txBody>
      </p:sp>
      <p:sp>
        <p:nvSpPr>
          <p:cNvPr id="9" name="Text 7">
            <a:extLst xmlns:a="http://schemas.openxmlformats.org/drawingml/2006/main">
              <a:ext uri="{FF2B5EF4-FFF2-40B4-BE49-F238E27FC236}">
                <a16:creationId xmlns:a16="http://schemas.microsoft.com/office/drawing/2014/main" id="{FFE61624-451F-4AD1-A1B1-5579FCF45130}"/>
              </a:ext>
            </a:extLst>
          </p:cNvPr>
          <p:cNvSpPr>
            <a:spLocks xmlns:a="http://schemas.openxmlformats.org/drawingml/2006/main" noGrp="1"/>
          </p:cNvSpPr>
          <p:nvPr/>
        </p:nvSpPr>
        <p:spPr>
          <a:xfrm xmlns:a="http://schemas.openxmlformats.org/drawingml/2006/main">
            <a:off x="990600" y="5122292"/>
            <a:ext cx="694028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C86C5A"/>
                </a:solidFill>
                <a:latin typeface="Arial"/>
                <a:ea typeface="Arial"/>
                <a:cs typeface="Arial"/>
              </a:rPr>
              <a:t>REFERENCE LEVELS</a:t>
            </a:r>
            <a:endParaRPr sz="1800"/>
          </a:p>
        </p:txBody>
      </p:sp>
      <p:sp>
        <p:nvSpPr>
          <p:cNvPr id="10" name="Text 8">
            <a:extLst xmlns:a="http://schemas.openxmlformats.org/drawingml/2006/main">
              <a:ext uri="{FF2B5EF4-FFF2-40B4-BE49-F238E27FC236}">
                <a16:creationId xmlns:a16="http://schemas.microsoft.com/office/drawing/2014/main" id="{72472E57-DB81-4F4A-B9C6-B8E4358C0E1C}"/>
              </a:ext>
            </a:extLst>
          </p:cNvPr>
          <p:cNvSpPr>
            <a:spLocks xmlns:a="http://schemas.openxmlformats.org/drawingml/2006/main" noGrp="1"/>
          </p:cNvSpPr>
          <p:nvPr/>
        </p:nvSpPr>
        <p:spPr>
          <a:xfrm xmlns:a="http://schemas.openxmlformats.org/drawingml/2006/main">
            <a:off x="990600" y="5517579"/>
            <a:ext cx="6940280" cy="4667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30435"/>
              </a:lnSpc>
              <a:buNone/>
            </a:pPr>
            <a:r>
              <a:rPr sz="2250">
                <a:solidFill>
                  <a:srgbClr val="202C35"/>
                </a:solidFill>
                <a:latin typeface="Arial"/>
                <a:ea typeface="Arial"/>
                <a:cs typeface="Arial"/>
              </a:rPr>
              <a:t>Adelie · Biscoe · clutch not completed · female</a:t>
            </a:r>
            <a:endParaRPr sz="2250"/>
          </a:p>
        </p:txBody>
      </p:sp>
      <p:sp>
        <p:nvSpPr>
          <p:cNvPr id="11" name="Shape 9">
            <a:extLst xmlns:a="http://schemas.openxmlformats.org/drawingml/2006/main">
              <a:ext uri="{FF2B5EF4-FFF2-40B4-BE49-F238E27FC236}">
                <a16:creationId xmlns:a16="http://schemas.microsoft.com/office/drawing/2014/main" id="{F3935795-40B1-424D-92CD-6F3342EE5F25}"/>
              </a:ext>
            </a:extLst>
          </p:cNvPr>
          <p:cNvSpPr>
            <a:spLocks xmlns:a="http://schemas.openxmlformats.org/drawingml/2006/main" noGrp="1"/>
          </p:cNvSpPr>
          <p:nvPr/>
        </p:nvSpPr>
        <p:spPr>
          <a:xfrm xmlns:a="http://schemas.openxmlformats.org/drawingml/2006/main">
            <a:off x="990600" y="6193854"/>
            <a:ext cx="6309345"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4B18C111-C3F2-4071-BB7D-C22ADAA34045}"/>
              </a:ext>
            </a:extLst>
          </p:cNvPr>
          <p:cNvSpPr>
            <a:spLocks xmlns:a="http://schemas.openxmlformats.org/drawingml/2006/main" noGrp="1"/>
          </p:cNvSpPr>
          <p:nvPr/>
        </p:nvSpPr>
        <p:spPr>
          <a:xfrm xmlns:a="http://schemas.openxmlformats.org/drawingml/2006/main">
            <a:off x="990600" y="6441504"/>
            <a:ext cx="694028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C86C5A"/>
                </a:solidFill>
                <a:latin typeface="Arial"/>
                <a:ea typeface="Arial"/>
                <a:cs typeface="Arial"/>
              </a:rPr>
              <a:t>CONTINUOUS SLOPES, GRAMS PER MM</a:t>
            </a:r>
            <a:endParaRPr sz="1800"/>
          </a:p>
        </p:txBody>
      </p:sp>
      <p:sp>
        <p:nvSpPr>
          <p:cNvPr id="13" name="Shape 11">
            <a:extLst xmlns:a="http://schemas.openxmlformats.org/drawingml/2006/main">
              <a:ext uri="{FF2B5EF4-FFF2-40B4-BE49-F238E27FC236}">
                <a16:creationId xmlns:a16="http://schemas.microsoft.com/office/drawing/2014/main" id="{020A5E11-9F5B-4295-9576-A3C5D59F8BF2}"/>
              </a:ext>
            </a:extLst>
          </p:cNvPr>
          <p:cNvSpPr>
            <a:spLocks xmlns:a="http://schemas.openxmlformats.org/drawingml/2006/main" noGrp="1"/>
          </p:cNvSpPr>
          <p:nvPr/>
        </p:nvSpPr>
        <p:spPr>
          <a:xfrm xmlns:a="http://schemas.openxmlformats.org/drawingml/2006/main">
            <a:off x="990600" y="7308279"/>
            <a:ext cx="6309345"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906BDB5B-EFE3-41D0-B898-B2387293AC38}"/>
              </a:ext>
            </a:extLst>
          </p:cNvPr>
          <p:cNvSpPr>
            <a:spLocks xmlns:a="http://schemas.openxmlformats.org/drawingml/2006/main" noGrp="1"/>
          </p:cNvSpPr>
          <p:nvPr/>
        </p:nvSpPr>
        <p:spPr>
          <a:xfrm xmlns:a="http://schemas.openxmlformats.org/drawingml/2006/main">
            <a:off x="990600" y="6836792"/>
            <a:ext cx="1892744"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Flipper length</a:t>
            </a:r>
            <a:endParaRPr sz="2175"/>
          </a:p>
        </p:txBody>
      </p:sp>
      <p:sp>
        <p:nvSpPr>
          <p:cNvPr id="15" name="Text 13">
            <a:extLst xmlns:a="http://schemas.openxmlformats.org/drawingml/2006/main">
              <a:ext uri="{FF2B5EF4-FFF2-40B4-BE49-F238E27FC236}">
                <a16:creationId xmlns:a16="http://schemas.microsoft.com/office/drawing/2014/main" id="{3E4D8A2A-E3C8-4B5D-9B97-903DDA6AA9C1}"/>
              </a:ext>
            </a:extLst>
          </p:cNvPr>
          <p:cNvSpPr>
            <a:spLocks xmlns:a="http://schemas.openxmlformats.org/drawingml/2006/main" noGrp="1"/>
          </p:cNvSpPr>
          <p:nvPr/>
        </p:nvSpPr>
        <p:spPr>
          <a:xfrm xmlns:a="http://schemas.openxmlformats.org/drawingml/2006/main">
            <a:off x="4316685" y="6836792"/>
            <a:ext cx="3281586"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+16.0 [10.1, 21.8]</a:t>
            </a:r>
            <a:endParaRPr sz="2175"/>
          </a:p>
        </p:txBody>
      </p:sp>
      <p:sp>
        <p:nvSpPr>
          <p:cNvPr id="16" name="Shape 14">
            <a:extLst xmlns:a="http://schemas.openxmlformats.org/drawingml/2006/main">
              <a:ext uri="{FF2B5EF4-FFF2-40B4-BE49-F238E27FC236}">
                <a16:creationId xmlns:a16="http://schemas.microsoft.com/office/drawing/2014/main" id="{2BB8FAA6-EB1B-4788-945B-17EA67C7088E}"/>
              </a:ext>
            </a:extLst>
          </p:cNvPr>
          <p:cNvSpPr>
            <a:spLocks xmlns:a="http://schemas.openxmlformats.org/drawingml/2006/main" noGrp="1"/>
          </p:cNvSpPr>
          <p:nvPr/>
        </p:nvSpPr>
        <p:spPr>
          <a:xfrm xmlns:a="http://schemas.openxmlformats.org/drawingml/2006/main">
            <a:off x="990600" y="7922642"/>
            <a:ext cx="6309345"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1798289A-0D15-4176-A644-525FEB28AE52}"/>
              </a:ext>
            </a:extLst>
          </p:cNvPr>
          <p:cNvSpPr>
            <a:spLocks xmlns:a="http://schemas.openxmlformats.org/drawingml/2006/main" noGrp="1"/>
          </p:cNvSpPr>
          <p:nvPr/>
        </p:nvSpPr>
        <p:spPr>
          <a:xfrm xmlns:a="http://schemas.openxmlformats.org/drawingml/2006/main">
            <a:off x="990600" y="7451154"/>
            <a:ext cx="1263997"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Bill depth</a:t>
            </a:r>
            <a:endParaRPr sz="2175"/>
          </a:p>
        </p:txBody>
      </p:sp>
      <p:sp>
        <p:nvSpPr>
          <p:cNvPr id="18" name="Text 16">
            <a:extLst xmlns:a="http://schemas.openxmlformats.org/drawingml/2006/main">
              <a:ext uri="{FF2B5EF4-FFF2-40B4-BE49-F238E27FC236}">
                <a16:creationId xmlns:a16="http://schemas.microsoft.com/office/drawing/2014/main" id="{3712B93C-62F1-448A-9B46-FB30EC2A28F5}"/>
              </a:ext>
            </a:extLst>
          </p:cNvPr>
          <p:cNvSpPr>
            <a:spLocks xmlns:a="http://schemas.openxmlformats.org/drawingml/2006/main" noGrp="1"/>
          </p:cNvSpPr>
          <p:nvPr/>
        </p:nvSpPr>
        <p:spPr>
          <a:xfrm xmlns:a="http://schemas.openxmlformats.org/drawingml/2006/main">
            <a:off x="4150965" y="7451154"/>
            <a:ext cx="3463878"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+69.3 [30.3, 108.3]</a:t>
            </a:r>
            <a:endParaRPr sz="2175"/>
          </a:p>
        </p:txBody>
      </p:sp>
      <p:sp>
        <p:nvSpPr>
          <p:cNvPr id="19" name="Shape 17">
            <a:extLst xmlns:a="http://schemas.openxmlformats.org/drawingml/2006/main">
              <a:ext uri="{FF2B5EF4-FFF2-40B4-BE49-F238E27FC236}">
                <a16:creationId xmlns:a16="http://schemas.microsoft.com/office/drawing/2014/main" id="{E4F60AEE-0B67-4E9D-B854-3C63AEEA885A}"/>
              </a:ext>
            </a:extLst>
          </p:cNvPr>
          <p:cNvSpPr>
            <a:spLocks xmlns:a="http://schemas.openxmlformats.org/drawingml/2006/main" noGrp="1"/>
          </p:cNvSpPr>
          <p:nvPr/>
        </p:nvSpPr>
        <p:spPr>
          <a:xfrm xmlns:a="http://schemas.openxmlformats.org/drawingml/2006/main">
            <a:off x="990600" y="8537004"/>
            <a:ext cx="6309345"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2418ADDB-14A0-4E91-8AA7-FB18A54FF7D6}"/>
              </a:ext>
            </a:extLst>
          </p:cNvPr>
          <p:cNvSpPr>
            <a:spLocks xmlns:a="http://schemas.openxmlformats.org/drawingml/2006/main" noGrp="1"/>
          </p:cNvSpPr>
          <p:nvPr/>
        </p:nvSpPr>
        <p:spPr>
          <a:xfrm xmlns:a="http://schemas.openxmlformats.org/drawingml/2006/main">
            <a:off x="990600" y="8065517"/>
            <a:ext cx="1371570"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Bill length</a:t>
            </a:r>
            <a:endParaRPr sz="2175"/>
          </a:p>
        </p:txBody>
      </p:sp>
      <p:sp>
        <p:nvSpPr>
          <p:cNvPr id="21" name="Text 19">
            <a:extLst xmlns:a="http://schemas.openxmlformats.org/drawingml/2006/main">
              <a:ext uri="{FF2B5EF4-FFF2-40B4-BE49-F238E27FC236}">
                <a16:creationId xmlns:a16="http://schemas.microsoft.com/office/drawing/2014/main" id="{3AAE1BA0-20DB-4867-8B36-75B3B5DF5308}"/>
              </a:ext>
            </a:extLst>
          </p:cNvPr>
          <p:cNvSpPr>
            <a:spLocks xmlns:a="http://schemas.openxmlformats.org/drawingml/2006/main" noGrp="1"/>
          </p:cNvSpPr>
          <p:nvPr/>
        </p:nvSpPr>
        <p:spPr>
          <a:xfrm xmlns:a="http://schemas.openxmlformats.org/drawingml/2006/main">
            <a:off x="4482405" y="8065517"/>
            <a:ext cx="3099294"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+18.9 [4.9, 32.9]</a:t>
            </a:r>
            <a:endParaRPr sz="2175"/>
          </a:p>
        </p:txBody>
      </p:sp>
      <p:sp>
        <p:nvSpPr>
          <p:cNvPr id="22" name="Text 20">
            <a:extLst xmlns:a="http://schemas.openxmlformats.org/drawingml/2006/main">
              <a:ext uri="{FF2B5EF4-FFF2-40B4-BE49-F238E27FC236}">
                <a16:creationId xmlns:a16="http://schemas.microsoft.com/office/drawing/2014/main" id="{0C680569-730E-41F5-8E96-48748043D99A}"/>
              </a:ext>
            </a:extLst>
          </p:cNvPr>
          <p:cNvSpPr>
            <a:spLocks xmlns:a="http://schemas.openxmlformats.org/drawingml/2006/main" noGrp="1"/>
          </p:cNvSpPr>
          <p:nvPr/>
        </p:nvSpPr>
        <p:spPr>
          <a:xfrm xmlns:a="http://schemas.openxmlformats.org/drawingml/2006/main">
            <a:off x="7833345" y="2464817"/>
            <a:ext cx="1041046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Arial"/>
                <a:ea typeface="Arial"/>
                <a:cs typeface="Arial"/>
              </a:rPr>
              <a:t>Categorical contrasts in grams, with 95% intervals</a:t>
            </a:r>
            <a:endParaRPr sz="195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79f9b52e2bb74ee8">
            <a:extLst>
              <a:ext uri="{96DAC541-7B7A-43D3-8B79-37D633B846F1}">
                <asvg:svgBlip xmlns:asvg="http://schemas.microsoft.com/office/drawing/2016/SVG/main" r:embed="R4986f535d0164178"/>
              </a:ext>
            </a:extLst>
          </a:blip>
          <a:stretch xmlns:a="http://schemas.openxmlformats.org/drawingml/2006/main">
            <a:fillRect l="0" t="0" r="0" b="0"/>
          </a:stretch>
        </p:blipFill>
        <p:spPr>
          <a:xfrm xmlns:a="http://schemas.openxmlformats.org/drawingml/2006/main">
            <a:off x="7833345" y="2879154"/>
            <a:ext cx="9464055" cy="529984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4A555771-A6E5-4E0F-8590-DEA52FBB1CBC}"/>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25" name="Text 22">
            <a:extLst xmlns:a="http://schemas.openxmlformats.org/drawingml/2006/main">
              <a:ext uri="{FF2B5EF4-FFF2-40B4-BE49-F238E27FC236}">
                <a16:creationId xmlns:a16="http://schemas.microsoft.com/office/drawing/2014/main" id="{DA1BC7B6-DBD1-4214-9ADF-305546E6ABCA}"/>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06</a:t>
            </a:r>
            <a:endParaRPr sz="1800"/>
          </a:p>
        </p:txBody>
      </p:sp>
    </p:spTree>
    <p:extLst>
      <p:ext uri="{BB962C8B-B14F-4D97-AF65-F5344CB8AC3E}">
        <p14:creationId xmlns:p14="http://schemas.microsoft.com/office/powerpoint/2010/main" val="1887885110"/>
      </p:ext>
    </p:extLst>
  </p:cSld>
</p:sld>
</file>

<file path=ppt/slides/slide7.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CC413A-4654-4F29-A5B0-305C06A44C01}"/>
              </a:ext>
            </a:extLst>
          </p:cNvPr>
          <p:cNvSpPr>
            <a:spLocks xmlns:a="http://schemas.openxmlformats.org/drawingml/2006/main" noGrp="1"/>
          </p:cNvSpPr>
          <p:nvPr/>
        </p:nvSpPr>
        <p:spPr>
          <a:xfrm xmlns:a="http://schemas.openxmlformats.org/drawingml/2006/main">
            <a:off x="990600" y="728663"/>
            <a:ext cx="2682322"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LINEAR MODEL</a:t>
            </a:r>
            <a:endParaRPr sz="1950"/>
          </a:p>
        </p:txBody>
      </p:sp>
      <p:sp>
        <p:nvSpPr>
          <p:cNvPr id="3" name="Text 1">
            <a:extLst xmlns:a="http://schemas.openxmlformats.org/drawingml/2006/main">
              <a:ext uri="{FF2B5EF4-FFF2-40B4-BE49-F238E27FC236}">
                <a16:creationId xmlns:a16="http://schemas.microsoft.com/office/drawing/2014/main" id="{012BFF85-522E-4D6C-91A0-09472D7BB472}"/>
              </a:ext>
            </a:extLst>
          </p:cNvPr>
          <p:cNvSpPr>
            <a:spLocks xmlns:a="http://schemas.openxmlformats.org/drawingml/2006/main" noGrp="1"/>
          </p:cNvSpPr>
          <p:nvPr/>
        </p:nvSpPr>
        <p:spPr>
          <a:xfrm xmlns:a="http://schemas.openxmlformats.org/drawingml/2006/main">
            <a:off x="17000190" y="7048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07</a:t>
            </a:r>
            <a:endParaRPr sz="1950"/>
          </a:p>
        </p:txBody>
      </p:sp>
      <p:sp>
        <p:nvSpPr>
          <p:cNvPr id="4" name="Shape 2">
            <a:extLst xmlns:a="http://schemas.openxmlformats.org/drawingml/2006/main">
              <a:ext uri="{FF2B5EF4-FFF2-40B4-BE49-F238E27FC236}">
                <a16:creationId xmlns:a16="http://schemas.microsoft.com/office/drawing/2014/main" id="{A2B7ED2A-256B-413A-8957-81385440D11B}"/>
              </a:ext>
            </a:extLst>
          </p:cNvPr>
          <p:cNvSpPr>
            <a:spLocks xmlns:a="http://schemas.openxmlformats.org/drawingml/2006/main" noGrp="1"/>
          </p:cNvSpPr>
          <p:nvPr/>
        </p:nvSpPr>
        <p:spPr>
          <a:xfrm xmlns:a="http://schemas.openxmlformats.org/drawingml/2006/main">
            <a:off x="990600" y="11763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0FC6E144-D594-4672-AD4F-9B9CA23A3305}"/>
              </a:ext>
            </a:extLst>
          </p:cNvPr>
          <p:cNvSpPr>
            <a:spLocks xmlns:a="http://schemas.openxmlformats.org/drawingml/2006/main" noGrp="1"/>
          </p:cNvSpPr>
          <p:nvPr/>
        </p:nvSpPr>
        <p:spPr>
          <a:xfrm xmlns:a="http://schemas.openxmlformats.org/drawingml/2006/main">
            <a:off x="990600" y="1462088"/>
            <a:ext cx="15304770" cy="139585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Nine predictors explain 88% of the variation, and typical error is a quarter of a kilogram</a:t>
            </a:r>
            <a:endParaRPr sz="4950"/>
          </a:p>
        </p:txBody>
      </p:sp>
      <p:sp>
        <p:nvSpPr>
          <p:cNvPr id="6" name="Shape 4">
            <a:extLst xmlns:a="http://schemas.openxmlformats.org/drawingml/2006/main">
              <a:ext uri="{FF2B5EF4-FFF2-40B4-BE49-F238E27FC236}">
                <a16:creationId xmlns:a16="http://schemas.microsoft.com/office/drawing/2014/main" id="{A240F9A9-2002-46A5-A872-1F23D0BC69B8}"/>
              </a:ext>
            </a:extLst>
          </p:cNvPr>
          <p:cNvSpPr>
            <a:spLocks xmlns:a="http://schemas.openxmlformats.org/drawingml/2006/main" noGrp="1"/>
          </p:cNvSpPr>
          <p:nvPr/>
        </p:nvSpPr>
        <p:spPr>
          <a:xfrm xmlns:a="http://schemas.openxmlformats.org/drawingml/2006/main">
            <a:off x="990600" y="3162746"/>
            <a:ext cx="5206975" cy="2418308"/>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A0B39D41-E4E1-4D62-A066-EE26978F80BB}"/>
              </a:ext>
            </a:extLst>
          </p:cNvPr>
          <p:cNvSpPr>
            <a:spLocks xmlns:a="http://schemas.openxmlformats.org/drawingml/2006/main" noGrp="1"/>
          </p:cNvSpPr>
          <p:nvPr/>
        </p:nvSpPr>
        <p:spPr>
          <a:xfrm xmlns:a="http://schemas.openxmlformats.org/drawingml/2006/main">
            <a:off x="1333500" y="3486596"/>
            <a:ext cx="4973293" cy="92958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78987"/>
              </a:lnSpc>
              <a:buNone/>
            </a:pPr>
            <a:r>
              <a:rPr sz="7800">
                <a:solidFill>
                  <a:srgbClr val="202C35"/>
                </a:solidFill>
                <a:latin typeface="Georgia"/>
                <a:ea typeface="Georgia"/>
                <a:cs typeface="Georgia"/>
              </a:rPr>
              <a:t>0.876</a:t>
            </a:r>
            <a:endParaRPr sz="7800"/>
          </a:p>
        </p:txBody>
      </p:sp>
      <p:sp>
        <p:nvSpPr>
          <p:cNvPr id="8" name="Text 6">
            <a:extLst xmlns:a="http://schemas.openxmlformats.org/drawingml/2006/main">
              <a:ext uri="{FF2B5EF4-FFF2-40B4-BE49-F238E27FC236}">
                <a16:creationId xmlns:a16="http://schemas.microsoft.com/office/drawing/2014/main" id="{A3E9341E-7503-4738-9AB5-F4C6F562A7B8}"/>
              </a:ext>
            </a:extLst>
          </p:cNvPr>
          <p:cNvSpPr>
            <a:spLocks xmlns:a="http://schemas.openxmlformats.org/drawingml/2006/main" noGrp="1"/>
          </p:cNvSpPr>
          <p:nvPr/>
        </p:nvSpPr>
        <p:spPr>
          <a:xfrm xmlns:a="http://schemas.openxmlformats.org/drawingml/2006/main">
            <a:off x="1333500" y="4511427"/>
            <a:ext cx="4656810" cy="78387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16866"/>
              </a:lnSpc>
              <a:buNone/>
            </a:pPr>
            <a:r>
              <a:rPr sz="2175">
                <a:solidFill>
                  <a:srgbClr val="516674"/>
                </a:solidFill>
                <a:latin typeface="Arial"/>
                <a:ea typeface="Arial"/>
                <a:cs typeface="Arial"/>
              </a:rPr>
              <a:t>adjusted R², from R² = 0.880 on 9 and 314 degrees of freedom</a:t>
            </a:r>
            <a:endParaRPr sz="2175"/>
          </a:p>
        </p:txBody>
      </p:sp>
      <p:sp>
        <p:nvSpPr>
          <p:cNvPr id="9" name="Shape 7">
            <a:extLst xmlns:a="http://schemas.openxmlformats.org/drawingml/2006/main">
              <a:ext uri="{FF2B5EF4-FFF2-40B4-BE49-F238E27FC236}">
                <a16:creationId xmlns:a16="http://schemas.microsoft.com/office/drawing/2014/main" id="{8B13AFD7-90E3-47E0-9130-37A8E12B953C}"/>
              </a:ext>
            </a:extLst>
          </p:cNvPr>
          <p:cNvSpPr>
            <a:spLocks xmlns:a="http://schemas.openxmlformats.org/drawingml/2006/main" noGrp="1"/>
          </p:cNvSpPr>
          <p:nvPr/>
        </p:nvSpPr>
        <p:spPr>
          <a:xfrm xmlns:a="http://schemas.openxmlformats.org/drawingml/2006/main">
            <a:off x="6540475" y="3162746"/>
            <a:ext cx="5206975" cy="2418308"/>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EC3208DB-B5EB-4774-A301-EB7D9041C93E}"/>
              </a:ext>
            </a:extLst>
          </p:cNvPr>
          <p:cNvSpPr>
            <a:spLocks xmlns:a="http://schemas.openxmlformats.org/drawingml/2006/main" noGrp="1"/>
          </p:cNvSpPr>
          <p:nvPr/>
        </p:nvSpPr>
        <p:spPr>
          <a:xfrm xmlns:a="http://schemas.openxmlformats.org/drawingml/2006/main">
            <a:off x="6883375" y="3486596"/>
            <a:ext cx="4973293" cy="92958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78987"/>
              </a:lnSpc>
              <a:buNone/>
            </a:pPr>
            <a:r>
              <a:rPr sz="7800">
                <a:solidFill>
                  <a:srgbClr val="202C35"/>
                </a:solidFill>
                <a:latin typeface="Georgia"/>
                <a:ea typeface="Georgia"/>
                <a:cs typeface="Georgia"/>
              </a:rPr>
              <a:t>285 g</a:t>
            </a:r>
            <a:endParaRPr sz="7800"/>
          </a:p>
        </p:txBody>
      </p:sp>
      <p:sp>
        <p:nvSpPr>
          <p:cNvPr id="11" name="Text 9">
            <a:extLst xmlns:a="http://schemas.openxmlformats.org/drawingml/2006/main">
              <a:ext uri="{FF2B5EF4-FFF2-40B4-BE49-F238E27FC236}">
                <a16:creationId xmlns:a16="http://schemas.microsoft.com/office/drawing/2014/main" id="{B799A848-84B6-442E-A75C-5166808DFDD1}"/>
              </a:ext>
            </a:extLst>
          </p:cNvPr>
          <p:cNvSpPr>
            <a:spLocks xmlns:a="http://schemas.openxmlformats.org/drawingml/2006/main" noGrp="1"/>
          </p:cNvSpPr>
          <p:nvPr/>
        </p:nvSpPr>
        <p:spPr>
          <a:xfrm xmlns:a="http://schemas.openxmlformats.org/drawingml/2006/main">
            <a:off x="6883375" y="4511427"/>
            <a:ext cx="4656810" cy="78387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16866"/>
              </a:lnSpc>
              <a:buNone/>
            </a:pPr>
            <a:r>
              <a:rPr sz="2175">
                <a:solidFill>
                  <a:srgbClr val="516674"/>
                </a:solidFill>
                <a:latin typeface="Arial"/>
                <a:ea typeface="Arial"/>
                <a:cs typeface="Arial"/>
              </a:rPr>
              <a:t>residual standard error, about 7% of the mean body mass</a:t>
            </a:r>
            <a:endParaRPr sz="2175"/>
          </a:p>
        </p:txBody>
      </p:sp>
      <p:sp>
        <p:nvSpPr>
          <p:cNvPr id="12" name="Shape 10">
            <a:extLst xmlns:a="http://schemas.openxmlformats.org/drawingml/2006/main">
              <a:ext uri="{FF2B5EF4-FFF2-40B4-BE49-F238E27FC236}">
                <a16:creationId xmlns:a16="http://schemas.microsoft.com/office/drawing/2014/main" id="{42DC335F-C41C-4CDF-A0E7-35224A845115}"/>
              </a:ext>
            </a:extLst>
          </p:cNvPr>
          <p:cNvSpPr>
            <a:spLocks xmlns:a="http://schemas.openxmlformats.org/drawingml/2006/main" noGrp="1"/>
          </p:cNvSpPr>
          <p:nvPr/>
        </p:nvSpPr>
        <p:spPr>
          <a:xfrm xmlns:a="http://schemas.openxmlformats.org/drawingml/2006/main">
            <a:off x="12090350" y="3162746"/>
            <a:ext cx="5207050" cy="2418308"/>
          </a:xfrm>
          <a:prstGeom xmlns:a="http://schemas.openxmlformats.org/drawingml/2006/main" prst="rect">
            <a:avLst/>
          </a:prstGeom>
          <a:solidFill xmlns:a="http://schemas.openxmlformats.org/drawingml/2006/main">
            <a:srgbClr val="B85C4A"/>
          </a:solidFill>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6C7A30F1-414E-4846-B581-DCC4C33A0D13}"/>
              </a:ext>
            </a:extLst>
          </p:cNvPr>
          <p:cNvSpPr>
            <a:spLocks xmlns:a="http://schemas.openxmlformats.org/drawingml/2006/main" noGrp="1"/>
          </p:cNvSpPr>
          <p:nvPr/>
        </p:nvSpPr>
        <p:spPr>
          <a:xfrm xmlns:a="http://schemas.openxmlformats.org/drawingml/2006/main">
            <a:off x="12433250" y="3486596"/>
            <a:ext cx="4973375" cy="92958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78987"/>
              </a:lnSpc>
              <a:buNone/>
            </a:pPr>
            <a:r>
              <a:rPr sz="7800">
                <a:solidFill>
                  <a:srgbClr val="FFF8F5"/>
                </a:solidFill>
                <a:latin typeface="Georgia"/>
                <a:ea typeface="Georgia"/>
                <a:cs typeface="Georgia"/>
              </a:rPr>
              <a:t>255.3</a:t>
            </a:r>
            <a:endParaRPr sz="7800"/>
          </a:p>
        </p:txBody>
      </p:sp>
      <p:sp>
        <p:nvSpPr>
          <p:cNvPr id="14" name="Text 12">
            <a:extLst xmlns:a="http://schemas.openxmlformats.org/drawingml/2006/main">
              <a:ext uri="{FF2B5EF4-FFF2-40B4-BE49-F238E27FC236}">
                <a16:creationId xmlns:a16="http://schemas.microsoft.com/office/drawing/2014/main" id="{0C3BDE98-962E-4950-919C-DEEC0E96FB91}"/>
              </a:ext>
            </a:extLst>
          </p:cNvPr>
          <p:cNvSpPr>
            <a:spLocks xmlns:a="http://schemas.openxmlformats.org/drawingml/2006/main" noGrp="1"/>
          </p:cNvSpPr>
          <p:nvPr/>
        </p:nvSpPr>
        <p:spPr>
          <a:xfrm xmlns:a="http://schemas.openxmlformats.org/drawingml/2006/main">
            <a:off x="12433250" y="4511427"/>
            <a:ext cx="4656887" cy="78387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16866"/>
              </a:lnSpc>
              <a:buNone/>
            </a:pPr>
            <a:r>
              <a:rPr sz="2175">
                <a:solidFill>
                  <a:srgbClr val="F6DED8"/>
                </a:solidFill>
                <a:latin typeface="Arial"/>
                <a:ea typeface="Arial"/>
                <a:cs typeface="Arial"/>
              </a:rPr>
              <a:t>F statistic on 9 and 314 df, p &lt; 2.2 × 10⁻¹⁶</a:t>
            </a:r>
            <a:endParaRPr sz="2175"/>
          </a:p>
        </p:txBody>
      </p:sp>
      <p:sp>
        <p:nvSpPr>
          <p:cNvPr id="15" name="Text 13">
            <a:extLst xmlns:a="http://schemas.openxmlformats.org/drawingml/2006/main">
              <a:ext uri="{FF2B5EF4-FFF2-40B4-BE49-F238E27FC236}">
                <a16:creationId xmlns:a16="http://schemas.microsoft.com/office/drawing/2014/main" id="{3EF25AB7-1BEA-4896-9C13-2EDCBA08BB68}"/>
              </a:ext>
            </a:extLst>
          </p:cNvPr>
          <p:cNvSpPr>
            <a:spLocks xmlns:a="http://schemas.openxmlformats.org/drawingml/2006/main" noGrp="1"/>
          </p:cNvSpPr>
          <p:nvPr/>
        </p:nvSpPr>
        <p:spPr>
          <a:xfrm xmlns:a="http://schemas.openxmlformats.org/drawingml/2006/main">
            <a:off x="990600" y="6000155"/>
            <a:ext cx="863346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C86C5A"/>
                </a:solidFill>
                <a:latin typeface="Arial"/>
                <a:ea typeface="Arial"/>
                <a:cs typeface="Arial"/>
              </a:rPr>
              <a:t>WHAT THE COEFFICIENTS SAY</a:t>
            </a:r>
            <a:endParaRPr sz="1800"/>
          </a:p>
        </p:txBody>
      </p:sp>
      <p:sp>
        <p:nvSpPr>
          <p:cNvPr id="16" name="Text 14">
            <a:extLst xmlns:a="http://schemas.openxmlformats.org/drawingml/2006/main">
              <a:ext uri="{FF2B5EF4-FFF2-40B4-BE49-F238E27FC236}">
                <a16:creationId xmlns:a16="http://schemas.microsoft.com/office/drawing/2014/main" id="{A7EC1AC0-223F-4BF1-B80F-ED1998F07CDB}"/>
              </a:ext>
            </a:extLst>
          </p:cNvPr>
          <p:cNvSpPr>
            <a:spLocks xmlns:a="http://schemas.openxmlformats.org/drawingml/2006/main" noGrp="1"/>
          </p:cNvSpPr>
          <p:nvPr/>
        </p:nvSpPr>
        <p:spPr>
          <a:xfrm xmlns:a="http://schemas.openxmlformats.org/drawingml/2006/main">
            <a:off x="990600" y="6433542"/>
            <a:ext cx="8084058" cy="124911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5522"/>
              </a:lnSpc>
              <a:buNone/>
            </a:pPr>
            <a:r>
              <a:rPr sz="2175">
                <a:solidFill>
                  <a:srgbClr val="202C35"/>
                </a:solidFill>
                <a:latin typeface="Arial"/>
                <a:ea typeface="Arial"/>
                <a:cs typeface="Arial"/>
              </a:rPr>
              <a:t>A Gentoo weighs </a:t>
            </a:r>
            <a:r>
              <a:rPr sz="2175" b="1">
                <a:solidFill>
                  <a:srgbClr val="202C35"/>
                </a:solidFill>
                <a:latin typeface="Arial"/>
                <a:ea typeface="Arial"/>
                <a:cs typeface="Arial"/>
              </a:rPr>
              <a:t>998 g </a:t>
            </a:r>
            <a:r>
              <a:rPr sz="2175">
                <a:solidFill>
                  <a:srgbClr val="202C35"/>
                </a:solidFill>
                <a:latin typeface="Arial"/>
                <a:ea typeface="Arial"/>
                <a:cs typeface="Arial"/>
              </a:rPr>
              <a:t>more than an Adelie of the same size and sex, and a male weighs </a:t>
            </a:r>
            <a:r>
              <a:rPr sz="2175" b="1">
                <a:solidFill>
                  <a:srgbClr val="202C35"/>
                </a:solidFill>
                <a:latin typeface="Arial"/>
                <a:ea typeface="Arial"/>
                <a:cs typeface="Arial"/>
              </a:rPr>
              <a:t>387 g </a:t>
            </a:r>
            <a:r>
              <a:rPr sz="2175">
                <a:solidFill>
                  <a:srgbClr val="202C35"/>
                </a:solidFill>
                <a:latin typeface="Arial"/>
                <a:ea typeface="Arial"/>
                <a:cs typeface="Arial"/>
              </a:rPr>
              <a:t>more than a female of the same species. Both contrasts hold the morphology fixed.</a:t>
            </a:r>
            <a:endParaRPr sz="2175"/>
          </a:p>
        </p:txBody>
      </p:sp>
      <p:sp>
        <p:nvSpPr>
          <p:cNvPr id="17" name="Text 15">
            <a:extLst xmlns:a="http://schemas.openxmlformats.org/drawingml/2006/main">
              <a:ext uri="{FF2B5EF4-FFF2-40B4-BE49-F238E27FC236}">
                <a16:creationId xmlns:a16="http://schemas.microsoft.com/office/drawing/2014/main" id="{CF4BEEB4-616A-4EA4-9108-C5371BD3FE76}"/>
              </a:ext>
            </a:extLst>
          </p:cNvPr>
          <p:cNvSpPr>
            <a:spLocks xmlns:a="http://schemas.openxmlformats.org/drawingml/2006/main" noGrp="1"/>
          </p:cNvSpPr>
          <p:nvPr/>
        </p:nvSpPr>
        <p:spPr>
          <a:xfrm xmlns:a="http://schemas.openxmlformats.org/drawingml/2006/main">
            <a:off x="990600" y="7816007"/>
            <a:ext cx="8084058" cy="1249114"/>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5522"/>
              </a:lnSpc>
              <a:buNone/>
            </a:pPr>
            <a:r>
              <a:rPr sz="2175">
                <a:solidFill>
                  <a:srgbClr val="202C35"/>
                </a:solidFill>
                <a:latin typeface="Arial"/>
                <a:ea typeface="Arial"/>
                <a:cs typeface="Arial"/>
              </a:rPr>
              <a:t>Each millimetre of flipper adds </a:t>
            </a:r>
            <a:r>
              <a:rPr sz="2175" b="1">
                <a:solidFill>
                  <a:srgbClr val="202C35"/>
                </a:solidFill>
                <a:latin typeface="Arial"/>
                <a:ea typeface="Arial"/>
                <a:cs typeface="Arial"/>
              </a:rPr>
              <a:t>16.0 g </a:t>
            </a:r>
            <a:r>
              <a:rPr sz="2175">
                <a:solidFill>
                  <a:srgbClr val="202C35"/>
                </a:solidFill>
                <a:latin typeface="Arial"/>
                <a:ea typeface="Arial"/>
                <a:cs typeface="Arial"/>
              </a:rPr>
              <a:t>, and the bill measurements add </a:t>
            </a:r>
            <a:r>
              <a:rPr sz="2175" b="1">
                <a:solidFill>
                  <a:srgbClr val="202C35"/>
                </a:solidFill>
                <a:latin typeface="Arial"/>
                <a:ea typeface="Arial"/>
                <a:cs typeface="Arial"/>
              </a:rPr>
              <a:t>18.9 g </a:t>
            </a:r>
            <a:r>
              <a:rPr sz="2175">
                <a:solidFill>
                  <a:srgbClr val="202C35"/>
                </a:solidFill>
                <a:latin typeface="Arial"/>
                <a:ea typeface="Arial"/>
                <a:cs typeface="Arial"/>
              </a:rPr>
              <a:t>and </a:t>
            </a:r>
            <a:r>
              <a:rPr sz="2175" b="1">
                <a:solidFill>
                  <a:srgbClr val="202C35"/>
                </a:solidFill>
                <a:latin typeface="Arial"/>
                <a:ea typeface="Arial"/>
                <a:cs typeface="Arial"/>
              </a:rPr>
              <a:t>69.3 g </a:t>
            </a:r>
            <a:r>
              <a:rPr sz="2175">
                <a:solidFill>
                  <a:srgbClr val="202C35"/>
                </a:solidFill>
                <a:latin typeface="Arial"/>
                <a:ea typeface="Arial"/>
                <a:cs typeface="Arial"/>
              </a:rPr>
              <a:t>per mm — bill depth with the opposite sign to its pooled correlation.</a:t>
            </a:r>
            <a:endParaRPr sz="2175"/>
          </a:p>
        </p:txBody>
      </p:sp>
      <p:sp>
        <p:nvSpPr>
          <p:cNvPr id="18" name="Text 16">
            <a:extLst xmlns:a="http://schemas.openxmlformats.org/drawingml/2006/main">
              <a:ext uri="{FF2B5EF4-FFF2-40B4-BE49-F238E27FC236}">
                <a16:creationId xmlns:a16="http://schemas.microsoft.com/office/drawing/2014/main" id="{E2B32459-3ADB-4FD3-A3BE-9DAAE42EADD7}"/>
              </a:ext>
            </a:extLst>
          </p:cNvPr>
          <p:cNvSpPr>
            <a:spLocks xmlns:a="http://schemas.openxmlformats.org/drawingml/2006/main" noGrp="1"/>
          </p:cNvSpPr>
          <p:nvPr/>
        </p:nvSpPr>
        <p:spPr>
          <a:xfrm xmlns:a="http://schemas.openxmlformats.org/drawingml/2006/main">
            <a:off x="9448800" y="6000155"/>
            <a:ext cx="863346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C86C5A"/>
                </a:solidFill>
                <a:latin typeface="Arial"/>
                <a:ea typeface="Arial"/>
                <a:cs typeface="Arial"/>
              </a:rPr>
              <a:t>WHAT THEY DO NOT SAY</a:t>
            </a:r>
            <a:endParaRPr sz="1800"/>
          </a:p>
        </p:txBody>
      </p:sp>
      <p:sp>
        <p:nvSpPr>
          <p:cNvPr id="19" name="Text 17">
            <a:extLst xmlns:a="http://schemas.openxmlformats.org/drawingml/2006/main">
              <a:ext uri="{FF2B5EF4-FFF2-40B4-BE49-F238E27FC236}">
                <a16:creationId xmlns:a16="http://schemas.microsoft.com/office/drawing/2014/main" id="{709E51A7-9448-4096-B27F-8028E69A6F8E}"/>
              </a:ext>
            </a:extLst>
          </p:cNvPr>
          <p:cNvSpPr>
            <a:spLocks xmlns:a="http://schemas.openxmlformats.org/drawingml/2006/main" noGrp="1"/>
          </p:cNvSpPr>
          <p:nvPr/>
        </p:nvSpPr>
        <p:spPr>
          <a:xfrm xmlns:a="http://schemas.openxmlformats.org/drawingml/2006/main">
            <a:off x="9448800" y="6433542"/>
            <a:ext cx="8084058" cy="123958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lnSpcReduction="10000"/>
          </a:bodyPr>
          <a:lstStyle xmlns:a="http://schemas.openxmlformats.org/drawingml/2006/main"/>
          <a:p xmlns:a="http://schemas.openxmlformats.org/drawingml/2006/main">
            <a:pPr marL="0" indent="0" algn="l">
              <a:lnSpc>
                <a:spcPct val="125522"/>
              </a:lnSpc>
              <a:buNone/>
            </a:pPr>
            <a:r>
              <a:rPr sz="2175">
                <a:solidFill>
                  <a:srgbClr val="202C35"/>
                </a:solidFill>
                <a:latin typeface="Arial"/>
                <a:ea typeface="Arial"/>
                <a:cs typeface="Arial"/>
              </a:rPr>
              <a:t>After adjustment, the island contrasts are small and imprecise: Dream −15 g (p = 0.80) and Torgersen −32 g (p = 0.61). Clutch completion is borderline at +101 g (p = 0.058).</a:t>
            </a:r>
            <a:endParaRPr sz="2175"/>
          </a:p>
        </p:txBody>
      </p:sp>
      <p:sp>
        <p:nvSpPr>
          <p:cNvPr id="20" name="Text 18">
            <a:extLst xmlns:a="http://schemas.openxmlformats.org/drawingml/2006/main">
              <a:ext uri="{FF2B5EF4-FFF2-40B4-BE49-F238E27FC236}">
                <a16:creationId xmlns:a16="http://schemas.microsoft.com/office/drawing/2014/main" id="{C519C7F5-D5DE-417A-B89C-65AF6F6AD5ED}"/>
              </a:ext>
            </a:extLst>
          </p:cNvPr>
          <p:cNvSpPr>
            <a:spLocks xmlns:a="http://schemas.openxmlformats.org/drawingml/2006/main" noGrp="1"/>
          </p:cNvSpPr>
          <p:nvPr/>
        </p:nvSpPr>
        <p:spPr>
          <a:xfrm xmlns:a="http://schemas.openxmlformats.org/drawingml/2006/main">
            <a:off x="9448800" y="7806482"/>
            <a:ext cx="8084058" cy="123958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5522"/>
              </a:lnSpc>
              <a:buNone/>
            </a:pPr>
            <a:r>
              <a:rPr sz="2175">
                <a:solidFill>
                  <a:srgbClr val="202C35"/>
                </a:solidFill>
                <a:latin typeface="Arial"/>
                <a:ea typeface="Arial"/>
                <a:cs typeface="Arial"/>
              </a:rPr>
              <a:t>The design is observational, so these are associations within the sample. Nothing here licenses a causal reading of flipper length on mass.</a:t>
            </a:r>
            <a:endParaRPr sz="2175"/>
          </a:p>
        </p:txBody>
      </p:sp>
      <p:sp>
        <p:nvSpPr>
          <p:cNvPr id="21" name="Text 19">
            <a:extLst xmlns:a="http://schemas.openxmlformats.org/drawingml/2006/main">
              <a:ext uri="{FF2B5EF4-FFF2-40B4-BE49-F238E27FC236}">
                <a16:creationId xmlns:a16="http://schemas.microsoft.com/office/drawing/2014/main" id="{2A1BA14B-65B3-4DC7-A3F0-6FD48BC1EF27}"/>
              </a:ext>
            </a:extLst>
          </p:cNvPr>
          <p:cNvSpPr>
            <a:spLocks xmlns:a="http://schemas.openxmlformats.org/drawingml/2006/main" noGrp="1"/>
          </p:cNvSpPr>
          <p:nvPr/>
        </p:nvSpPr>
        <p:spPr>
          <a:xfrm xmlns:a="http://schemas.openxmlformats.org/drawingml/2006/main">
            <a:off x="990600" y="94202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22" name="Text 20">
            <a:extLst xmlns:a="http://schemas.openxmlformats.org/drawingml/2006/main">
              <a:ext uri="{FF2B5EF4-FFF2-40B4-BE49-F238E27FC236}">
                <a16:creationId xmlns:a16="http://schemas.microsoft.com/office/drawing/2014/main" id="{44E743FC-5630-4563-A560-1BE9F8D91F86}"/>
              </a:ext>
            </a:extLst>
          </p:cNvPr>
          <p:cNvSpPr>
            <a:spLocks xmlns:a="http://schemas.openxmlformats.org/drawingml/2006/main" noGrp="1"/>
          </p:cNvSpPr>
          <p:nvPr/>
        </p:nvSpPr>
        <p:spPr>
          <a:xfrm xmlns:a="http://schemas.openxmlformats.org/drawingml/2006/main">
            <a:off x="17023035" y="94202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07</a:t>
            </a:r>
            <a:endParaRPr sz="1800"/>
          </a:p>
        </p:txBody>
      </p:sp>
    </p:spTree>
    <p:extLst>
      <p:ext uri="{BB962C8B-B14F-4D97-AF65-F5344CB8AC3E}">
        <p14:creationId xmlns:p14="http://schemas.microsoft.com/office/powerpoint/2010/main" val="1284515255"/>
      </p:ext>
    </p:extLst>
  </p:cSld>
</p:sld>
</file>

<file path=ppt/slides/slide8.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4E6D5D8-4F6F-4322-858F-912214D95FDE}"/>
              </a:ext>
            </a:extLst>
          </p:cNvPr>
          <p:cNvSpPr>
            <a:spLocks xmlns:a="http://schemas.openxmlformats.org/drawingml/2006/main" noGrp="1"/>
          </p:cNvSpPr>
          <p:nvPr/>
        </p:nvSpPr>
        <p:spPr>
          <a:xfrm xmlns:a="http://schemas.openxmlformats.org/drawingml/2006/main">
            <a:off x="990600" y="766763"/>
            <a:ext cx="2682322"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LINEAR MODEL</a:t>
            </a:r>
            <a:endParaRPr sz="1950"/>
          </a:p>
        </p:txBody>
      </p:sp>
      <p:sp>
        <p:nvSpPr>
          <p:cNvPr id="3" name="Text 1">
            <a:extLst xmlns:a="http://schemas.openxmlformats.org/drawingml/2006/main">
              <a:ext uri="{FF2B5EF4-FFF2-40B4-BE49-F238E27FC236}">
                <a16:creationId xmlns:a16="http://schemas.microsoft.com/office/drawing/2014/main" id="{FA3C2D61-A21A-4397-B2A3-5641B210537D}"/>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08</a:t>
            </a:r>
            <a:endParaRPr sz="1950"/>
          </a:p>
        </p:txBody>
      </p:sp>
      <p:sp>
        <p:nvSpPr>
          <p:cNvPr id="4" name="Shape 2">
            <a:extLst xmlns:a="http://schemas.openxmlformats.org/drawingml/2006/main">
              <a:ext uri="{FF2B5EF4-FFF2-40B4-BE49-F238E27FC236}">
                <a16:creationId xmlns:a16="http://schemas.microsoft.com/office/drawing/2014/main" id="{2CCBF8D4-ABF6-4CAF-A966-865B42AE25EF}"/>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7F56B06B-933A-4CB9-97C7-9CA450F10912}"/>
              </a:ext>
            </a:extLst>
          </p:cNvPr>
          <p:cNvSpPr>
            <a:spLocks xmlns:a="http://schemas.openxmlformats.org/drawingml/2006/main" noGrp="1"/>
          </p:cNvSpPr>
          <p:nvPr/>
        </p:nvSpPr>
        <p:spPr>
          <a:xfrm xmlns:a="http://schemas.openxmlformats.org/drawingml/2006/main">
            <a:off x="990600" y="1500188"/>
            <a:ext cx="15304770" cy="139585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The assumptions hold well enough to keep the model as it is</a:t>
            </a:r>
            <a:endParaRPr sz="4950"/>
          </a:p>
        </p:txBody>
      </p:sp>
      <p:sp>
        <p:nvSpPr>
          <p:cNvPr id="6" name="Text 4">
            <a:extLst xmlns:a="http://schemas.openxmlformats.org/drawingml/2006/main">
              <a:ext uri="{FF2B5EF4-FFF2-40B4-BE49-F238E27FC236}">
                <a16:creationId xmlns:a16="http://schemas.microsoft.com/office/drawing/2014/main" id="{C80740C0-18BA-4827-9F5C-1A1E1534B6EE}"/>
              </a:ext>
            </a:extLst>
          </p:cNvPr>
          <p:cNvSpPr>
            <a:spLocks xmlns:a="http://schemas.openxmlformats.org/drawingml/2006/main" noGrp="1"/>
          </p:cNvSpPr>
          <p:nvPr/>
        </p:nvSpPr>
        <p:spPr>
          <a:xfrm xmlns:a="http://schemas.openxmlformats.org/drawingml/2006/main">
            <a:off x="990600" y="2991296"/>
            <a:ext cx="14716125" cy="8382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00">
                <a:solidFill>
                  <a:srgbClr val="516674"/>
                </a:solidFill>
                <a:latin typeface="Arial"/>
                <a:ea typeface="Arial"/>
                <a:cs typeface="Arial"/>
              </a:rPr>
              <a:t>No curvature and no fan shape in the residuals; the tails of the Q-Q plot are slightly heavy, which is what we expect with 324 observations and no transformation.</a:t>
            </a:r>
            <a:endParaRPr sz="2400"/>
          </a:p>
        </p:txBody>
      </p:sp>
      <p:sp>
        <p:nvSpPr>
          <p:cNvPr id="7" name="Text 5">
            <a:extLst xmlns:a="http://schemas.openxmlformats.org/drawingml/2006/main">
              <a:ext uri="{FF2B5EF4-FFF2-40B4-BE49-F238E27FC236}">
                <a16:creationId xmlns:a16="http://schemas.microsoft.com/office/drawing/2014/main" id="{4E72B395-8F73-4448-B7CE-6135D962FBD0}"/>
              </a:ext>
            </a:extLst>
          </p:cNvPr>
          <p:cNvSpPr>
            <a:spLocks xmlns:a="http://schemas.openxmlformats.org/drawingml/2006/main" noGrp="1"/>
          </p:cNvSpPr>
          <p:nvPr/>
        </p:nvSpPr>
        <p:spPr>
          <a:xfrm xmlns:a="http://schemas.openxmlformats.org/drawingml/2006/main">
            <a:off x="990600" y="4039046"/>
            <a:ext cx="869632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2025" b="1">
                <a:solidFill>
                  <a:srgbClr val="202C35"/>
                </a:solidFill>
                <a:latin typeface="Arial"/>
                <a:ea typeface="Arial"/>
                <a:cs typeface="Arial"/>
              </a:rPr>
              <a:t>Residuals versus fitted values</a:t>
            </a:r>
            <a:endParaRPr sz="2025"/>
          </a:p>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d5385b6e7e19428b">
            <a:extLst>
              <a:ext uri="{96DAC541-7B7A-43D3-8B79-37D633B846F1}">
                <asvg:svgBlip xmlns:asvg="http://schemas.microsoft.com/office/drawing/2016/SVG/main" r:embed="Rc10b125555764a1d"/>
              </a:ext>
            </a:extLst>
          </a:blip>
          <a:stretch xmlns:a="http://schemas.openxmlformats.org/drawingml/2006/main">
            <a:fillRect l="0" t="0" r="0" b="0"/>
          </a:stretch>
        </p:blipFill>
        <p:spPr>
          <a:xfrm xmlns:a="http://schemas.openxmlformats.org/drawingml/2006/main">
            <a:off x="990600" y="4429571"/>
            <a:ext cx="7905750" cy="4114354"/>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76C55793-8B7F-46EA-9BA8-D5B7D79EE8B8}"/>
              </a:ext>
            </a:extLst>
          </p:cNvPr>
          <p:cNvSpPr>
            <a:spLocks xmlns:a="http://schemas.openxmlformats.org/drawingml/2006/main" noGrp="1"/>
          </p:cNvSpPr>
          <p:nvPr/>
        </p:nvSpPr>
        <p:spPr>
          <a:xfrm xmlns:a="http://schemas.openxmlformats.org/drawingml/2006/main">
            <a:off x="9391650" y="4039046"/>
            <a:ext cx="869632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2025" b="1">
                <a:solidFill>
                  <a:srgbClr val="202C35"/>
                </a:solidFill>
                <a:latin typeface="Arial"/>
                <a:ea typeface="Arial"/>
                <a:cs typeface="Arial"/>
              </a:rPr>
              <a:t>Normal Q-Q plot of residuals</a:t>
            </a:r>
            <a:endParaRPr sz="2025"/>
          </a:p>
        </p:txBody>
      </p:sp>
      <p:pic>
        <p:nvPicPr>
          <p:cNvPr id="24" name="Image 1"/>
          <p:cNvPicPr>
            <a:picLocks xmlns:a="http://schemas.openxmlformats.org/drawingml/2006/main" noChangeAspect="1"/>
          </p:cNvPicPr>
          <p:nvPr/>
        </p:nvPicPr>
        <p:blipFill>
          <a:blip xmlns:r="http://schemas.openxmlformats.org/officeDocument/2006/relationships" xmlns:a="http://schemas.openxmlformats.org/drawingml/2006/main" r:embed="R270fd2870bc24790">
            <a:extLst>
              <a:ext uri="{96DAC541-7B7A-43D3-8B79-37D633B846F1}">
                <asvg:svgBlip xmlns:asvg="http://schemas.microsoft.com/office/drawing/2016/SVG/main" r:embed="R4febaaa224c6401b"/>
              </a:ext>
            </a:extLst>
          </a:blip>
          <a:stretch xmlns:a="http://schemas.openxmlformats.org/drawingml/2006/main">
            <a:fillRect l="0" t="0" r="0" b="0"/>
          </a:stretch>
        </p:blipFill>
        <p:spPr>
          <a:xfrm xmlns:a="http://schemas.openxmlformats.org/drawingml/2006/main">
            <a:off x="9391650" y="4429571"/>
            <a:ext cx="7905750" cy="4114354"/>
          </a:xfrm>
          <a:prstGeom xmlns:a="http://schemas.openxmlformats.org/drawingml/2006/main" prst="rect">
            <a:avLst/>
          </a:prstGeom>
        </p:spPr>
      </p:pic>
      <p:sp>
        <p:nvSpPr>
          <p:cNvPr id="11" name="Shape 7">
            <a:extLst xmlns:a="http://schemas.openxmlformats.org/drawingml/2006/main">
              <a:ext uri="{FF2B5EF4-FFF2-40B4-BE49-F238E27FC236}">
                <a16:creationId xmlns:a16="http://schemas.microsoft.com/office/drawing/2014/main" id="{AD21B4D9-0167-4500-A652-1C772179DC0B}"/>
              </a:ext>
            </a:extLst>
          </p:cNvPr>
          <p:cNvSpPr>
            <a:spLocks xmlns:a="http://schemas.openxmlformats.org/drawingml/2006/main" noGrp="1"/>
          </p:cNvSpPr>
          <p:nvPr/>
        </p:nvSpPr>
        <p:spPr>
          <a:xfrm xmlns:a="http://schemas.openxmlformats.org/drawingml/2006/main">
            <a:off x="990600" y="8734425"/>
            <a:ext cx="16306800"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2" name="Text 8">
            <a:extLst xmlns:a="http://schemas.openxmlformats.org/drawingml/2006/main">
              <a:ext uri="{FF2B5EF4-FFF2-40B4-BE49-F238E27FC236}">
                <a16:creationId xmlns:a16="http://schemas.microsoft.com/office/drawing/2014/main" id="{FCA75FB5-6F7A-4BD4-A938-677D8EE771A1}"/>
              </a:ext>
            </a:extLst>
          </p:cNvPr>
          <p:cNvSpPr>
            <a:spLocks xmlns:a="http://schemas.openxmlformats.org/drawingml/2006/main" noGrp="1"/>
          </p:cNvSpPr>
          <p:nvPr/>
        </p:nvSpPr>
        <p:spPr>
          <a:xfrm xmlns:a="http://schemas.openxmlformats.org/drawingml/2006/main">
            <a:off x="990600" y="8963025"/>
            <a:ext cx="15964006" cy="752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516674"/>
                </a:solidFill>
                <a:latin typeface="Arial"/>
                <a:ea typeface="Arial"/>
                <a:cs typeface="Arial"/>
              </a:rPr>
              <a:t>29 observations are flagged by at least one criterion: 11 high leverage, 14 with a standardised residual beyond ±2, 18 above the 4/(n − p) cut for Cook's distance. The largest Cook's distance is </a:t>
            </a:r>
            <a:r>
              <a:rPr sz="2175" b="1">
                <a:solidFill>
                  <a:srgbClr val="202C35"/>
                </a:solidFill>
                <a:latin typeface="Arial"/>
                <a:ea typeface="Arial"/>
                <a:cs typeface="Arial"/>
              </a:rPr>
              <a:t>0.037</a:t>
            </a:r>
            <a:r>
              <a:rPr sz="2175">
                <a:solidFill>
                  <a:srgbClr val="516674"/>
                </a:solidFill>
                <a:latin typeface="Arial"/>
                <a:ea typeface="Arial"/>
                <a:cs typeface="Arial"/>
              </a:rPr>
              <a:t>, far from 1, so no single bird drives the fit.</a:t>
            </a:r>
            <a:endParaRPr sz="2175"/>
          </a:p>
        </p:txBody>
      </p:sp>
      <p:sp>
        <p:nvSpPr>
          <p:cNvPr id="13" name="Text 9">
            <a:extLst xmlns:a="http://schemas.openxmlformats.org/drawingml/2006/main">
              <a:ext uri="{FF2B5EF4-FFF2-40B4-BE49-F238E27FC236}">
                <a16:creationId xmlns:a16="http://schemas.microsoft.com/office/drawing/2014/main" id="{88C4BD72-E85A-4C5E-AE1E-DA6479104ECE}"/>
              </a:ext>
            </a:extLst>
          </p:cNvPr>
          <p:cNvSpPr>
            <a:spLocks xmlns:a="http://schemas.openxmlformats.org/drawingml/2006/main" noGrp="1"/>
          </p:cNvSpPr>
          <p:nvPr/>
        </p:nvSpPr>
        <p:spPr>
          <a:xfrm xmlns:a="http://schemas.openxmlformats.org/drawingml/2006/main">
            <a:off x="17023035" y="9010650"/>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08</a:t>
            </a:r>
            <a:endParaRPr sz="1800"/>
          </a:p>
        </p:txBody>
      </p:sp>
    </p:spTree>
    <p:extLst>
      <p:ext uri="{BB962C8B-B14F-4D97-AF65-F5344CB8AC3E}">
        <p14:creationId xmlns:p14="http://schemas.microsoft.com/office/powerpoint/2010/main" val="1001710350"/>
      </p:ext>
    </p:extLst>
  </p:cSld>
</p:sld>
</file>

<file path=ppt/slides/slide9.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DE7C2F-D430-42B5-B016-7BFFDFACDC16}"/>
              </a:ext>
            </a:extLst>
          </p:cNvPr>
          <p:cNvSpPr>
            <a:spLocks xmlns:a="http://schemas.openxmlformats.org/drawingml/2006/main" noGrp="1"/>
          </p:cNvSpPr>
          <p:nvPr/>
        </p:nvSpPr>
        <p:spPr>
          <a:xfrm xmlns:a="http://schemas.openxmlformats.org/drawingml/2006/main">
            <a:off x="990600" y="766763"/>
            <a:ext cx="3395610"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MODEL SELECTION</a:t>
            </a:r>
            <a:endParaRPr sz="1950"/>
          </a:p>
        </p:txBody>
      </p:sp>
      <p:sp>
        <p:nvSpPr>
          <p:cNvPr id="3" name="Text 1">
            <a:extLst xmlns:a="http://schemas.openxmlformats.org/drawingml/2006/main">
              <a:ext uri="{FF2B5EF4-FFF2-40B4-BE49-F238E27FC236}">
                <a16:creationId xmlns:a16="http://schemas.microsoft.com/office/drawing/2014/main" id="{0F9B2635-1333-4E30-A80F-B01F4E08409A}"/>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09</a:t>
            </a:r>
            <a:endParaRPr sz="1950"/>
          </a:p>
        </p:txBody>
      </p:sp>
      <p:sp>
        <p:nvSpPr>
          <p:cNvPr id="4" name="Shape 2">
            <a:extLst xmlns:a="http://schemas.openxmlformats.org/drawingml/2006/main">
              <a:ext uri="{FF2B5EF4-FFF2-40B4-BE49-F238E27FC236}">
                <a16:creationId xmlns:a16="http://schemas.microsoft.com/office/drawing/2014/main" id="{CB9C006B-5364-4659-AD83-B36969EE5EA1}"/>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C4DEBD58-38C3-4184-9776-297CD656D493}"/>
              </a:ext>
            </a:extLst>
          </p:cNvPr>
          <p:cNvSpPr>
            <a:spLocks xmlns:a="http://schemas.openxmlformats.org/drawingml/2006/main" noGrp="1"/>
          </p:cNvSpPr>
          <p:nvPr/>
        </p:nvSpPr>
        <p:spPr>
          <a:xfrm xmlns:a="http://schemas.openxmlformats.org/drawingml/2006/main">
            <a:off x="990600" y="1500188"/>
            <a:ext cx="16344900" cy="71697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Dropping island and clutch completion costs nothing</a:t>
            </a:r>
            <a:endParaRPr sz="4950"/>
          </a:p>
        </p:txBody>
      </p:sp>
      <p:sp>
        <p:nvSpPr>
          <p:cNvPr id="6" name="Text 4">
            <a:extLst xmlns:a="http://schemas.openxmlformats.org/drawingml/2006/main">
              <a:ext uri="{FF2B5EF4-FFF2-40B4-BE49-F238E27FC236}">
                <a16:creationId xmlns:a16="http://schemas.microsoft.com/office/drawing/2014/main" id="{2D43EA09-8D3B-498B-8C72-AE02764A304C}"/>
              </a:ext>
            </a:extLst>
          </p:cNvPr>
          <p:cNvSpPr>
            <a:spLocks xmlns:a="http://schemas.openxmlformats.org/drawingml/2006/main" noGrp="1"/>
          </p:cNvSpPr>
          <p:nvPr/>
        </p:nvSpPr>
        <p:spPr>
          <a:xfrm xmlns:a="http://schemas.openxmlformats.org/drawingml/2006/main">
            <a:off x="990600" y="2312417"/>
            <a:ext cx="13735050" cy="8382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00">
                <a:solidFill>
                  <a:srgbClr val="516674"/>
                </a:solidFill>
                <a:latin typeface="Arial"/>
                <a:ea typeface="Arial"/>
                <a:cs typeface="Arial"/>
              </a:rPr>
              <a:t>Backward elimination with penalty k = log n removes the two blocks that the coefficient plot already showed as flat.</a:t>
            </a:r>
            <a:endParaRPr sz="2400"/>
          </a:p>
        </p:txBody>
      </p:sp>
      <p:sp>
        <p:nvSpPr>
          <p:cNvPr id="7" name="Shape 5">
            <a:extLst xmlns:a="http://schemas.openxmlformats.org/drawingml/2006/main">
              <a:ext uri="{FF2B5EF4-FFF2-40B4-BE49-F238E27FC236}">
                <a16:creationId xmlns:a16="http://schemas.microsoft.com/office/drawing/2014/main" id="{6EEF63EE-BCCA-48C4-8957-887A2BBAF19D}"/>
              </a:ext>
            </a:extLst>
          </p:cNvPr>
          <p:cNvSpPr>
            <a:spLocks xmlns:a="http://schemas.openxmlformats.org/drawingml/2006/main" noGrp="1"/>
          </p:cNvSpPr>
          <p:nvPr/>
        </p:nvSpPr>
        <p:spPr>
          <a:xfrm xmlns:a="http://schemas.openxmlformats.org/drawingml/2006/main">
            <a:off x="990600" y="3931072"/>
            <a:ext cx="16306800" cy="1905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70EAF6BD-E040-490E-A803-BBD558B83091}"/>
              </a:ext>
            </a:extLst>
          </p:cNvPr>
          <p:cNvSpPr>
            <a:spLocks xmlns:a="http://schemas.openxmlformats.org/drawingml/2006/main" noGrp="1"/>
          </p:cNvSpPr>
          <p:nvPr/>
        </p:nvSpPr>
        <p:spPr>
          <a:xfrm xmlns:a="http://schemas.openxmlformats.org/drawingml/2006/main">
            <a:off x="990600" y="3493517"/>
            <a:ext cx="6020060"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273">
                <a:solidFill>
                  <a:srgbClr val="516674"/>
                </a:solidFill>
                <a:latin typeface="Arial"/>
                <a:ea typeface="Arial"/>
                <a:cs typeface="Arial"/>
              </a:rPr>
              <a:t>MODEL</a:t>
            </a:r>
            <a:endParaRPr sz="1950"/>
          </a:p>
        </p:txBody>
      </p:sp>
      <p:sp>
        <p:nvSpPr>
          <p:cNvPr id="9" name="Text 7">
            <a:extLst xmlns:a="http://schemas.openxmlformats.org/drawingml/2006/main">
              <a:ext uri="{FF2B5EF4-FFF2-40B4-BE49-F238E27FC236}">
                <a16:creationId xmlns:a16="http://schemas.microsoft.com/office/drawing/2014/main" id="{F2816CE0-B964-4381-947F-EA5E0FA72C33}"/>
              </a:ext>
            </a:extLst>
          </p:cNvPr>
          <p:cNvSpPr>
            <a:spLocks xmlns:a="http://schemas.openxmlformats.org/drawingml/2006/main" noGrp="1"/>
          </p:cNvSpPr>
          <p:nvPr/>
        </p:nvSpPr>
        <p:spPr>
          <a:xfrm xmlns:a="http://schemas.openxmlformats.org/drawingml/2006/main">
            <a:off x="6452540" y="3493517"/>
            <a:ext cx="2633863"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950" b="1" spc="273">
                <a:solidFill>
                  <a:srgbClr val="516674"/>
                </a:solidFill>
                <a:latin typeface="Arial"/>
                <a:ea typeface="Arial"/>
                <a:cs typeface="Arial"/>
              </a:rPr>
              <a:t>TERMS</a:t>
            </a:r>
            <a:endParaRPr sz="1950"/>
          </a:p>
        </p:txBody>
      </p:sp>
      <p:sp>
        <p:nvSpPr>
          <p:cNvPr id="10" name="Text 8">
            <a:extLst xmlns:a="http://schemas.openxmlformats.org/drawingml/2006/main">
              <a:ext uri="{FF2B5EF4-FFF2-40B4-BE49-F238E27FC236}">
                <a16:creationId xmlns:a16="http://schemas.microsoft.com/office/drawing/2014/main" id="{5E840D0F-14AE-4875-84FC-C966EFA06005}"/>
              </a:ext>
            </a:extLst>
          </p:cNvPr>
          <p:cNvSpPr>
            <a:spLocks xmlns:a="http://schemas.openxmlformats.org/drawingml/2006/main" noGrp="1"/>
          </p:cNvSpPr>
          <p:nvPr/>
        </p:nvSpPr>
        <p:spPr>
          <a:xfrm xmlns:a="http://schemas.openxmlformats.org/drawingml/2006/main">
            <a:off x="9075569" y="3493517"/>
            <a:ext cx="2633782"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950" b="1" spc="273">
                <a:solidFill>
                  <a:srgbClr val="516674"/>
                </a:solidFill>
                <a:latin typeface="Arial"/>
                <a:ea typeface="Arial"/>
                <a:cs typeface="Arial"/>
              </a:rPr>
              <a:t>BIC</a:t>
            </a:r>
            <a:endParaRPr sz="1950"/>
          </a:p>
        </p:txBody>
      </p:sp>
      <p:sp>
        <p:nvSpPr>
          <p:cNvPr id="11" name="Text 9">
            <a:extLst xmlns:a="http://schemas.openxmlformats.org/drawingml/2006/main">
              <a:ext uri="{FF2B5EF4-FFF2-40B4-BE49-F238E27FC236}">
                <a16:creationId xmlns:a16="http://schemas.microsoft.com/office/drawing/2014/main" id="{9E16E8D4-4BF0-4784-992A-47B4C700D623}"/>
              </a:ext>
            </a:extLst>
          </p:cNvPr>
          <p:cNvSpPr>
            <a:spLocks xmlns:a="http://schemas.openxmlformats.org/drawingml/2006/main" noGrp="1"/>
          </p:cNvSpPr>
          <p:nvPr/>
        </p:nvSpPr>
        <p:spPr>
          <a:xfrm xmlns:a="http://schemas.openxmlformats.org/drawingml/2006/main">
            <a:off x="11698508" y="3493517"/>
            <a:ext cx="2633863"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950" b="1" spc="273">
                <a:solidFill>
                  <a:srgbClr val="516674"/>
                </a:solidFill>
                <a:latin typeface="Arial"/>
                <a:ea typeface="Arial"/>
                <a:cs typeface="Arial"/>
              </a:rPr>
              <a:t>AIC</a:t>
            </a:r>
            <a:endParaRPr sz="1950"/>
          </a:p>
        </p:txBody>
      </p:sp>
      <p:sp>
        <p:nvSpPr>
          <p:cNvPr id="12" name="Text 10">
            <a:extLst xmlns:a="http://schemas.openxmlformats.org/drawingml/2006/main">
              <a:ext uri="{FF2B5EF4-FFF2-40B4-BE49-F238E27FC236}">
                <a16:creationId xmlns:a16="http://schemas.microsoft.com/office/drawing/2014/main" id="{30EC8072-97F0-4718-A262-0C2CB917184C}"/>
              </a:ext>
            </a:extLst>
          </p:cNvPr>
          <p:cNvSpPr>
            <a:spLocks xmlns:a="http://schemas.openxmlformats.org/drawingml/2006/main" noGrp="1"/>
          </p:cNvSpPr>
          <p:nvPr/>
        </p:nvSpPr>
        <p:spPr>
          <a:xfrm xmlns:a="http://schemas.openxmlformats.org/drawingml/2006/main">
            <a:off x="14287329" y="3493517"/>
            <a:ext cx="3010071"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950" b="1" spc="273">
                <a:solidFill>
                  <a:srgbClr val="516674"/>
                </a:solidFill>
                <a:latin typeface="Arial"/>
                <a:ea typeface="Arial"/>
                <a:cs typeface="Arial"/>
              </a:rPr>
              <a:t>ADJ. R²</a:t>
            </a:r>
            <a:endParaRPr sz="1950"/>
          </a:p>
        </p:txBody>
      </p:sp>
      <p:sp>
        <p:nvSpPr>
          <p:cNvPr id="13" name="Shape 11">
            <a:extLst xmlns:a="http://schemas.openxmlformats.org/drawingml/2006/main">
              <a:ext uri="{FF2B5EF4-FFF2-40B4-BE49-F238E27FC236}">
                <a16:creationId xmlns:a16="http://schemas.microsoft.com/office/drawing/2014/main" id="{D97D540D-D521-49C4-835C-A7C1A07809E0}"/>
              </a:ext>
            </a:extLst>
          </p:cNvPr>
          <p:cNvSpPr>
            <a:spLocks xmlns:a="http://schemas.openxmlformats.org/drawingml/2006/main" noGrp="1"/>
          </p:cNvSpPr>
          <p:nvPr/>
        </p:nvSpPr>
        <p:spPr>
          <a:xfrm xmlns:a="http://schemas.openxmlformats.org/drawingml/2006/main">
            <a:off x="990600" y="4916388"/>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9031CF1B-CFCD-41CF-AC49-523FA3A111AF}"/>
              </a:ext>
            </a:extLst>
          </p:cNvPr>
          <p:cNvSpPr>
            <a:spLocks xmlns:a="http://schemas.openxmlformats.org/drawingml/2006/main" noGrp="1"/>
          </p:cNvSpPr>
          <p:nvPr/>
        </p:nvSpPr>
        <p:spPr>
          <a:xfrm xmlns:a="http://schemas.openxmlformats.org/drawingml/2006/main">
            <a:off x="990600" y="4235872"/>
            <a:ext cx="6020060" cy="461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550">
                <a:solidFill>
                  <a:srgbClr val="202C35"/>
                </a:solidFill>
                <a:latin typeface="Arial"/>
                <a:ea typeface="Arial"/>
                <a:cs typeface="Arial"/>
              </a:rPr>
              <a:t>Full model</a:t>
            </a:r>
            <a:endParaRPr sz="2550"/>
          </a:p>
        </p:txBody>
      </p:sp>
      <p:sp>
        <p:nvSpPr>
          <p:cNvPr id="15" name="Text 13">
            <a:extLst xmlns:a="http://schemas.openxmlformats.org/drawingml/2006/main">
              <a:ext uri="{FF2B5EF4-FFF2-40B4-BE49-F238E27FC236}">
                <a16:creationId xmlns:a16="http://schemas.microsoft.com/office/drawing/2014/main" id="{96A10B97-F990-4BEB-98EF-1A09EEB63BC3}"/>
              </a:ext>
            </a:extLst>
          </p:cNvPr>
          <p:cNvSpPr>
            <a:spLocks xmlns:a="http://schemas.openxmlformats.org/drawingml/2006/main" noGrp="1"/>
          </p:cNvSpPr>
          <p:nvPr/>
        </p:nvSpPr>
        <p:spPr>
          <a:xfrm xmlns:a="http://schemas.openxmlformats.org/drawingml/2006/main">
            <a:off x="6452540" y="4235872"/>
            <a:ext cx="2633863" cy="461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550">
                <a:solidFill>
                  <a:srgbClr val="202C35"/>
                </a:solidFill>
                <a:latin typeface="Courier New"/>
                <a:ea typeface="Courier New"/>
                <a:cs typeface="Courier New"/>
              </a:rPr>
              <a:t>7</a:t>
            </a:r>
            <a:endParaRPr sz="2550"/>
          </a:p>
        </p:txBody>
      </p:sp>
      <p:sp>
        <p:nvSpPr>
          <p:cNvPr id="16" name="Text 14">
            <a:extLst xmlns:a="http://schemas.openxmlformats.org/drawingml/2006/main">
              <a:ext uri="{FF2B5EF4-FFF2-40B4-BE49-F238E27FC236}">
                <a16:creationId xmlns:a16="http://schemas.microsoft.com/office/drawing/2014/main" id="{A0FE8C2F-94AB-448C-87E9-B2CD6BA8F684}"/>
              </a:ext>
            </a:extLst>
          </p:cNvPr>
          <p:cNvSpPr>
            <a:spLocks xmlns:a="http://schemas.openxmlformats.org/drawingml/2006/main" noGrp="1"/>
          </p:cNvSpPr>
          <p:nvPr/>
        </p:nvSpPr>
        <p:spPr>
          <a:xfrm xmlns:a="http://schemas.openxmlformats.org/drawingml/2006/main">
            <a:off x="9075569" y="4235872"/>
            <a:ext cx="2633782" cy="461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550">
                <a:solidFill>
                  <a:srgbClr val="202C35"/>
                </a:solidFill>
                <a:latin typeface="Courier New"/>
                <a:ea typeface="Courier New"/>
                <a:cs typeface="Courier New"/>
              </a:rPr>
              <a:t>4634.8</a:t>
            </a:r>
            <a:endParaRPr sz="2550"/>
          </a:p>
        </p:txBody>
      </p:sp>
      <p:sp>
        <p:nvSpPr>
          <p:cNvPr id="17" name="Text 15">
            <a:extLst xmlns:a="http://schemas.openxmlformats.org/drawingml/2006/main">
              <a:ext uri="{FF2B5EF4-FFF2-40B4-BE49-F238E27FC236}">
                <a16:creationId xmlns:a16="http://schemas.microsoft.com/office/drawing/2014/main" id="{EBCE6A2F-CCA0-48A0-84BC-9C308318E031}"/>
              </a:ext>
            </a:extLst>
          </p:cNvPr>
          <p:cNvSpPr>
            <a:spLocks xmlns:a="http://schemas.openxmlformats.org/drawingml/2006/main" noGrp="1"/>
          </p:cNvSpPr>
          <p:nvPr/>
        </p:nvSpPr>
        <p:spPr>
          <a:xfrm xmlns:a="http://schemas.openxmlformats.org/drawingml/2006/main">
            <a:off x="11698508" y="4235872"/>
            <a:ext cx="2633863" cy="461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550">
                <a:solidFill>
                  <a:srgbClr val="202C35"/>
                </a:solidFill>
                <a:latin typeface="Courier New"/>
                <a:ea typeface="Courier New"/>
                <a:cs typeface="Courier New"/>
              </a:rPr>
              <a:t>4593.2</a:t>
            </a:r>
            <a:endParaRPr sz="2550"/>
          </a:p>
        </p:txBody>
      </p:sp>
      <p:sp>
        <p:nvSpPr>
          <p:cNvPr id="18" name="Text 16">
            <a:extLst xmlns:a="http://schemas.openxmlformats.org/drawingml/2006/main">
              <a:ext uri="{FF2B5EF4-FFF2-40B4-BE49-F238E27FC236}">
                <a16:creationId xmlns:a16="http://schemas.microsoft.com/office/drawing/2014/main" id="{A7E00E96-DAFA-4426-A584-4438CA725B7A}"/>
              </a:ext>
            </a:extLst>
          </p:cNvPr>
          <p:cNvSpPr>
            <a:spLocks xmlns:a="http://schemas.openxmlformats.org/drawingml/2006/main" noGrp="1"/>
          </p:cNvSpPr>
          <p:nvPr/>
        </p:nvSpPr>
        <p:spPr>
          <a:xfrm xmlns:a="http://schemas.openxmlformats.org/drawingml/2006/main">
            <a:off x="14287329" y="4235872"/>
            <a:ext cx="3010071" cy="461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550">
                <a:solidFill>
                  <a:srgbClr val="202C35"/>
                </a:solidFill>
                <a:latin typeface="Courier New"/>
                <a:ea typeface="Courier New"/>
                <a:cs typeface="Courier New"/>
              </a:rPr>
              <a:t>0.8763</a:t>
            </a:r>
            <a:endParaRPr sz="2550"/>
          </a:p>
        </p:txBody>
      </p:sp>
      <p:sp>
        <p:nvSpPr>
          <p:cNvPr id="19" name="Shape 17">
            <a:extLst xmlns:a="http://schemas.openxmlformats.org/drawingml/2006/main">
              <a:ext uri="{FF2B5EF4-FFF2-40B4-BE49-F238E27FC236}">
                <a16:creationId xmlns:a16="http://schemas.microsoft.com/office/drawing/2014/main" id="{9291EB58-0343-4538-9B03-ADC2F9981798}"/>
              </a:ext>
            </a:extLst>
          </p:cNvPr>
          <p:cNvSpPr>
            <a:spLocks xmlns:a="http://schemas.openxmlformats.org/drawingml/2006/main" noGrp="1"/>
          </p:cNvSpPr>
          <p:nvPr/>
        </p:nvSpPr>
        <p:spPr>
          <a:xfrm xmlns:a="http://schemas.openxmlformats.org/drawingml/2006/main">
            <a:off x="990600" y="4925913"/>
            <a:ext cx="16306800" cy="975717"/>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6878D2FD-0CF8-4B14-AF44-3A8DD3E9EBCB}"/>
              </a:ext>
            </a:extLst>
          </p:cNvPr>
          <p:cNvSpPr>
            <a:spLocks xmlns:a="http://schemas.openxmlformats.org/drawingml/2006/main" noGrp="1"/>
          </p:cNvSpPr>
          <p:nvPr/>
        </p:nvSpPr>
        <p:spPr>
          <a:xfrm xmlns:a="http://schemas.openxmlformats.org/drawingml/2006/main">
            <a:off x="990600" y="5892105"/>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083B5124-14A5-4A78-AB85-5CAAD0559CDD}"/>
              </a:ext>
            </a:extLst>
          </p:cNvPr>
          <p:cNvSpPr>
            <a:spLocks xmlns:a="http://schemas.openxmlformats.org/drawingml/2006/main" noGrp="1"/>
          </p:cNvSpPr>
          <p:nvPr/>
        </p:nvSpPr>
        <p:spPr>
          <a:xfrm xmlns:a="http://schemas.openxmlformats.org/drawingml/2006/main">
            <a:off x="1143000" y="5245001"/>
            <a:ext cx="5867660" cy="4095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2550" b="1">
                <a:solidFill>
                  <a:srgbClr val="202C35"/>
                </a:solidFill>
                <a:latin typeface="Arial"/>
                <a:ea typeface="Arial"/>
                <a:cs typeface="Arial"/>
              </a:rPr>
              <a:t>BIC-selected model</a:t>
            </a:r>
            <a:endParaRPr sz="2550"/>
          </a:p>
        </p:txBody>
      </p:sp>
      <p:sp>
        <p:nvSpPr>
          <p:cNvPr id="22" name="Text 20">
            <a:extLst xmlns:a="http://schemas.openxmlformats.org/drawingml/2006/main">
              <a:ext uri="{FF2B5EF4-FFF2-40B4-BE49-F238E27FC236}">
                <a16:creationId xmlns:a16="http://schemas.microsoft.com/office/drawing/2014/main" id="{612C433D-F8E5-4A4A-981D-883A87CE7072}"/>
              </a:ext>
            </a:extLst>
          </p:cNvPr>
          <p:cNvSpPr>
            <a:spLocks xmlns:a="http://schemas.openxmlformats.org/drawingml/2006/main" noGrp="1"/>
          </p:cNvSpPr>
          <p:nvPr/>
        </p:nvSpPr>
        <p:spPr>
          <a:xfrm xmlns:a="http://schemas.openxmlformats.org/drawingml/2006/main">
            <a:off x="6452540" y="5211663"/>
            <a:ext cx="2633863" cy="461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550">
                <a:solidFill>
                  <a:srgbClr val="202C35"/>
                </a:solidFill>
                <a:latin typeface="Courier New"/>
                <a:ea typeface="Courier New"/>
                <a:cs typeface="Courier New"/>
              </a:rPr>
              <a:t>5</a:t>
            </a:r>
            <a:endParaRPr sz="2550"/>
          </a:p>
        </p:txBody>
      </p:sp>
      <p:sp>
        <p:nvSpPr>
          <p:cNvPr id="23" name="Text 21">
            <a:extLst xmlns:a="http://schemas.openxmlformats.org/drawingml/2006/main">
              <a:ext uri="{FF2B5EF4-FFF2-40B4-BE49-F238E27FC236}">
                <a16:creationId xmlns:a16="http://schemas.microsoft.com/office/drawing/2014/main" id="{E464DF59-65CD-4229-810B-266A0418A58E}"/>
              </a:ext>
            </a:extLst>
          </p:cNvPr>
          <p:cNvSpPr>
            <a:spLocks xmlns:a="http://schemas.openxmlformats.org/drawingml/2006/main" noGrp="1"/>
          </p:cNvSpPr>
          <p:nvPr/>
        </p:nvSpPr>
        <p:spPr>
          <a:xfrm xmlns:a="http://schemas.openxmlformats.org/drawingml/2006/main">
            <a:off x="9075569" y="5211663"/>
            <a:ext cx="2633782" cy="461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550">
                <a:solidFill>
                  <a:srgbClr val="C86C5A"/>
                </a:solidFill>
                <a:latin typeface="Courier New"/>
                <a:ea typeface="Courier New"/>
                <a:cs typeface="Courier New"/>
              </a:rPr>
              <a:t>4621.8</a:t>
            </a:r>
            <a:endParaRPr sz="2550"/>
          </a:p>
        </p:txBody>
      </p:sp>
      <p:sp>
        <p:nvSpPr>
          <p:cNvPr id="24" name="Text 22">
            <a:extLst xmlns:a="http://schemas.openxmlformats.org/drawingml/2006/main">
              <a:ext uri="{FF2B5EF4-FFF2-40B4-BE49-F238E27FC236}">
                <a16:creationId xmlns:a16="http://schemas.microsoft.com/office/drawing/2014/main" id="{0E04F9F2-346B-41FC-9868-6C0E424265D6}"/>
              </a:ext>
            </a:extLst>
          </p:cNvPr>
          <p:cNvSpPr>
            <a:spLocks xmlns:a="http://schemas.openxmlformats.org/drawingml/2006/main" noGrp="1"/>
          </p:cNvSpPr>
          <p:nvPr/>
        </p:nvSpPr>
        <p:spPr>
          <a:xfrm xmlns:a="http://schemas.openxmlformats.org/drawingml/2006/main">
            <a:off x="11698508" y="5211663"/>
            <a:ext cx="2633863" cy="461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550">
                <a:solidFill>
                  <a:srgbClr val="202C35"/>
                </a:solidFill>
                <a:latin typeface="Courier New"/>
                <a:ea typeface="Courier New"/>
                <a:cs typeface="Courier New"/>
              </a:rPr>
              <a:t>4591.5</a:t>
            </a:r>
            <a:endParaRPr sz="2550"/>
          </a:p>
        </p:txBody>
      </p:sp>
      <p:sp>
        <p:nvSpPr>
          <p:cNvPr id="25" name="Text 23">
            <a:extLst xmlns:a="http://schemas.openxmlformats.org/drawingml/2006/main">
              <a:ext uri="{FF2B5EF4-FFF2-40B4-BE49-F238E27FC236}">
                <a16:creationId xmlns:a16="http://schemas.microsoft.com/office/drawing/2014/main" id="{E886B9F2-1E38-48C9-B1A5-578DD59AF115}"/>
              </a:ext>
            </a:extLst>
          </p:cNvPr>
          <p:cNvSpPr>
            <a:spLocks xmlns:a="http://schemas.openxmlformats.org/drawingml/2006/main" noGrp="1"/>
          </p:cNvSpPr>
          <p:nvPr/>
        </p:nvSpPr>
        <p:spPr>
          <a:xfrm xmlns:a="http://schemas.openxmlformats.org/drawingml/2006/main">
            <a:off x="14287329" y="5211663"/>
            <a:ext cx="3010071" cy="461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550">
                <a:solidFill>
                  <a:srgbClr val="202C35"/>
                </a:solidFill>
                <a:latin typeface="Courier New"/>
                <a:ea typeface="Courier New"/>
                <a:cs typeface="Courier New"/>
              </a:rPr>
              <a:t>0.8759</a:t>
            </a:r>
            <a:endParaRPr sz="2550"/>
          </a:p>
        </p:txBody>
      </p:sp>
      <p:sp>
        <p:nvSpPr>
          <p:cNvPr id="26" name="Text 24">
            <a:extLst xmlns:a="http://schemas.openxmlformats.org/drawingml/2006/main">
              <a:ext uri="{FF2B5EF4-FFF2-40B4-BE49-F238E27FC236}">
                <a16:creationId xmlns:a16="http://schemas.microsoft.com/office/drawing/2014/main" id="{9D684072-ECA7-4341-9E65-EFD0F7EC45F7}"/>
              </a:ext>
            </a:extLst>
          </p:cNvPr>
          <p:cNvSpPr>
            <a:spLocks xmlns:a="http://schemas.openxmlformats.org/drawingml/2006/main" noGrp="1"/>
          </p:cNvSpPr>
          <p:nvPr/>
        </p:nvSpPr>
        <p:spPr>
          <a:xfrm xmlns:a="http://schemas.openxmlformats.org/drawingml/2006/main">
            <a:off x="990600" y="6320730"/>
            <a:ext cx="9346257"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C86C5A"/>
                </a:solidFill>
                <a:latin typeface="Arial"/>
                <a:ea typeface="Arial"/>
                <a:cs typeface="Arial"/>
              </a:rPr>
              <a:t>RETAINED</a:t>
            </a:r>
            <a:endParaRPr sz="1800"/>
          </a:p>
        </p:txBody>
      </p:sp>
      <p:sp>
        <p:nvSpPr>
          <p:cNvPr id="27" name="Text 25">
            <a:extLst xmlns:a="http://schemas.openxmlformats.org/drawingml/2006/main">
              <a:ext uri="{FF2B5EF4-FFF2-40B4-BE49-F238E27FC236}">
                <a16:creationId xmlns:a16="http://schemas.microsoft.com/office/drawing/2014/main" id="{8D82F902-3CF9-44A6-92A5-3DB04FA75B1A}"/>
              </a:ext>
            </a:extLst>
          </p:cNvPr>
          <p:cNvSpPr>
            <a:spLocks xmlns:a="http://schemas.openxmlformats.org/drawingml/2006/main" noGrp="1"/>
          </p:cNvSpPr>
          <p:nvPr/>
        </p:nvSpPr>
        <p:spPr>
          <a:xfrm xmlns:a="http://schemas.openxmlformats.org/drawingml/2006/main">
            <a:off x="990600" y="6735068"/>
            <a:ext cx="8751496" cy="9525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41176"/>
              </a:lnSpc>
              <a:buNone/>
            </a:pPr>
            <a:r>
              <a:rPr sz="2250">
                <a:solidFill>
                  <a:srgbClr val="202C35"/>
                </a:solidFill>
                <a:latin typeface="Courier New"/>
                <a:ea typeface="Courier New"/>
                <a:cs typeface="Courier New"/>
              </a:rPr>
              <a:t>species + bill length + bill depth + flipper length + sex</a:t>
            </a:r>
            <a:endParaRPr sz="2250"/>
          </a:p>
        </p:txBody>
      </p:sp>
      <p:sp>
        <p:nvSpPr>
          <p:cNvPr id="28" name="Text 26">
            <a:extLst xmlns:a="http://schemas.openxmlformats.org/drawingml/2006/main">
              <a:ext uri="{FF2B5EF4-FFF2-40B4-BE49-F238E27FC236}">
                <a16:creationId xmlns:a16="http://schemas.microsoft.com/office/drawing/2014/main" id="{D55C9B9D-1596-4A23-A849-01EAE5952C45}"/>
              </a:ext>
            </a:extLst>
          </p:cNvPr>
          <p:cNvSpPr>
            <a:spLocks xmlns:a="http://schemas.openxmlformats.org/drawingml/2006/main" noGrp="1"/>
          </p:cNvSpPr>
          <p:nvPr/>
        </p:nvSpPr>
        <p:spPr>
          <a:xfrm xmlns:a="http://schemas.openxmlformats.org/drawingml/2006/main">
            <a:off x="10096798" y="6320730"/>
            <a:ext cx="7920663"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C86C5A"/>
                </a:solidFill>
                <a:latin typeface="Arial"/>
                <a:ea typeface="Arial"/>
                <a:cs typeface="Arial"/>
              </a:rPr>
              <a:t>REMOVED</a:t>
            </a:r>
            <a:endParaRPr sz="1800"/>
          </a:p>
        </p:txBody>
      </p:sp>
      <p:sp>
        <p:nvSpPr>
          <p:cNvPr id="29" name="Text 27">
            <a:extLst xmlns:a="http://schemas.openxmlformats.org/drawingml/2006/main">
              <a:ext uri="{FF2B5EF4-FFF2-40B4-BE49-F238E27FC236}">
                <a16:creationId xmlns:a16="http://schemas.microsoft.com/office/drawing/2014/main" id="{39074EE3-5637-4A57-8E93-F459912DC08A}"/>
              </a:ext>
            </a:extLst>
          </p:cNvPr>
          <p:cNvSpPr>
            <a:spLocks xmlns:a="http://schemas.openxmlformats.org/drawingml/2006/main" noGrp="1"/>
          </p:cNvSpPr>
          <p:nvPr/>
        </p:nvSpPr>
        <p:spPr>
          <a:xfrm xmlns:a="http://schemas.openxmlformats.org/drawingml/2006/main">
            <a:off x="10096798" y="6735068"/>
            <a:ext cx="7416620" cy="4953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41176"/>
              </a:lnSpc>
              <a:buNone/>
            </a:pPr>
            <a:r>
              <a:rPr sz="2250">
                <a:solidFill>
                  <a:srgbClr val="202C35"/>
                </a:solidFill>
                <a:latin typeface="Courier New"/>
                <a:ea typeface="Courier New"/>
                <a:cs typeface="Courier New"/>
              </a:rPr>
              <a:t>island + clutch completion</a:t>
            </a:r>
            <a:endParaRPr sz="2250"/>
          </a:p>
        </p:txBody>
      </p:sp>
      <p:sp>
        <p:nvSpPr>
          <p:cNvPr id="30" name="Text 28">
            <a:extLst xmlns:a="http://schemas.openxmlformats.org/drawingml/2006/main">
              <a:ext uri="{FF2B5EF4-FFF2-40B4-BE49-F238E27FC236}">
                <a16:creationId xmlns:a16="http://schemas.microsoft.com/office/drawing/2014/main" id="{45ABD7E2-9BAC-4DC0-A6C1-5DE5C2F78B7C}"/>
              </a:ext>
            </a:extLst>
          </p:cNvPr>
          <p:cNvSpPr>
            <a:spLocks xmlns:a="http://schemas.openxmlformats.org/drawingml/2006/main" noGrp="1"/>
          </p:cNvSpPr>
          <p:nvPr/>
        </p:nvSpPr>
        <p:spPr>
          <a:xfrm xmlns:a="http://schemas.openxmlformats.org/drawingml/2006/main">
            <a:off x="990600" y="7881937"/>
            <a:ext cx="15304770" cy="13668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30986"/>
              </a:lnSpc>
              <a:buNone/>
            </a:pPr>
            <a:r>
              <a:rPr sz="2325">
                <a:solidFill>
                  <a:srgbClr val="202C35"/>
                </a:solidFill>
                <a:latin typeface="Arial"/>
                <a:ea typeface="Arial"/>
                <a:cs typeface="Arial"/>
              </a:rPr>
              <a:t>Adjusted R² moves by 0.0004 and the residual standard error by half a gram, from 284.6 g to 285.1 g. The simplification is a statement about parsimony; it is not evidence that island has no effect, only that it adds nothing beyond species.</a:t>
            </a:r>
            <a:endParaRPr sz="2325"/>
          </a:p>
        </p:txBody>
      </p:sp>
      <p:sp>
        <p:nvSpPr>
          <p:cNvPr id="31" name="Text 29">
            <a:extLst xmlns:a="http://schemas.openxmlformats.org/drawingml/2006/main">
              <a:ext uri="{FF2B5EF4-FFF2-40B4-BE49-F238E27FC236}">
                <a16:creationId xmlns:a16="http://schemas.microsoft.com/office/drawing/2014/main" id="{44C45A6C-A450-4AD2-A466-4AD31E6532FB}"/>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32" name="Text 30">
            <a:extLst xmlns:a="http://schemas.openxmlformats.org/drawingml/2006/main">
              <a:ext uri="{FF2B5EF4-FFF2-40B4-BE49-F238E27FC236}">
                <a16:creationId xmlns:a16="http://schemas.microsoft.com/office/drawing/2014/main" id="{8AAA64D8-AC55-4830-BE22-6F90F1403EFA}"/>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09</a:t>
            </a:r>
            <a:endParaRPr sz="1800"/>
          </a:p>
        </p:txBody>
      </p:sp>
    </p:spTree>
    <p:extLst>
      <p:ext uri="{BB962C8B-B14F-4D97-AF65-F5344CB8AC3E}">
        <p14:creationId xmlns:p14="http://schemas.microsoft.com/office/powerpoint/2010/main" val="1032517524"/>
      </p:ext>
    </p:extLst>
  </p:cSld>
</p:sld>
</file>

<file path=ppt/slides/slide10.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6FD73DA-4439-4EAE-BFE3-9103DCB8D15A}"/>
              </a:ext>
            </a:extLst>
          </p:cNvPr>
          <p:cNvSpPr>
            <a:spLocks xmlns:a="http://schemas.openxmlformats.org/drawingml/2006/main" noGrp="1"/>
          </p:cNvSpPr>
          <p:nvPr/>
        </p:nvSpPr>
        <p:spPr>
          <a:xfrm xmlns:a="http://schemas.openxmlformats.org/drawingml/2006/main">
            <a:off x="990600" y="766763"/>
            <a:ext cx="2511408"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UNCERTAINTY</a:t>
            </a:r>
            <a:endParaRPr sz="1950"/>
          </a:p>
        </p:txBody>
      </p:sp>
      <p:sp>
        <p:nvSpPr>
          <p:cNvPr id="3" name="Text 1">
            <a:extLst xmlns:a="http://schemas.openxmlformats.org/drawingml/2006/main">
              <a:ext uri="{FF2B5EF4-FFF2-40B4-BE49-F238E27FC236}">
                <a16:creationId xmlns:a16="http://schemas.microsoft.com/office/drawing/2014/main" id="{534EB7C3-5BA4-4BE5-8CF2-555F1AC28C65}"/>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10</a:t>
            </a:r>
            <a:endParaRPr sz="1950"/>
          </a:p>
        </p:txBody>
      </p:sp>
      <p:sp>
        <p:nvSpPr>
          <p:cNvPr id="4" name="Shape 2">
            <a:extLst xmlns:a="http://schemas.openxmlformats.org/drawingml/2006/main">
              <a:ext uri="{FF2B5EF4-FFF2-40B4-BE49-F238E27FC236}">
                <a16:creationId xmlns:a16="http://schemas.microsoft.com/office/drawing/2014/main" id="{F94DD671-A33C-48F3-8831-FC2344B785EA}"/>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8295B4ED-AF87-408E-8CF4-1DF0BFF65186}"/>
              </a:ext>
            </a:extLst>
          </p:cNvPr>
          <p:cNvSpPr>
            <a:spLocks xmlns:a="http://schemas.openxmlformats.org/drawingml/2006/main" noGrp="1"/>
          </p:cNvSpPr>
          <p:nvPr/>
        </p:nvSpPr>
        <p:spPr>
          <a:xfrm xmlns:a="http://schemas.openxmlformats.org/drawingml/2006/main">
            <a:off x="990600" y="1500188"/>
            <a:ext cx="15304770" cy="139585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Predicting the average penguin is 18 times more precise than predicting one penguin</a:t>
            </a:r>
            <a:endParaRPr sz="4950"/>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9360230d235b4466">
            <a:extLst>
              <a:ext uri="{96DAC541-7B7A-43D3-8B79-37D633B846F1}">
                <asvg:svgBlip xmlns:asvg="http://schemas.microsoft.com/office/drawing/2016/SVG/main" r:embed="Rd9631423977b4e58"/>
              </a:ext>
            </a:extLst>
          </a:blip>
          <a:stretch xmlns:a="http://schemas.openxmlformats.org/drawingml/2006/main">
            <a:fillRect l="0" t="0" r="0" b="0"/>
          </a:stretch>
        </p:blipFill>
        <p:spPr>
          <a:xfrm xmlns:a="http://schemas.openxmlformats.org/drawingml/2006/main">
            <a:off x="990600" y="3105596"/>
            <a:ext cx="10287000" cy="6066979"/>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DBA33027-2906-4C2B-AFAD-BE308C1363F8}"/>
              </a:ext>
            </a:extLst>
          </p:cNvPr>
          <p:cNvSpPr>
            <a:spLocks xmlns:a="http://schemas.openxmlformats.org/drawingml/2006/main" noGrp="1"/>
          </p:cNvSpPr>
          <p:nvPr/>
        </p:nvSpPr>
        <p:spPr>
          <a:xfrm xmlns:a="http://schemas.openxmlformats.org/drawingml/2006/main">
            <a:off x="11811000" y="3105596"/>
            <a:ext cx="57150" cy="1894433"/>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EDD9173A-E505-4BDE-B5CA-37D91BED6236}"/>
              </a:ext>
            </a:extLst>
          </p:cNvPr>
          <p:cNvSpPr>
            <a:spLocks xmlns:a="http://schemas.openxmlformats.org/drawingml/2006/main" noGrp="1"/>
          </p:cNvSpPr>
          <p:nvPr/>
        </p:nvSpPr>
        <p:spPr>
          <a:xfrm xmlns:a="http://schemas.openxmlformats.org/drawingml/2006/main">
            <a:off x="12096750" y="3105596"/>
            <a:ext cx="5720715" cy="36671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2250" b="1">
                <a:solidFill>
                  <a:srgbClr val="202C35"/>
                </a:solidFill>
                <a:latin typeface="Arial"/>
                <a:ea typeface="Arial"/>
                <a:cs typeface="Arial"/>
              </a:rPr>
              <a:t>Confidence band</a:t>
            </a:r>
            <a:endParaRPr sz="2250"/>
          </a:p>
        </p:txBody>
      </p:sp>
      <p:sp>
        <p:nvSpPr>
          <p:cNvPr id="9" name="Text 6">
            <a:extLst xmlns:a="http://schemas.openxmlformats.org/drawingml/2006/main">
              <a:ext uri="{FF2B5EF4-FFF2-40B4-BE49-F238E27FC236}">
                <a16:creationId xmlns:a16="http://schemas.microsoft.com/office/drawing/2014/main" id="{278F25B5-5A53-418B-A56D-25B98C7F0AB7}"/>
              </a:ext>
            </a:extLst>
          </p:cNvPr>
          <p:cNvSpPr>
            <a:spLocks xmlns:a="http://schemas.openxmlformats.org/drawingml/2006/main" noGrp="1"/>
          </p:cNvSpPr>
          <p:nvPr/>
        </p:nvSpPr>
        <p:spPr>
          <a:xfrm xmlns:a="http://schemas.openxmlformats.org/drawingml/2006/main">
            <a:off x="12096750" y="3548509"/>
            <a:ext cx="5720715" cy="6286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943"/>
              </a:lnSpc>
              <a:buNone/>
            </a:pPr>
            <a:r>
              <a:rPr sz="4650">
                <a:solidFill>
                  <a:srgbClr val="202C35"/>
                </a:solidFill>
                <a:latin typeface="Georgia"/>
                <a:ea typeface="Georgia"/>
                <a:cs typeface="Georgia"/>
              </a:rPr>
              <a:t>± 43 g</a:t>
            </a:r>
            <a:endParaRPr sz="4650"/>
          </a:p>
        </p:txBody>
      </p:sp>
      <p:sp>
        <p:nvSpPr>
          <p:cNvPr id="10" name="Text 7">
            <a:extLst xmlns:a="http://schemas.openxmlformats.org/drawingml/2006/main">
              <a:ext uri="{FF2B5EF4-FFF2-40B4-BE49-F238E27FC236}">
                <a16:creationId xmlns:a16="http://schemas.microsoft.com/office/drawing/2014/main" id="{D3ECF283-95A7-46F5-9773-D07C4E408166}"/>
              </a:ext>
            </a:extLst>
          </p:cNvPr>
          <p:cNvSpPr>
            <a:spLocks xmlns:a="http://schemas.openxmlformats.org/drawingml/2006/main" noGrp="1"/>
          </p:cNvSpPr>
          <p:nvPr/>
        </p:nvSpPr>
        <p:spPr>
          <a:xfrm xmlns:a="http://schemas.openxmlformats.org/drawingml/2006/main">
            <a:off x="12096750" y="4253359"/>
            <a:ext cx="5356670" cy="78477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0615"/>
              </a:lnSpc>
              <a:buNone/>
            </a:pPr>
            <a:r>
              <a:rPr sz="2100">
                <a:solidFill>
                  <a:srgbClr val="516674"/>
                </a:solidFill>
                <a:latin typeface="Arial"/>
                <a:ea typeface="Arial"/>
                <a:cs typeface="Arial"/>
              </a:rPr>
              <a:t>for the mean body mass at the centre of the flipper range</a:t>
            </a:r>
            <a:endParaRPr sz="2100"/>
          </a:p>
        </p:txBody>
      </p:sp>
      <p:sp>
        <p:nvSpPr>
          <p:cNvPr id="11" name="Shape 8">
            <a:extLst xmlns:a="http://schemas.openxmlformats.org/drawingml/2006/main">
              <a:ext uri="{FF2B5EF4-FFF2-40B4-BE49-F238E27FC236}">
                <a16:creationId xmlns:a16="http://schemas.microsoft.com/office/drawing/2014/main" id="{E6A9BA9B-C859-4CF0-A005-3F559FC1058E}"/>
              </a:ext>
            </a:extLst>
          </p:cNvPr>
          <p:cNvSpPr>
            <a:spLocks xmlns:a="http://schemas.openxmlformats.org/drawingml/2006/main" noGrp="1"/>
          </p:cNvSpPr>
          <p:nvPr/>
        </p:nvSpPr>
        <p:spPr>
          <a:xfrm xmlns:a="http://schemas.openxmlformats.org/drawingml/2006/main">
            <a:off x="11811000" y="5247680"/>
            <a:ext cx="57150" cy="1894433"/>
          </a:xfrm>
          <a:prstGeom xmlns:a="http://schemas.openxmlformats.org/drawingml/2006/main" prst="rect">
            <a:avLst/>
          </a:prstGeom>
          <a:solidFill xmlns:a="http://schemas.openxmlformats.org/drawingml/2006/main">
            <a:srgbClr val="F3DDD7"/>
          </a:solidFill>
        </p:spPr>
        <p:txBody>
          <a:bodyPr xmlns:a="http://schemas.openxmlformats.org/drawingml/2006/main"/>
          <a:lstStyle xmlns:a="http://schemas.openxmlformats.org/drawingml/2006/main"/>
          <a:p xmlns:a="http://schemas.openxmlformats.org/drawingml/2006/main">
            <a:endParaRPr/>
          </a:p>
        </p:txBody>
      </p:sp>
      <p:sp>
        <p:nvSpPr>
          <p:cNvPr id="12" name="Text 9">
            <a:extLst xmlns:a="http://schemas.openxmlformats.org/drawingml/2006/main">
              <a:ext uri="{FF2B5EF4-FFF2-40B4-BE49-F238E27FC236}">
                <a16:creationId xmlns:a16="http://schemas.microsoft.com/office/drawing/2014/main" id="{8C347D39-1376-4931-AB7D-461EA42262E2}"/>
              </a:ext>
            </a:extLst>
          </p:cNvPr>
          <p:cNvSpPr>
            <a:spLocks xmlns:a="http://schemas.openxmlformats.org/drawingml/2006/main" noGrp="1"/>
          </p:cNvSpPr>
          <p:nvPr/>
        </p:nvSpPr>
        <p:spPr>
          <a:xfrm xmlns:a="http://schemas.openxmlformats.org/drawingml/2006/main">
            <a:off x="12096750" y="5247680"/>
            <a:ext cx="5720715" cy="36671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2250" b="1">
                <a:solidFill>
                  <a:srgbClr val="202C35"/>
                </a:solidFill>
                <a:latin typeface="Arial"/>
                <a:ea typeface="Arial"/>
                <a:cs typeface="Arial"/>
              </a:rPr>
              <a:t>Prediction band</a:t>
            </a:r>
            <a:endParaRPr sz="2250"/>
          </a:p>
        </p:txBody>
      </p:sp>
      <p:sp>
        <p:nvSpPr>
          <p:cNvPr id="13" name="Text 10">
            <a:extLst xmlns:a="http://schemas.openxmlformats.org/drawingml/2006/main">
              <a:ext uri="{FF2B5EF4-FFF2-40B4-BE49-F238E27FC236}">
                <a16:creationId xmlns:a16="http://schemas.microsoft.com/office/drawing/2014/main" id="{94E6057D-11F6-4294-9AC9-B80422CD6E42}"/>
              </a:ext>
            </a:extLst>
          </p:cNvPr>
          <p:cNvSpPr>
            <a:spLocks xmlns:a="http://schemas.openxmlformats.org/drawingml/2006/main" noGrp="1"/>
          </p:cNvSpPr>
          <p:nvPr/>
        </p:nvSpPr>
        <p:spPr>
          <a:xfrm xmlns:a="http://schemas.openxmlformats.org/drawingml/2006/main">
            <a:off x="12096750" y="5690592"/>
            <a:ext cx="5720715" cy="6286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943"/>
              </a:lnSpc>
              <a:buNone/>
            </a:pPr>
            <a:r>
              <a:rPr sz="4650">
                <a:solidFill>
                  <a:srgbClr val="202C35"/>
                </a:solidFill>
                <a:latin typeface="Georgia"/>
                <a:ea typeface="Georgia"/>
                <a:cs typeface="Georgia"/>
              </a:rPr>
              <a:t>± 770 g</a:t>
            </a:r>
            <a:endParaRPr sz="4650"/>
          </a:p>
        </p:txBody>
      </p:sp>
      <p:sp>
        <p:nvSpPr>
          <p:cNvPr id="14" name="Text 11">
            <a:extLst xmlns:a="http://schemas.openxmlformats.org/drawingml/2006/main">
              <a:ext uri="{FF2B5EF4-FFF2-40B4-BE49-F238E27FC236}">
                <a16:creationId xmlns:a16="http://schemas.microsoft.com/office/drawing/2014/main" id="{CCA82E51-3664-4DF2-ACD7-6DAF07CF1F05}"/>
              </a:ext>
            </a:extLst>
          </p:cNvPr>
          <p:cNvSpPr>
            <a:spLocks xmlns:a="http://schemas.openxmlformats.org/drawingml/2006/main" noGrp="1"/>
          </p:cNvSpPr>
          <p:nvPr/>
        </p:nvSpPr>
        <p:spPr>
          <a:xfrm xmlns:a="http://schemas.openxmlformats.org/drawingml/2006/main">
            <a:off x="12096750" y="6395442"/>
            <a:ext cx="5356670" cy="78477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0615"/>
              </a:lnSpc>
              <a:buNone/>
            </a:pPr>
            <a:r>
              <a:rPr sz="2100">
                <a:solidFill>
                  <a:srgbClr val="516674"/>
                </a:solidFill>
                <a:latin typeface="Arial"/>
                <a:ea typeface="Arial"/>
                <a:cs typeface="Arial"/>
              </a:rPr>
              <a:t>for a single new penguin at the same flipper length</a:t>
            </a:r>
            <a:endParaRPr sz="2100"/>
          </a:p>
        </p:txBody>
      </p:sp>
      <p:sp>
        <p:nvSpPr>
          <p:cNvPr id="15" name="Shape 12">
            <a:extLst xmlns:a="http://schemas.openxmlformats.org/drawingml/2006/main">
              <a:ext uri="{FF2B5EF4-FFF2-40B4-BE49-F238E27FC236}">
                <a16:creationId xmlns:a16="http://schemas.microsoft.com/office/drawing/2014/main" id="{1D7ADD58-3EF2-4AF3-9120-430539A969E7}"/>
              </a:ext>
            </a:extLst>
          </p:cNvPr>
          <p:cNvSpPr>
            <a:spLocks xmlns:a="http://schemas.openxmlformats.org/drawingml/2006/main" noGrp="1"/>
          </p:cNvSpPr>
          <p:nvPr/>
        </p:nvSpPr>
        <p:spPr>
          <a:xfrm xmlns:a="http://schemas.openxmlformats.org/drawingml/2006/main">
            <a:off x="11811000" y="7389763"/>
            <a:ext cx="5486400"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DE479A8E-C7F0-49EC-BD3D-8116B833DF90}"/>
              </a:ext>
            </a:extLst>
          </p:cNvPr>
          <p:cNvSpPr>
            <a:spLocks xmlns:a="http://schemas.openxmlformats.org/drawingml/2006/main" noGrp="1"/>
          </p:cNvSpPr>
          <p:nvPr/>
        </p:nvSpPr>
        <p:spPr>
          <a:xfrm xmlns:a="http://schemas.openxmlformats.org/drawingml/2006/main">
            <a:off x="11811000" y="7637413"/>
            <a:ext cx="754187" cy="32191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Slope</a:t>
            </a:r>
            <a:endParaRPr sz="2100"/>
          </a:p>
        </p:txBody>
      </p:sp>
      <p:sp>
        <p:nvSpPr>
          <p:cNvPr id="17" name="Text 14">
            <a:extLst xmlns:a="http://schemas.openxmlformats.org/drawingml/2006/main">
              <a:ext uri="{FF2B5EF4-FFF2-40B4-BE49-F238E27FC236}">
                <a16:creationId xmlns:a16="http://schemas.microsoft.com/office/drawing/2014/main" id="{38BE7FDB-086F-4D24-B242-94D3FB85CAF3}"/>
              </a:ext>
            </a:extLst>
          </p:cNvPr>
          <p:cNvSpPr>
            <a:spLocks xmlns:a="http://schemas.openxmlformats.org/drawingml/2006/main" noGrp="1"/>
          </p:cNvSpPr>
          <p:nvPr/>
        </p:nvSpPr>
        <p:spPr>
          <a:xfrm xmlns:a="http://schemas.openxmlformats.org/drawingml/2006/main">
            <a:off x="15857190" y="7637413"/>
            <a:ext cx="1584231" cy="32191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2100">
                <a:solidFill>
                  <a:srgbClr val="202C35"/>
                </a:solidFill>
                <a:latin typeface="Courier New"/>
                <a:ea typeface="Courier New"/>
                <a:cs typeface="Courier New"/>
              </a:rPr>
              <a:t>50.9 g/mm</a:t>
            </a:r>
            <a:endParaRPr sz="2100"/>
          </a:p>
        </p:txBody>
      </p:sp>
      <p:sp>
        <p:nvSpPr>
          <p:cNvPr id="18" name="Text 15">
            <a:extLst xmlns:a="http://schemas.openxmlformats.org/drawingml/2006/main">
              <a:ext uri="{FF2B5EF4-FFF2-40B4-BE49-F238E27FC236}">
                <a16:creationId xmlns:a16="http://schemas.microsoft.com/office/drawing/2014/main" id="{D3F73655-5D95-4D35-82EE-89F0C5F4EBFD}"/>
              </a:ext>
            </a:extLst>
          </p:cNvPr>
          <p:cNvSpPr>
            <a:spLocks xmlns:a="http://schemas.openxmlformats.org/drawingml/2006/main" noGrp="1"/>
          </p:cNvSpPr>
          <p:nvPr/>
        </p:nvSpPr>
        <p:spPr>
          <a:xfrm xmlns:a="http://schemas.openxmlformats.org/drawingml/2006/main">
            <a:off x="11811000" y="8054578"/>
            <a:ext cx="1684831" cy="32184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95% interval</a:t>
            </a:r>
            <a:endParaRPr sz="2100"/>
          </a:p>
        </p:txBody>
      </p:sp>
      <p:sp>
        <p:nvSpPr>
          <p:cNvPr id="19" name="Text 16">
            <a:extLst xmlns:a="http://schemas.openxmlformats.org/drawingml/2006/main">
              <a:ext uri="{FF2B5EF4-FFF2-40B4-BE49-F238E27FC236}">
                <a16:creationId xmlns:a16="http://schemas.microsoft.com/office/drawing/2014/main" id="{80A459C7-821D-43FB-9D52-4DDCED7E2BF4}"/>
              </a:ext>
            </a:extLst>
          </p:cNvPr>
          <p:cNvSpPr>
            <a:spLocks xmlns:a="http://schemas.openxmlformats.org/drawingml/2006/main" noGrp="1"/>
          </p:cNvSpPr>
          <p:nvPr/>
        </p:nvSpPr>
        <p:spPr>
          <a:xfrm xmlns:a="http://schemas.openxmlformats.org/drawingml/2006/main">
            <a:off x="15377145" y="8054578"/>
            <a:ext cx="2112280" cy="32184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2100">
                <a:solidFill>
                  <a:srgbClr val="202C35"/>
                </a:solidFill>
                <a:latin typeface="Courier New"/>
                <a:ea typeface="Courier New"/>
                <a:cs typeface="Courier New"/>
              </a:rPr>
              <a:t>[47.8, 53.9]</a:t>
            </a:r>
            <a:endParaRPr sz="2100"/>
          </a:p>
        </p:txBody>
      </p:sp>
      <p:sp>
        <p:nvSpPr>
          <p:cNvPr id="20" name="Text 17">
            <a:extLst xmlns:a="http://schemas.openxmlformats.org/drawingml/2006/main">
              <a:ext uri="{FF2B5EF4-FFF2-40B4-BE49-F238E27FC236}">
                <a16:creationId xmlns:a16="http://schemas.microsoft.com/office/drawing/2014/main" id="{55EE69BA-5012-4ABF-9664-A8D719B5219B}"/>
              </a:ext>
            </a:extLst>
          </p:cNvPr>
          <p:cNvSpPr>
            <a:spLocks xmlns:a="http://schemas.openxmlformats.org/drawingml/2006/main" noGrp="1"/>
          </p:cNvSpPr>
          <p:nvPr/>
        </p:nvSpPr>
        <p:spPr>
          <a:xfrm xmlns:a="http://schemas.openxmlformats.org/drawingml/2006/main">
            <a:off x="11811000" y="8471669"/>
            <a:ext cx="336500" cy="32191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R²</a:t>
            </a:r>
            <a:endParaRPr sz="2100"/>
          </a:p>
        </p:txBody>
      </p:sp>
      <p:sp>
        <p:nvSpPr>
          <p:cNvPr id="21" name="Text 18">
            <a:extLst xmlns:a="http://schemas.openxmlformats.org/drawingml/2006/main">
              <a:ext uri="{FF2B5EF4-FFF2-40B4-BE49-F238E27FC236}">
                <a16:creationId xmlns:a16="http://schemas.microsoft.com/office/drawing/2014/main" id="{2B52CD6A-8F0C-469E-BA8E-1685CE1308A5}"/>
              </a:ext>
            </a:extLst>
          </p:cNvPr>
          <p:cNvSpPr>
            <a:spLocks xmlns:a="http://schemas.openxmlformats.org/drawingml/2006/main" noGrp="1"/>
          </p:cNvSpPr>
          <p:nvPr/>
        </p:nvSpPr>
        <p:spPr>
          <a:xfrm xmlns:a="http://schemas.openxmlformats.org/drawingml/2006/main">
            <a:off x="16497300" y="8471669"/>
            <a:ext cx="876300" cy="32191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2100">
                <a:solidFill>
                  <a:srgbClr val="202C35"/>
                </a:solidFill>
                <a:latin typeface="Courier New"/>
                <a:ea typeface="Courier New"/>
                <a:cs typeface="Courier New"/>
              </a:rPr>
              <a:t>0.769</a:t>
            </a:r>
            <a:endParaRPr sz="2100"/>
          </a:p>
        </p:txBody>
      </p:sp>
      <p:sp>
        <p:nvSpPr>
          <p:cNvPr id="22" name="Text 19">
            <a:extLst xmlns:a="http://schemas.openxmlformats.org/drawingml/2006/main">
              <a:ext uri="{FF2B5EF4-FFF2-40B4-BE49-F238E27FC236}">
                <a16:creationId xmlns:a16="http://schemas.microsoft.com/office/drawing/2014/main" id="{BF3A6D2B-CB51-41E7-8F6D-14BA8D601CA3}"/>
              </a:ext>
            </a:extLst>
          </p:cNvPr>
          <p:cNvSpPr>
            <a:spLocks xmlns:a="http://schemas.openxmlformats.org/drawingml/2006/main" noGrp="1"/>
          </p:cNvSpPr>
          <p:nvPr/>
        </p:nvSpPr>
        <p:spPr>
          <a:xfrm xmlns:a="http://schemas.openxmlformats.org/drawingml/2006/main">
            <a:off x="11811000" y="8888834"/>
            <a:ext cx="1656427" cy="32184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Residual s.e.</a:t>
            </a:r>
            <a:endParaRPr sz="2100"/>
          </a:p>
        </p:txBody>
      </p:sp>
      <p:sp>
        <p:nvSpPr>
          <p:cNvPr id="23" name="Text 20">
            <a:extLst xmlns:a="http://schemas.openxmlformats.org/drawingml/2006/main">
              <a:ext uri="{FF2B5EF4-FFF2-40B4-BE49-F238E27FC236}">
                <a16:creationId xmlns:a16="http://schemas.microsoft.com/office/drawing/2014/main" id="{C2AF876C-71FF-4CCA-AD38-B5088E5E7B86}"/>
              </a:ext>
            </a:extLst>
          </p:cNvPr>
          <p:cNvSpPr>
            <a:spLocks xmlns:a="http://schemas.openxmlformats.org/drawingml/2006/main" noGrp="1"/>
          </p:cNvSpPr>
          <p:nvPr/>
        </p:nvSpPr>
        <p:spPr>
          <a:xfrm xmlns:a="http://schemas.openxmlformats.org/drawingml/2006/main">
            <a:off x="16497300" y="8888834"/>
            <a:ext cx="876300" cy="32184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10000"/>
          </a:bodyPr>
          <a:lstStyle xmlns:a="http://schemas.openxmlformats.org/drawingml/2006/main"/>
          <a:p xmlns:a="http://schemas.openxmlformats.org/drawingml/2006/main">
            <a:pPr marL="0" indent="0" algn="l">
              <a:buNone/>
            </a:pPr>
            <a:r>
              <a:rPr sz="2100">
                <a:solidFill>
                  <a:srgbClr val="202C35"/>
                </a:solidFill>
                <a:latin typeface="Courier New"/>
                <a:ea typeface="Courier New"/>
                <a:cs typeface="Courier New"/>
              </a:rPr>
              <a:t>389 g</a:t>
            </a:r>
            <a:endParaRPr sz="2100"/>
          </a:p>
        </p:txBody>
      </p:sp>
      <p:sp>
        <p:nvSpPr>
          <p:cNvPr id="24" name="Text 21">
            <a:extLst xmlns:a="http://schemas.openxmlformats.org/drawingml/2006/main">
              <a:ext uri="{FF2B5EF4-FFF2-40B4-BE49-F238E27FC236}">
                <a16:creationId xmlns:a16="http://schemas.microsoft.com/office/drawing/2014/main" id="{34BA553C-AA6F-4EBC-9B02-12890721ADDB}"/>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25" name="Text 22">
            <a:extLst xmlns:a="http://schemas.openxmlformats.org/drawingml/2006/main">
              <a:ext uri="{FF2B5EF4-FFF2-40B4-BE49-F238E27FC236}">
                <a16:creationId xmlns:a16="http://schemas.microsoft.com/office/drawing/2014/main" id="{437C14A5-232B-4642-B79A-1D232CEF366D}"/>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10</a:t>
            </a:r>
            <a:endParaRPr sz="1800"/>
          </a:p>
        </p:txBody>
      </p:sp>
    </p:spTree>
    <p:extLst>
      <p:ext uri="{BB962C8B-B14F-4D97-AF65-F5344CB8AC3E}">
        <p14:creationId xmlns:p14="http://schemas.microsoft.com/office/powerpoint/2010/main" val="1731309249"/>
      </p:ext>
    </p:extLst>
  </p:cSld>
</p:sld>
</file>

<file path=ppt/slides/slide11.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6410BBE-A344-412C-8CF1-17625FA07C14}"/>
              </a:ext>
            </a:extLst>
          </p:cNvPr>
          <p:cNvSpPr>
            <a:spLocks xmlns:a="http://schemas.openxmlformats.org/drawingml/2006/main" noGrp="1"/>
          </p:cNvSpPr>
          <p:nvPr/>
        </p:nvSpPr>
        <p:spPr>
          <a:xfrm xmlns:a="http://schemas.openxmlformats.org/drawingml/2006/main">
            <a:off x="990600" y="766763"/>
            <a:ext cx="2124149"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VALIDATION</a:t>
            </a:r>
            <a:endParaRPr sz="1950"/>
          </a:p>
        </p:txBody>
      </p:sp>
      <p:sp>
        <p:nvSpPr>
          <p:cNvPr id="3" name="Text 1">
            <a:extLst xmlns:a="http://schemas.openxmlformats.org/drawingml/2006/main">
              <a:ext uri="{FF2B5EF4-FFF2-40B4-BE49-F238E27FC236}">
                <a16:creationId xmlns:a16="http://schemas.microsoft.com/office/drawing/2014/main" id="{0AA30D3F-9140-4F60-BDB1-E034C1698DB9}"/>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11</a:t>
            </a:r>
            <a:endParaRPr sz="1950"/>
          </a:p>
        </p:txBody>
      </p:sp>
      <p:sp>
        <p:nvSpPr>
          <p:cNvPr id="4" name="Shape 2">
            <a:extLst xmlns:a="http://schemas.openxmlformats.org/drawingml/2006/main">
              <a:ext uri="{FF2B5EF4-FFF2-40B4-BE49-F238E27FC236}">
                <a16:creationId xmlns:a16="http://schemas.microsoft.com/office/drawing/2014/main" id="{F3F359BA-EC4D-43F4-9708-67CE239F516F}"/>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F4157631-44E7-4555-8F11-1AE21576BDD3}"/>
              </a:ext>
            </a:extLst>
          </p:cNvPr>
          <p:cNvSpPr>
            <a:spLocks xmlns:a="http://schemas.openxmlformats.org/drawingml/2006/main" noGrp="1"/>
          </p:cNvSpPr>
          <p:nvPr/>
        </p:nvSpPr>
        <p:spPr>
          <a:xfrm xmlns:a="http://schemas.openxmlformats.org/drawingml/2006/main">
            <a:off x="990600" y="1500188"/>
            <a:ext cx="15304770" cy="139585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Added curvature buys 16 grams of accuracy, so we keep the straight line</a:t>
            </a:r>
            <a:endParaRPr sz="4950"/>
          </a:p>
        </p:txBody>
      </p:sp>
      <p:sp>
        <p:nvSpPr>
          <p:cNvPr id="6" name="Text 4">
            <a:extLst xmlns:a="http://schemas.openxmlformats.org/drawingml/2006/main">
              <a:ext uri="{FF2B5EF4-FFF2-40B4-BE49-F238E27FC236}">
                <a16:creationId xmlns:a16="http://schemas.microsoft.com/office/drawing/2014/main" id="{B71E163D-471A-4B61-A7D1-7675FEE7C163}"/>
              </a:ext>
            </a:extLst>
          </p:cNvPr>
          <p:cNvSpPr>
            <a:spLocks xmlns:a="http://schemas.openxmlformats.org/drawingml/2006/main" noGrp="1"/>
          </p:cNvSpPr>
          <p:nvPr/>
        </p:nvSpPr>
        <p:spPr>
          <a:xfrm xmlns:a="http://schemas.openxmlformats.org/drawingml/2006/main">
            <a:off x="990600" y="2991296"/>
            <a:ext cx="14716125" cy="8382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00">
                <a:solidFill>
                  <a:srgbClr val="516674"/>
                </a:solidFill>
                <a:latin typeface="Arial"/>
                <a:ea typeface="Arial"/>
                <a:cs typeface="Arial"/>
              </a:rPr>
              <a:t>Out-of-sample error for polynomials in flipper length. Cross-validated error falls from degree 1 to degree 4 and then breaks down.</a:t>
            </a:r>
            <a:endParaRPr sz="24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d9992b55b6a41ea">
            <a:extLst>
              <a:ext uri="{96DAC541-7B7A-43D3-8B79-37D633B846F1}">
                <asvg:svgBlip xmlns:asvg="http://schemas.microsoft.com/office/drawing/2016/SVG/main" r:embed="R611b48bc9f724454"/>
              </a:ext>
            </a:extLst>
          </a:blip>
          <a:stretch xmlns:a="http://schemas.openxmlformats.org/drawingml/2006/main">
            <a:fillRect l="0" t="0" r="0" b="0"/>
          </a:stretch>
        </p:blipFill>
        <p:spPr>
          <a:xfrm xmlns:a="http://schemas.openxmlformats.org/drawingml/2006/main">
            <a:off x="990600" y="4000946"/>
            <a:ext cx="9944100" cy="4789661"/>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1E400134-A8A4-4B42-A341-E4B6717CF05F}"/>
              </a:ext>
            </a:extLst>
          </p:cNvPr>
          <p:cNvSpPr>
            <a:spLocks xmlns:a="http://schemas.openxmlformats.org/drawingml/2006/main" noGrp="1"/>
          </p:cNvSpPr>
          <p:nvPr/>
        </p:nvSpPr>
        <p:spPr>
          <a:xfrm xmlns:a="http://schemas.openxmlformats.org/drawingml/2006/main">
            <a:off x="2419350" y="9029179"/>
            <a:ext cx="323850" cy="3810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9" name="Text 6">
            <a:extLst xmlns:a="http://schemas.openxmlformats.org/drawingml/2006/main">
              <a:ext uri="{FF2B5EF4-FFF2-40B4-BE49-F238E27FC236}">
                <a16:creationId xmlns:a16="http://schemas.microsoft.com/office/drawing/2014/main" id="{8BD67FC5-373F-4805-98DA-14164EDFC183}"/>
              </a:ext>
            </a:extLst>
          </p:cNvPr>
          <p:cNvSpPr>
            <a:spLocks xmlns:a="http://schemas.openxmlformats.org/drawingml/2006/main" noGrp="1"/>
          </p:cNvSpPr>
          <p:nvPr/>
        </p:nvSpPr>
        <p:spPr>
          <a:xfrm xmlns:a="http://schemas.openxmlformats.org/drawingml/2006/main">
            <a:off x="2857500" y="8881616"/>
            <a:ext cx="999009"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202C35"/>
                </a:solidFill>
                <a:latin typeface="Arial"/>
                <a:ea typeface="Arial"/>
                <a:cs typeface="Arial"/>
              </a:rPr>
              <a:t>Training</a:t>
            </a:r>
            <a:endParaRPr sz="2025"/>
          </a:p>
        </p:txBody>
      </p:sp>
      <p:sp>
        <p:nvSpPr>
          <p:cNvPr id="10" name="Shape 7">
            <a:extLst xmlns:a="http://schemas.openxmlformats.org/drawingml/2006/main">
              <a:ext uri="{FF2B5EF4-FFF2-40B4-BE49-F238E27FC236}">
                <a16:creationId xmlns:a16="http://schemas.microsoft.com/office/drawing/2014/main" id="{06CF0288-2396-4526-89CF-E08EE74016ED}"/>
              </a:ext>
            </a:extLst>
          </p:cNvPr>
          <p:cNvSpPr>
            <a:spLocks xmlns:a="http://schemas.openxmlformats.org/drawingml/2006/main" noGrp="1"/>
          </p:cNvSpPr>
          <p:nvPr/>
        </p:nvSpPr>
        <p:spPr>
          <a:xfrm xmlns:a="http://schemas.openxmlformats.org/drawingml/2006/main">
            <a:off x="4199409" y="9029179"/>
            <a:ext cx="323850" cy="3810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70A421D5-A7AE-4F87-ABA4-E1D78B7EEF44}"/>
              </a:ext>
            </a:extLst>
          </p:cNvPr>
          <p:cNvSpPr>
            <a:spLocks xmlns:a="http://schemas.openxmlformats.org/drawingml/2006/main" noGrp="1"/>
          </p:cNvSpPr>
          <p:nvPr/>
        </p:nvSpPr>
        <p:spPr>
          <a:xfrm xmlns:a="http://schemas.openxmlformats.org/drawingml/2006/main">
            <a:off x="4637559" y="8881616"/>
            <a:ext cx="877863"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85000" lnSpcReduction="10000"/>
          </a:bodyPr>
          <a:lstStyle xmlns:a="http://schemas.openxmlformats.org/drawingml/2006/main"/>
          <a:p xmlns:a="http://schemas.openxmlformats.org/drawingml/2006/main">
            <a:pPr marL="0" indent="0" algn="l">
              <a:buNone/>
            </a:pPr>
            <a:r>
              <a:rPr sz="2025">
                <a:solidFill>
                  <a:srgbClr val="202C35"/>
                </a:solidFill>
                <a:latin typeface="Arial"/>
                <a:ea typeface="Arial"/>
                <a:cs typeface="Arial"/>
              </a:rPr>
              <a:t>LOOCV</a:t>
            </a:r>
            <a:endParaRPr sz="2025"/>
          </a:p>
        </p:txBody>
      </p:sp>
      <p:sp>
        <p:nvSpPr>
          <p:cNvPr id="12" name="Shape 9">
            <a:extLst xmlns:a="http://schemas.openxmlformats.org/drawingml/2006/main">
              <a:ext uri="{FF2B5EF4-FFF2-40B4-BE49-F238E27FC236}">
                <a16:creationId xmlns:a16="http://schemas.microsoft.com/office/drawing/2014/main" id="{12293A2E-E5B4-4765-8173-39B2927175AD}"/>
              </a:ext>
            </a:extLst>
          </p:cNvPr>
          <p:cNvSpPr>
            <a:spLocks xmlns:a="http://schemas.openxmlformats.org/drawingml/2006/main" noGrp="1"/>
          </p:cNvSpPr>
          <p:nvPr/>
        </p:nvSpPr>
        <p:spPr>
          <a:xfrm xmlns:a="http://schemas.openxmlformats.org/drawingml/2006/main">
            <a:off x="5858321" y="9029179"/>
            <a:ext cx="323850" cy="38100"/>
          </a:xfrm>
          <a:prstGeom xmlns:a="http://schemas.openxmlformats.org/drawingml/2006/main" prst="rect">
            <a:avLst/>
          </a:prstGeom>
          <a:solidFill xmlns:a="http://schemas.openxmlformats.org/drawingml/2006/main">
            <a:srgbClr val="C86C5A"/>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11229C58-55CA-4CF8-80C9-8EE487734621}"/>
              </a:ext>
            </a:extLst>
          </p:cNvPr>
          <p:cNvSpPr>
            <a:spLocks xmlns:a="http://schemas.openxmlformats.org/drawingml/2006/main" noGrp="1"/>
          </p:cNvSpPr>
          <p:nvPr/>
        </p:nvSpPr>
        <p:spPr>
          <a:xfrm xmlns:a="http://schemas.openxmlformats.org/drawingml/2006/main">
            <a:off x="6296471" y="8881616"/>
            <a:ext cx="1357082"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202C35"/>
                </a:solidFill>
                <a:latin typeface="Arial"/>
                <a:ea typeface="Arial"/>
                <a:cs typeface="Arial"/>
              </a:rPr>
              <a:t>10-fold CV</a:t>
            </a:r>
            <a:endParaRPr sz="2025"/>
          </a:p>
        </p:txBody>
      </p:sp>
      <p:sp>
        <p:nvSpPr>
          <p:cNvPr id="14" name="Shape 11">
            <a:extLst xmlns:a="http://schemas.openxmlformats.org/drawingml/2006/main">
              <a:ext uri="{FF2B5EF4-FFF2-40B4-BE49-F238E27FC236}">
                <a16:creationId xmlns:a16="http://schemas.microsoft.com/office/drawing/2014/main" id="{0B83E2B8-E63D-4FA7-A078-B88121764206}"/>
              </a:ext>
            </a:extLst>
          </p:cNvPr>
          <p:cNvSpPr>
            <a:spLocks xmlns:a="http://schemas.openxmlformats.org/drawingml/2006/main" noGrp="1"/>
          </p:cNvSpPr>
          <p:nvPr/>
        </p:nvSpPr>
        <p:spPr>
          <a:xfrm xmlns:a="http://schemas.openxmlformats.org/drawingml/2006/main">
            <a:off x="11468100" y="4000946"/>
            <a:ext cx="2838376" cy="1304925"/>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F7C38717-83E7-4451-95BF-CCF66530BCD6}"/>
              </a:ext>
            </a:extLst>
          </p:cNvPr>
          <p:cNvSpPr>
            <a:spLocks xmlns:a="http://schemas.openxmlformats.org/drawingml/2006/main" noGrp="1"/>
          </p:cNvSpPr>
          <p:nvPr/>
        </p:nvSpPr>
        <p:spPr>
          <a:xfrm xmlns:a="http://schemas.openxmlformats.org/drawingml/2006/main">
            <a:off x="11715750" y="4229546"/>
            <a:ext cx="2577383" cy="3476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75">
                <a:solidFill>
                  <a:srgbClr val="516674"/>
                </a:solidFill>
                <a:latin typeface="Arial"/>
                <a:ea typeface="Arial"/>
                <a:cs typeface="Arial"/>
              </a:rPr>
              <a:t>Degree 1, LOOCV</a:t>
            </a:r>
            <a:endParaRPr sz="1875"/>
          </a:p>
        </p:txBody>
      </p:sp>
      <p:sp>
        <p:nvSpPr>
          <p:cNvPr id="16" name="Text 13">
            <a:extLst xmlns:a="http://schemas.openxmlformats.org/drawingml/2006/main">
              <a:ext uri="{FF2B5EF4-FFF2-40B4-BE49-F238E27FC236}">
                <a16:creationId xmlns:a16="http://schemas.microsoft.com/office/drawing/2014/main" id="{7085E1AA-8DA3-43EF-A160-927CDE7722DF}"/>
              </a:ext>
            </a:extLst>
          </p:cNvPr>
          <p:cNvSpPr>
            <a:spLocks xmlns:a="http://schemas.openxmlformats.org/drawingml/2006/main" noGrp="1"/>
          </p:cNvSpPr>
          <p:nvPr/>
        </p:nvSpPr>
        <p:spPr>
          <a:xfrm xmlns:a="http://schemas.openxmlformats.org/drawingml/2006/main">
            <a:off x="11715750" y="4577209"/>
            <a:ext cx="2577383" cy="5381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2105"/>
              </a:lnSpc>
              <a:buNone/>
            </a:pPr>
            <a:r>
              <a:rPr sz="3750">
                <a:solidFill>
                  <a:srgbClr val="202C35"/>
                </a:solidFill>
                <a:latin typeface="Georgia"/>
                <a:ea typeface="Georgia"/>
                <a:cs typeface="Georgia"/>
              </a:rPr>
              <a:t>390 g</a:t>
            </a:r>
            <a:endParaRPr sz="3750"/>
          </a:p>
        </p:txBody>
      </p:sp>
      <p:sp>
        <p:nvSpPr>
          <p:cNvPr id="17" name="Shape 14">
            <a:extLst xmlns:a="http://schemas.openxmlformats.org/drawingml/2006/main">
              <a:ext uri="{FF2B5EF4-FFF2-40B4-BE49-F238E27FC236}">
                <a16:creationId xmlns:a16="http://schemas.microsoft.com/office/drawing/2014/main" id="{23686947-0FA9-4AFF-B2C0-25587B1F5BB1}"/>
              </a:ext>
            </a:extLst>
          </p:cNvPr>
          <p:cNvSpPr>
            <a:spLocks xmlns:a="http://schemas.openxmlformats.org/drawingml/2006/main" noGrp="1"/>
          </p:cNvSpPr>
          <p:nvPr/>
        </p:nvSpPr>
        <p:spPr>
          <a:xfrm xmlns:a="http://schemas.openxmlformats.org/drawingml/2006/main">
            <a:off x="14458876" y="4000946"/>
            <a:ext cx="2838450" cy="1304925"/>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0D392FD8-5003-4E20-BCA9-5BB5A0B13544}"/>
              </a:ext>
            </a:extLst>
          </p:cNvPr>
          <p:cNvSpPr>
            <a:spLocks xmlns:a="http://schemas.openxmlformats.org/drawingml/2006/main" noGrp="1"/>
          </p:cNvSpPr>
          <p:nvPr/>
        </p:nvSpPr>
        <p:spPr>
          <a:xfrm xmlns:a="http://schemas.openxmlformats.org/drawingml/2006/main">
            <a:off x="14706526" y="4229546"/>
            <a:ext cx="2577465" cy="3476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75">
                <a:solidFill>
                  <a:srgbClr val="516674"/>
                </a:solidFill>
                <a:latin typeface="Arial"/>
                <a:ea typeface="Arial"/>
                <a:cs typeface="Arial"/>
              </a:rPr>
              <a:t>Degree 4, LOOCV</a:t>
            </a:r>
            <a:endParaRPr sz="1875"/>
          </a:p>
        </p:txBody>
      </p:sp>
      <p:sp>
        <p:nvSpPr>
          <p:cNvPr id="19" name="Text 16">
            <a:extLst xmlns:a="http://schemas.openxmlformats.org/drawingml/2006/main">
              <a:ext uri="{FF2B5EF4-FFF2-40B4-BE49-F238E27FC236}">
                <a16:creationId xmlns:a16="http://schemas.microsoft.com/office/drawing/2014/main" id="{3A0A0958-CE6F-4602-B284-FDFEF66B7E89}"/>
              </a:ext>
            </a:extLst>
          </p:cNvPr>
          <p:cNvSpPr>
            <a:spLocks xmlns:a="http://schemas.openxmlformats.org/drawingml/2006/main" noGrp="1"/>
          </p:cNvSpPr>
          <p:nvPr/>
        </p:nvSpPr>
        <p:spPr>
          <a:xfrm xmlns:a="http://schemas.openxmlformats.org/drawingml/2006/main">
            <a:off x="14706526" y="4577209"/>
            <a:ext cx="2577465" cy="5381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2105"/>
              </a:lnSpc>
              <a:buNone/>
            </a:pPr>
            <a:r>
              <a:rPr sz="3750">
                <a:solidFill>
                  <a:srgbClr val="202C35"/>
                </a:solidFill>
                <a:latin typeface="Georgia"/>
                <a:ea typeface="Georgia"/>
                <a:cs typeface="Georgia"/>
              </a:rPr>
              <a:t>374 g</a:t>
            </a:r>
            <a:endParaRPr sz="3750"/>
          </a:p>
        </p:txBody>
      </p:sp>
      <p:sp>
        <p:nvSpPr>
          <p:cNvPr id="20" name="Text 17">
            <a:extLst xmlns:a="http://schemas.openxmlformats.org/drawingml/2006/main">
              <a:ext uri="{FF2B5EF4-FFF2-40B4-BE49-F238E27FC236}">
                <a16:creationId xmlns:a16="http://schemas.microsoft.com/office/drawing/2014/main" id="{CFE322B5-6203-4A25-8FC7-51C4CCFE555D}"/>
              </a:ext>
            </a:extLst>
          </p:cNvPr>
          <p:cNvSpPr>
            <a:spLocks xmlns:a="http://schemas.openxmlformats.org/drawingml/2006/main" noGrp="1"/>
          </p:cNvSpPr>
          <p:nvPr/>
        </p:nvSpPr>
        <p:spPr>
          <a:xfrm xmlns:a="http://schemas.openxmlformats.org/drawingml/2006/main">
            <a:off x="11468100" y="5515421"/>
            <a:ext cx="6004102" cy="2040582"/>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5522"/>
              </a:lnSpc>
              <a:buNone/>
            </a:pPr>
            <a:r>
              <a:rPr sz="2175">
                <a:solidFill>
                  <a:srgbClr val="516674"/>
                </a:solidFill>
                <a:latin typeface="Arial"/>
                <a:ea typeface="Arial"/>
                <a:cs typeface="Arial"/>
              </a:rPr>
              <a:t>A 4% gain in root mean squared error, against coefficients we could no longer interpret. Beyond degree 4 the raw polynomial design is ill-conditioned and the two estimates disagree by more than the gain itself.</a:t>
            </a:r>
            <a:endParaRPr sz="2175"/>
          </a:p>
        </p:txBody>
      </p:sp>
      <p:sp>
        <p:nvSpPr>
          <p:cNvPr id="21" name="Text 18">
            <a:extLst xmlns:a="http://schemas.openxmlformats.org/drawingml/2006/main">
              <a:ext uri="{FF2B5EF4-FFF2-40B4-BE49-F238E27FC236}">
                <a16:creationId xmlns:a16="http://schemas.microsoft.com/office/drawing/2014/main" id="{B45F24FF-4C36-47BF-863C-3C37928122A7}"/>
              </a:ext>
            </a:extLst>
          </p:cNvPr>
          <p:cNvSpPr>
            <a:spLocks xmlns:a="http://schemas.openxmlformats.org/drawingml/2006/main" noGrp="1"/>
          </p:cNvSpPr>
          <p:nvPr/>
        </p:nvSpPr>
        <p:spPr>
          <a:xfrm xmlns:a="http://schemas.openxmlformats.org/drawingml/2006/main">
            <a:off x="11468100" y="7727454"/>
            <a:ext cx="6004102" cy="123958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5522"/>
              </a:lnSpc>
              <a:buNone/>
            </a:pPr>
            <a:r>
              <a:rPr sz="2175">
                <a:solidFill>
                  <a:srgbClr val="202C35"/>
                </a:solidFill>
                <a:latin typeface="Arial"/>
                <a:ea typeface="Arial"/>
                <a:cs typeface="Arial"/>
              </a:rPr>
              <a:t>Curvature is not what limits this model: adding species and sex is worth far more (appendix A3).</a:t>
            </a:r>
            <a:endParaRPr sz="2175"/>
          </a:p>
        </p:txBody>
      </p:sp>
      <p:sp>
        <p:nvSpPr>
          <p:cNvPr id="22" name="Text 19">
            <a:extLst xmlns:a="http://schemas.openxmlformats.org/drawingml/2006/main">
              <a:ext uri="{FF2B5EF4-FFF2-40B4-BE49-F238E27FC236}">
                <a16:creationId xmlns:a16="http://schemas.microsoft.com/office/drawing/2014/main" id="{2AC4F80B-5F24-4C21-BDF5-643BFD34B7A3}"/>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23" name="Text 20">
            <a:extLst xmlns:a="http://schemas.openxmlformats.org/drawingml/2006/main">
              <a:ext uri="{FF2B5EF4-FFF2-40B4-BE49-F238E27FC236}">
                <a16:creationId xmlns:a16="http://schemas.microsoft.com/office/drawing/2014/main" id="{17C7053B-A4AD-45EA-AE27-23BB4F4FCFE8}"/>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11</a:t>
            </a:r>
            <a:endParaRPr sz="1800"/>
          </a:p>
        </p:txBody>
      </p:sp>
    </p:spTree>
    <p:extLst>
      <p:ext uri="{BB962C8B-B14F-4D97-AF65-F5344CB8AC3E}">
        <p14:creationId xmlns:p14="http://schemas.microsoft.com/office/powerpoint/2010/main" val="623253246"/>
      </p:ext>
    </p:extLst>
  </p:cSld>
</p:sld>
</file>

<file path=ppt/slides/slide12.xml><?xml version="1.0" encoding="utf-8"?>
<p:sld xmlns:p="http://schemas.openxmlformats.org/presentationml/2006/main">
  <p:cSld>
    <p:bg>
      <p:bgPr>
        <a:solidFill xmlns:a="http://schemas.openxmlformats.org/drawingml/2006/main">
          <a:srgbClr val="B85C4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5577900-BD6A-4FB5-BEE0-3E671DE3B72C}"/>
              </a:ext>
            </a:extLst>
          </p:cNvPr>
          <p:cNvSpPr>
            <a:spLocks xmlns:a="http://schemas.openxmlformats.org/drawingml/2006/main" noGrp="1"/>
          </p:cNvSpPr>
          <p:nvPr/>
        </p:nvSpPr>
        <p:spPr>
          <a:xfrm xmlns:a="http://schemas.openxmlformats.org/drawingml/2006/main">
            <a:off x="990600" y="1042988"/>
            <a:ext cx="533400" cy="28575"/>
          </a:xfrm>
          <a:prstGeom xmlns:a="http://schemas.openxmlformats.org/drawingml/2006/main" prst="rect">
            <a:avLst/>
          </a:prstGeom>
          <a:solidFill xmlns:a="http://schemas.openxmlformats.org/drawingml/2006/main">
            <a:srgbClr val="F8F6F2"/>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ABA43880-DAE9-4441-852F-3F7CD76BA545}"/>
              </a:ext>
            </a:extLst>
          </p:cNvPr>
          <p:cNvSpPr>
            <a:spLocks xmlns:a="http://schemas.openxmlformats.org/drawingml/2006/main" noGrp="1"/>
          </p:cNvSpPr>
          <p:nvPr/>
        </p:nvSpPr>
        <p:spPr>
          <a:xfrm xmlns:a="http://schemas.openxmlformats.org/drawingml/2006/main">
            <a:off x="1714500" y="914400"/>
            <a:ext cx="1838556"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F6DED8"/>
                </a:solidFill>
                <a:latin typeface="Arial"/>
                <a:ea typeface="Arial"/>
                <a:cs typeface="Arial"/>
              </a:rPr>
              <a:t>PART TWO</a:t>
            </a:r>
            <a:endParaRPr sz="1950"/>
          </a:p>
        </p:txBody>
      </p:sp>
      <p:sp>
        <p:nvSpPr>
          <p:cNvPr id="4" name="Text 2">
            <a:extLst xmlns:a="http://schemas.openxmlformats.org/drawingml/2006/main">
              <a:ext uri="{FF2B5EF4-FFF2-40B4-BE49-F238E27FC236}">
                <a16:creationId xmlns:a16="http://schemas.microsoft.com/office/drawing/2014/main" id="{98440A64-67E8-4C53-88DF-3D5329DCEAD9}"/>
              </a:ext>
            </a:extLst>
          </p:cNvPr>
          <p:cNvSpPr>
            <a:spLocks xmlns:a="http://schemas.openxmlformats.org/drawingml/2006/main" noGrp="1"/>
          </p:cNvSpPr>
          <p:nvPr/>
        </p:nvSpPr>
        <p:spPr>
          <a:xfrm xmlns:a="http://schemas.openxmlformats.org/drawingml/2006/main">
            <a:off x="990600" y="3688184"/>
            <a:ext cx="17937480" cy="1085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8000"/>
              </a:lnSpc>
              <a:buNone/>
            </a:pPr>
            <a:r>
              <a:rPr sz="8250" spc="-165">
                <a:solidFill>
                  <a:srgbClr val="FFF8F5"/>
                </a:solidFill>
                <a:latin typeface="Georgia"/>
                <a:ea typeface="Georgia"/>
                <a:cs typeface="Georgia"/>
              </a:rPr>
              <a:t>Species and sex</a:t>
            </a:r>
            <a:endParaRPr sz="8250"/>
          </a:p>
        </p:txBody>
      </p:sp>
      <p:sp>
        <p:nvSpPr>
          <p:cNvPr id="5" name="Text 3">
            <a:extLst xmlns:a="http://schemas.openxmlformats.org/drawingml/2006/main">
              <a:ext uri="{FF2B5EF4-FFF2-40B4-BE49-F238E27FC236}">
                <a16:creationId xmlns:a16="http://schemas.microsoft.com/office/drawing/2014/main" id="{7ED6C42F-CA81-4C2A-9A74-32D5E7A8D634}"/>
              </a:ext>
            </a:extLst>
          </p:cNvPr>
          <p:cNvSpPr>
            <a:spLocks xmlns:a="http://schemas.openxmlformats.org/drawingml/2006/main" noGrp="1"/>
          </p:cNvSpPr>
          <p:nvPr/>
        </p:nvSpPr>
        <p:spPr>
          <a:xfrm xmlns:a="http://schemas.openxmlformats.org/drawingml/2006/main">
            <a:off x="990600" y="5021684"/>
            <a:ext cx="11772900" cy="1558156"/>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2299"/>
              </a:lnSpc>
              <a:buNone/>
            </a:pPr>
            <a:r>
              <a:rPr sz="2850">
                <a:solidFill>
                  <a:srgbClr val="F6DED8"/>
                </a:solidFill>
                <a:latin typeface="Arial"/>
                <a:ea typeface="Arial"/>
                <a:cs typeface="Arial"/>
              </a:rPr>
              <a:t>A two-way ANOVA on body mass, and what a significant interaction term actually means for the size difference between males and females.</a:t>
            </a:r>
            <a:endParaRPr sz="2850"/>
          </a:p>
        </p:txBody>
      </p:sp>
      <p:sp>
        <p:nvSpPr>
          <p:cNvPr id="6" name="Text 4">
            <a:extLst xmlns:a="http://schemas.openxmlformats.org/drawingml/2006/main">
              <a:ext uri="{FF2B5EF4-FFF2-40B4-BE49-F238E27FC236}">
                <a16:creationId xmlns:a16="http://schemas.microsoft.com/office/drawing/2014/main" id="{24DF95C4-42E9-4942-BD13-E1791B4C07D2}"/>
              </a:ext>
            </a:extLst>
          </p:cNvPr>
          <p:cNvSpPr>
            <a:spLocks xmlns:a="http://schemas.openxmlformats.org/drawingml/2006/main" noGrp="1"/>
          </p:cNvSpPr>
          <p:nvPr/>
        </p:nvSpPr>
        <p:spPr>
          <a:xfrm xmlns:a="http://schemas.openxmlformats.org/drawingml/2006/main">
            <a:off x="990600" y="9029700"/>
            <a:ext cx="281640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13 Two-way ANOVA</a:t>
            </a:r>
            <a:endParaRPr sz="2100"/>
          </a:p>
        </p:txBody>
      </p:sp>
      <p:sp>
        <p:nvSpPr>
          <p:cNvPr id="7" name="Text 5">
            <a:extLst xmlns:a="http://schemas.openxmlformats.org/drawingml/2006/main">
              <a:ext uri="{FF2B5EF4-FFF2-40B4-BE49-F238E27FC236}">
                <a16:creationId xmlns:a16="http://schemas.microsoft.com/office/drawing/2014/main" id="{6141B82C-3954-4079-91B1-D8CEFBAB0136}"/>
              </a:ext>
            </a:extLst>
          </p:cNvPr>
          <p:cNvSpPr>
            <a:spLocks xmlns:a="http://schemas.openxmlformats.org/drawingml/2006/main" noGrp="1"/>
          </p:cNvSpPr>
          <p:nvPr/>
        </p:nvSpPr>
        <p:spPr>
          <a:xfrm xmlns:a="http://schemas.openxmlformats.org/drawingml/2006/main">
            <a:off x="4084365" y="9029700"/>
            <a:ext cx="246434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14 Interaction</a:t>
            </a:r>
            <a:endParaRPr sz="2100"/>
          </a:p>
        </p:txBody>
      </p:sp>
    </p:spTree>
    <p:extLst>
      <p:ext uri="{BB962C8B-B14F-4D97-AF65-F5344CB8AC3E}">
        <p14:creationId xmlns:p14="http://schemas.microsoft.com/office/powerpoint/2010/main" val="336670635"/>
      </p:ext>
    </p:extLst>
  </p:cSld>
</p:sld>
</file>

<file path=ppt/slides/slide13.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30BF38-0862-4230-9D37-8140D03F36F7}"/>
              </a:ext>
            </a:extLst>
          </p:cNvPr>
          <p:cNvSpPr>
            <a:spLocks xmlns:a="http://schemas.openxmlformats.org/drawingml/2006/main" noGrp="1"/>
          </p:cNvSpPr>
          <p:nvPr/>
        </p:nvSpPr>
        <p:spPr>
          <a:xfrm xmlns:a="http://schemas.openxmlformats.org/drawingml/2006/main">
            <a:off x="990600" y="766763"/>
            <a:ext cx="3013837"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TWO-WAY ANOVA</a:t>
            </a:r>
            <a:endParaRPr sz="1950"/>
          </a:p>
        </p:txBody>
      </p:sp>
      <p:sp>
        <p:nvSpPr>
          <p:cNvPr id="3" name="Text 1">
            <a:extLst xmlns:a="http://schemas.openxmlformats.org/drawingml/2006/main">
              <a:ext uri="{FF2B5EF4-FFF2-40B4-BE49-F238E27FC236}">
                <a16:creationId xmlns:a16="http://schemas.microsoft.com/office/drawing/2014/main" id="{E79D7221-1B4C-4368-9741-27138F140160}"/>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13</a:t>
            </a:r>
            <a:endParaRPr sz="1950"/>
          </a:p>
        </p:txBody>
      </p:sp>
      <p:sp>
        <p:nvSpPr>
          <p:cNvPr id="4" name="Shape 2">
            <a:extLst xmlns:a="http://schemas.openxmlformats.org/drawingml/2006/main">
              <a:ext uri="{FF2B5EF4-FFF2-40B4-BE49-F238E27FC236}">
                <a16:creationId xmlns:a16="http://schemas.microsoft.com/office/drawing/2014/main" id="{A00CE156-777E-447D-8333-4F00C3F72F47}"/>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E58DFA1E-25DE-4256-A1B8-4105966EC6A0}"/>
              </a:ext>
            </a:extLst>
          </p:cNvPr>
          <p:cNvSpPr>
            <a:spLocks xmlns:a="http://schemas.openxmlformats.org/drawingml/2006/main" noGrp="1"/>
          </p:cNvSpPr>
          <p:nvPr/>
        </p:nvSpPr>
        <p:spPr>
          <a:xfrm xmlns:a="http://schemas.openxmlformats.org/drawingml/2006/main">
            <a:off x="990600" y="1500188"/>
            <a:ext cx="15304770" cy="139585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Species and sex both matter, and they do not act independently</a:t>
            </a:r>
            <a:endParaRPr sz="4950"/>
          </a:p>
        </p:txBody>
      </p:sp>
      <p:sp>
        <p:nvSpPr>
          <p:cNvPr id="6" name="Text 4">
            <a:extLst xmlns:a="http://schemas.openxmlformats.org/drawingml/2006/main">
              <a:ext uri="{FF2B5EF4-FFF2-40B4-BE49-F238E27FC236}">
                <a16:creationId xmlns:a16="http://schemas.microsoft.com/office/drawing/2014/main" id="{A026573C-3CED-442A-B116-95E26C8B660C}"/>
              </a:ext>
            </a:extLst>
          </p:cNvPr>
          <p:cNvSpPr>
            <a:spLocks xmlns:a="http://schemas.openxmlformats.org/drawingml/2006/main" noGrp="1"/>
          </p:cNvSpPr>
          <p:nvPr/>
        </p:nvSpPr>
        <p:spPr>
          <a:xfrm xmlns:a="http://schemas.openxmlformats.org/drawingml/2006/main">
            <a:off x="990600" y="3105596"/>
            <a:ext cx="9463966"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516674"/>
                </a:solidFill>
                <a:latin typeface="Arial"/>
                <a:ea typeface="Arial"/>
                <a:cs typeface="Arial"/>
              </a:rPr>
              <a:t>Mean body mass by species and sex, with 95% intervals</a:t>
            </a:r>
            <a:endParaRPr sz="2025"/>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c5a6c0bd8adc4864">
            <a:extLst>
              <a:ext uri="{96DAC541-7B7A-43D3-8B79-37D633B846F1}">
                <asvg:svgBlip xmlns:asvg="http://schemas.microsoft.com/office/drawing/2016/SVG/main" r:embed="Rcc78b4d28b26422d"/>
              </a:ext>
            </a:extLst>
          </a:blip>
          <a:stretch xmlns:a="http://schemas.openxmlformats.org/drawingml/2006/main">
            <a:fillRect l="0" t="0" r="0" b="0"/>
          </a:stretch>
        </p:blipFill>
        <p:spPr>
          <a:xfrm xmlns:a="http://schemas.openxmlformats.org/drawingml/2006/main">
            <a:off x="990600" y="3553271"/>
            <a:ext cx="8603605" cy="5544517"/>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6BD32D01-BA32-47D1-8093-264B2A9A0772}"/>
              </a:ext>
            </a:extLst>
          </p:cNvPr>
          <p:cNvSpPr>
            <a:spLocks xmlns:a="http://schemas.openxmlformats.org/drawingml/2006/main" noGrp="1"/>
          </p:cNvSpPr>
          <p:nvPr/>
        </p:nvSpPr>
        <p:spPr>
          <a:xfrm xmlns:a="http://schemas.openxmlformats.org/drawingml/2006/main">
            <a:off x="10127605" y="3534221"/>
            <a:ext cx="7169721" cy="1905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9" name="Text 6">
            <a:extLst xmlns:a="http://schemas.openxmlformats.org/drawingml/2006/main">
              <a:ext uri="{FF2B5EF4-FFF2-40B4-BE49-F238E27FC236}">
                <a16:creationId xmlns:a16="http://schemas.microsoft.com/office/drawing/2014/main" id="{33942048-7029-428A-B607-5C41FA0BA795}"/>
              </a:ext>
            </a:extLst>
          </p:cNvPr>
          <p:cNvSpPr>
            <a:spLocks xmlns:a="http://schemas.openxmlformats.org/drawingml/2006/main" noGrp="1"/>
          </p:cNvSpPr>
          <p:nvPr/>
        </p:nvSpPr>
        <p:spPr>
          <a:xfrm xmlns:a="http://schemas.openxmlformats.org/drawingml/2006/main">
            <a:off x="10127605" y="3105596"/>
            <a:ext cx="2652445" cy="314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75" b="1" spc="225">
                <a:solidFill>
                  <a:srgbClr val="516674"/>
                </a:solidFill>
                <a:latin typeface="Arial"/>
                <a:ea typeface="Arial"/>
                <a:cs typeface="Arial"/>
              </a:rPr>
              <a:t>SOURCE</a:t>
            </a:r>
            <a:endParaRPr sz="1875"/>
          </a:p>
        </p:txBody>
      </p:sp>
      <p:sp>
        <p:nvSpPr>
          <p:cNvPr id="10" name="Text 7">
            <a:extLst xmlns:a="http://schemas.openxmlformats.org/drawingml/2006/main">
              <a:ext uri="{FF2B5EF4-FFF2-40B4-BE49-F238E27FC236}">
                <a16:creationId xmlns:a16="http://schemas.microsoft.com/office/drawing/2014/main" id="{EE9AC152-65FF-4EBB-A189-3B53808381DB}"/>
              </a:ext>
            </a:extLst>
          </p:cNvPr>
          <p:cNvSpPr>
            <a:spLocks xmlns:a="http://schemas.openxmlformats.org/drawingml/2006/main" noGrp="1"/>
          </p:cNvSpPr>
          <p:nvPr/>
        </p:nvSpPr>
        <p:spPr>
          <a:xfrm xmlns:a="http://schemas.openxmlformats.org/drawingml/2006/main">
            <a:off x="12634168" y="3105596"/>
            <a:ext cx="944314" cy="314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875" b="1" spc="225">
                <a:solidFill>
                  <a:srgbClr val="516674"/>
                </a:solidFill>
                <a:latin typeface="Arial"/>
                <a:ea typeface="Arial"/>
                <a:cs typeface="Arial"/>
              </a:rPr>
              <a:t>DF</a:t>
            </a:r>
            <a:endParaRPr sz="1875"/>
          </a:p>
        </p:txBody>
      </p:sp>
      <p:sp>
        <p:nvSpPr>
          <p:cNvPr id="11" name="Text 8">
            <a:extLst xmlns:a="http://schemas.openxmlformats.org/drawingml/2006/main">
              <a:ext uri="{FF2B5EF4-FFF2-40B4-BE49-F238E27FC236}">
                <a16:creationId xmlns:a16="http://schemas.microsoft.com/office/drawing/2014/main" id="{44A1811B-F726-4695-A456-0CE4567E6678}"/>
              </a:ext>
            </a:extLst>
          </p:cNvPr>
          <p:cNvSpPr>
            <a:spLocks xmlns:a="http://schemas.openxmlformats.org/drawingml/2006/main" noGrp="1"/>
          </p:cNvSpPr>
          <p:nvPr/>
        </p:nvSpPr>
        <p:spPr>
          <a:xfrm xmlns:a="http://schemas.openxmlformats.org/drawingml/2006/main">
            <a:off x="13585961" y="3105596"/>
            <a:ext cx="1803685" cy="314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875" b="1" spc="225">
                <a:solidFill>
                  <a:srgbClr val="516674"/>
                </a:solidFill>
                <a:latin typeface="Arial"/>
                <a:ea typeface="Arial"/>
                <a:cs typeface="Arial"/>
              </a:rPr>
              <a:t>F</a:t>
            </a:r>
            <a:endParaRPr sz="1875"/>
          </a:p>
        </p:txBody>
      </p:sp>
      <p:sp>
        <p:nvSpPr>
          <p:cNvPr id="12" name="Text 9">
            <a:extLst xmlns:a="http://schemas.openxmlformats.org/drawingml/2006/main">
              <a:ext uri="{FF2B5EF4-FFF2-40B4-BE49-F238E27FC236}">
                <a16:creationId xmlns:a16="http://schemas.microsoft.com/office/drawing/2014/main" id="{38DF883C-17B7-4314-A833-497B0336FEB5}"/>
              </a:ext>
            </a:extLst>
          </p:cNvPr>
          <p:cNvSpPr>
            <a:spLocks xmlns:a="http://schemas.openxmlformats.org/drawingml/2006/main" noGrp="1"/>
          </p:cNvSpPr>
          <p:nvPr/>
        </p:nvSpPr>
        <p:spPr>
          <a:xfrm xmlns:a="http://schemas.openxmlformats.org/drawingml/2006/main">
            <a:off x="15387481" y="3105596"/>
            <a:ext cx="1909770" cy="314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875" b="1" spc="225">
                <a:solidFill>
                  <a:srgbClr val="516674"/>
                </a:solidFill>
                <a:latin typeface="Arial"/>
                <a:ea typeface="Arial"/>
                <a:cs typeface="Arial"/>
              </a:rPr>
              <a:t>P</a:t>
            </a:r>
            <a:endParaRPr sz="1875"/>
          </a:p>
        </p:txBody>
      </p:sp>
      <p:sp>
        <p:nvSpPr>
          <p:cNvPr id="13" name="Shape 10">
            <a:extLst xmlns:a="http://schemas.openxmlformats.org/drawingml/2006/main">
              <a:ext uri="{FF2B5EF4-FFF2-40B4-BE49-F238E27FC236}">
                <a16:creationId xmlns:a16="http://schemas.microsoft.com/office/drawing/2014/main" id="{C3D9981C-4574-487B-B3A9-ED551AC9C05F}"/>
              </a:ext>
            </a:extLst>
          </p:cNvPr>
          <p:cNvSpPr>
            <a:spLocks xmlns:a="http://schemas.openxmlformats.org/drawingml/2006/main" noGrp="1"/>
          </p:cNvSpPr>
          <p:nvPr/>
        </p:nvSpPr>
        <p:spPr>
          <a:xfrm xmlns:a="http://schemas.openxmlformats.org/drawingml/2006/main">
            <a:off x="10127605" y="4396234"/>
            <a:ext cx="7169721"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8723FFAF-6520-40CE-BEF3-6A4C227DF1F2}"/>
              </a:ext>
            </a:extLst>
          </p:cNvPr>
          <p:cNvSpPr>
            <a:spLocks xmlns:a="http://schemas.openxmlformats.org/drawingml/2006/main" noGrp="1"/>
          </p:cNvSpPr>
          <p:nvPr/>
        </p:nvSpPr>
        <p:spPr>
          <a:xfrm xmlns:a="http://schemas.openxmlformats.org/drawingml/2006/main">
            <a:off x="10127605" y="3781871"/>
            <a:ext cx="2652445"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325">
                <a:solidFill>
                  <a:srgbClr val="202C35"/>
                </a:solidFill>
                <a:latin typeface="Arial"/>
                <a:ea typeface="Arial"/>
                <a:cs typeface="Arial"/>
              </a:rPr>
              <a:t>Species</a:t>
            </a:r>
            <a:endParaRPr sz="2325"/>
          </a:p>
        </p:txBody>
      </p:sp>
      <p:sp>
        <p:nvSpPr>
          <p:cNvPr id="15" name="Text 12">
            <a:extLst xmlns:a="http://schemas.openxmlformats.org/drawingml/2006/main">
              <a:ext uri="{FF2B5EF4-FFF2-40B4-BE49-F238E27FC236}">
                <a16:creationId xmlns:a16="http://schemas.microsoft.com/office/drawing/2014/main" id="{50ED1852-33D7-44C0-A81B-7F1F6706ECE9}"/>
              </a:ext>
            </a:extLst>
          </p:cNvPr>
          <p:cNvSpPr>
            <a:spLocks xmlns:a="http://schemas.openxmlformats.org/drawingml/2006/main" noGrp="1"/>
          </p:cNvSpPr>
          <p:nvPr/>
        </p:nvSpPr>
        <p:spPr>
          <a:xfrm xmlns:a="http://schemas.openxmlformats.org/drawingml/2006/main">
            <a:off x="12634168" y="3781871"/>
            <a:ext cx="944314"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325">
                <a:solidFill>
                  <a:srgbClr val="202C35"/>
                </a:solidFill>
                <a:latin typeface="Courier New"/>
                <a:ea typeface="Courier New"/>
                <a:cs typeface="Courier New"/>
              </a:rPr>
              <a:t>2</a:t>
            </a:r>
            <a:endParaRPr sz="2325"/>
          </a:p>
        </p:txBody>
      </p:sp>
      <p:sp>
        <p:nvSpPr>
          <p:cNvPr id="16" name="Text 13">
            <a:extLst xmlns:a="http://schemas.openxmlformats.org/drawingml/2006/main">
              <a:ext uri="{FF2B5EF4-FFF2-40B4-BE49-F238E27FC236}">
                <a16:creationId xmlns:a16="http://schemas.microsoft.com/office/drawing/2014/main" id="{A6A0DBAC-327F-4A16-83CB-A9DF1834D3DA}"/>
              </a:ext>
            </a:extLst>
          </p:cNvPr>
          <p:cNvSpPr>
            <a:spLocks xmlns:a="http://schemas.openxmlformats.org/drawingml/2006/main" noGrp="1"/>
          </p:cNvSpPr>
          <p:nvPr/>
        </p:nvSpPr>
        <p:spPr>
          <a:xfrm xmlns:a="http://schemas.openxmlformats.org/drawingml/2006/main">
            <a:off x="13585961" y="3781871"/>
            <a:ext cx="1803685"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325">
                <a:solidFill>
                  <a:srgbClr val="202C35"/>
                </a:solidFill>
                <a:latin typeface="Courier New"/>
                <a:ea typeface="Courier New"/>
                <a:cs typeface="Courier New"/>
              </a:rPr>
              <a:t>752.3</a:t>
            </a:r>
            <a:endParaRPr sz="2325"/>
          </a:p>
        </p:txBody>
      </p:sp>
      <p:sp>
        <p:nvSpPr>
          <p:cNvPr id="17" name="Text 14">
            <a:extLst xmlns:a="http://schemas.openxmlformats.org/drawingml/2006/main">
              <a:ext uri="{FF2B5EF4-FFF2-40B4-BE49-F238E27FC236}">
                <a16:creationId xmlns:a16="http://schemas.microsoft.com/office/drawing/2014/main" id="{4C0C5304-D208-4880-9930-E8929D992B0A}"/>
              </a:ext>
            </a:extLst>
          </p:cNvPr>
          <p:cNvSpPr>
            <a:spLocks xmlns:a="http://schemas.openxmlformats.org/drawingml/2006/main" noGrp="1"/>
          </p:cNvSpPr>
          <p:nvPr/>
        </p:nvSpPr>
        <p:spPr>
          <a:xfrm xmlns:a="http://schemas.openxmlformats.org/drawingml/2006/main">
            <a:off x="15387481" y="3815209"/>
            <a:ext cx="190977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&lt;2e−16</a:t>
            </a:r>
            <a:endParaRPr sz="2100"/>
          </a:p>
        </p:txBody>
      </p:sp>
      <p:sp>
        <p:nvSpPr>
          <p:cNvPr id="18" name="Shape 15">
            <a:extLst xmlns:a="http://schemas.openxmlformats.org/drawingml/2006/main">
              <a:ext uri="{FF2B5EF4-FFF2-40B4-BE49-F238E27FC236}">
                <a16:creationId xmlns:a16="http://schemas.microsoft.com/office/drawing/2014/main" id="{13C062CD-B035-4640-AFB0-90DA53EFA66D}"/>
              </a:ext>
            </a:extLst>
          </p:cNvPr>
          <p:cNvSpPr>
            <a:spLocks xmlns:a="http://schemas.openxmlformats.org/drawingml/2006/main" noGrp="1"/>
          </p:cNvSpPr>
          <p:nvPr/>
        </p:nvSpPr>
        <p:spPr>
          <a:xfrm xmlns:a="http://schemas.openxmlformats.org/drawingml/2006/main">
            <a:off x="10127605" y="5248721"/>
            <a:ext cx="7169721"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22FA3F7A-A3FB-4181-B3CD-6BED9509F2C3}"/>
              </a:ext>
            </a:extLst>
          </p:cNvPr>
          <p:cNvSpPr>
            <a:spLocks xmlns:a="http://schemas.openxmlformats.org/drawingml/2006/main" noGrp="1"/>
          </p:cNvSpPr>
          <p:nvPr/>
        </p:nvSpPr>
        <p:spPr>
          <a:xfrm xmlns:a="http://schemas.openxmlformats.org/drawingml/2006/main">
            <a:off x="10127605" y="4634359"/>
            <a:ext cx="2652445"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325">
                <a:solidFill>
                  <a:srgbClr val="202C35"/>
                </a:solidFill>
                <a:latin typeface="Arial"/>
                <a:ea typeface="Arial"/>
                <a:cs typeface="Arial"/>
              </a:rPr>
              <a:t>Sex</a:t>
            </a:r>
            <a:endParaRPr sz="2325"/>
          </a:p>
        </p:txBody>
      </p:sp>
      <p:sp>
        <p:nvSpPr>
          <p:cNvPr id="20" name="Text 17">
            <a:extLst xmlns:a="http://schemas.openxmlformats.org/drawingml/2006/main">
              <a:ext uri="{FF2B5EF4-FFF2-40B4-BE49-F238E27FC236}">
                <a16:creationId xmlns:a16="http://schemas.microsoft.com/office/drawing/2014/main" id="{0208E1CA-69C1-4480-8143-874EF9761689}"/>
              </a:ext>
            </a:extLst>
          </p:cNvPr>
          <p:cNvSpPr>
            <a:spLocks xmlns:a="http://schemas.openxmlformats.org/drawingml/2006/main" noGrp="1"/>
          </p:cNvSpPr>
          <p:nvPr/>
        </p:nvSpPr>
        <p:spPr>
          <a:xfrm xmlns:a="http://schemas.openxmlformats.org/drawingml/2006/main">
            <a:off x="12634168" y="4634359"/>
            <a:ext cx="944314"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325">
                <a:solidFill>
                  <a:srgbClr val="202C35"/>
                </a:solidFill>
                <a:latin typeface="Courier New"/>
                <a:ea typeface="Courier New"/>
                <a:cs typeface="Courier New"/>
              </a:rPr>
              <a:t>1</a:t>
            </a:r>
            <a:endParaRPr sz="2325"/>
          </a:p>
        </p:txBody>
      </p:sp>
      <p:sp>
        <p:nvSpPr>
          <p:cNvPr id="21" name="Text 18">
            <a:extLst xmlns:a="http://schemas.openxmlformats.org/drawingml/2006/main">
              <a:ext uri="{FF2B5EF4-FFF2-40B4-BE49-F238E27FC236}">
                <a16:creationId xmlns:a16="http://schemas.microsoft.com/office/drawing/2014/main" id="{67E4689C-9F5B-42BA-B57C-7B09B3D1EBBD}"/>
              </a:ext>
            </a:extLst>
          </p:cNvPr>
          <p:cNvSpPr>
            <a:spLocks xmlns:a="http://schemas.openxmlformats.org/drawingml/2006/main" noGrp="1"/>
          </p:cNvSpPr>
          <p:nvPr/>
        </p:nvSpPr>
        <p:spPr>
          <a:xfrm xmlns:a="http://schemas.openxmlformats.org/drawingml/2006/main">
            <a:off x="13585961" y="4634359"/>
            <a:ext cx="1803685"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325">
                <a:solidFill>
                  <a:srgbClr val="202C35"/>
                </a:solidFill>
                <a:latin typeface="Courier New"/>
                <a:ea typeface="Courier New"/>
                <a:cs typeface="Courier New"/>
              </a:rPr>
              <a:t>388.1</a:t>
            </a:r>
            <a:endParaRPr sz="2325"/>
          </a:p>
        </p:txBody>
      </p:sp>
      <p:sp>
        <p:nvSpPr>
          <p:cNvPr id="22" name="Text 19">
            <a:extLst xmlns:a="http://schemas.openxmlformats.org/drawingml/2006/main">
              <a:ext uri="{FF2B5EF4-FFF2-40B4-BE49-F238E27FC236}">
                <a16:creationId xmlns:a16="http://schemas.microsoft.com/office/drawing/2014/main" id="{67678880-DB5B-47FD-96D7-CE0B48049500}"/>
              </a:ext>
            </a:extLst>
          </p:cNvPr>
          <p:cNvSpPr>
            <a:spLocks xmlns:a="http://schemas.openxmlformats.org/drawingml/2006/main" noGrp="1"/>
          </p:cNvSpPr>
          <p:nvPr/>
        </p:nvSpPr>
        <p:spPr>
          <a:xfrm xmlns:a="http://schemas.openxmlformats.org/drawingml/2006/main">
            <a:off x="15387481" y="4667696"/>
            <a:ext cx="190977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&lt;2e−16</a:t>
            </a:r>
            <a:endParaRPr sz="2100"/>
          </a:p>
        </p:txBody>
      </p:sp>
      <p:sp>
        <p:nvSpPr>
          <p:cNvPr id="23" name="Shape 20">
            <a:extLst xmlns:a="http://schemas.openxmlformats.org/drawingml/2006/main">
              <a:ext uri="{FF2B5EF4-FFF2-40B4-BE49-F238E27FC236}">
                <a16:creationId xmlns:a16="http://schemas.microsoft.com/office/drawing/2014/main" id="{D740BBD9-AF29-4C6B-BBDD-B26DA5208A70}"/>
              </a:ext>
            </a:extLst>
          </p:cNvPr>
          <p:cNvSpPr>
            <a:spLocks xmlns:a="http://schemas.openxmlformats.org/drawingml/2006/main" noGrp="1"/>
          </p:cNvSpPr>
          <p:nvPr/>
        </p:nvSpPr>
        <p:spPr>
          <a:xfrm xmlns:a="http://schemas.openxmlformats.org/drawingml/2006/main">
            <a:off x="10127605" y="5258246"/>
            <a:ext cx="7169721" cy="852488"/>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24" name="Shape 21">
            <a:extLst xmlns:a="http://schemas.openxmlformats.org/drawingml/2006/main">
              <a:ext uri="{FF2B5EF4-FFF2-40B4-BE49-F238E27FC236}">
                <a16:creationId xmlns:a16="http://schemas.microsoft.com/office/drawing/2014/main" id="{1860F201-B434-4253-98D2-20ADA2A30CD9}"/>
              </a:ext>
            </a:extLst>
          </p:cNvPr>
          <p:cNvSpPr>
            <a:spLocks xmlns:a="http://schemas.openxmlformats.org/drawingml/2006/main" noGrp="1"/>
          </p:cNvSpPr>
          <p:nvPr/>
        </p:nvSpPr>
        <p:spPr>
          <a:xfrm xmlns:a="http://schemas.openxmlformats.org/drawingml/2006/main">
            <a:off x="10127605" y="6101209"/>
            <a:ext cx="7169721"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5" name="Text 22">
            <a:extLst xmlns:a="http://schemas.openxmlformats.org/drawingml/2006/main">
              <a:ext uri="{FF2B5EF4-FFF2-40B4-BE49-F238E27FC236}">
                <a16:creationId xmlns:a16="http://schemas.microsoft.com/office/drawing/2014/main" id="{522DCA65-EABA-47D9-B843-0C40EA8CEA92}"/>
              </a:ext>
            </a:extLst>
          </p:cNvPr>
          <p:cNvSpPr>
            <a:spLocks xmlns:a="http://schemas.openxmlformats.org/drawingml/2006/main" noGrp="1"/>
          </p:cNvSpPr>
          <p:nvPr/>
        </p:nvSpPr>
        <p:spPr>
          <a:xfrm xmlns:a="http://schemas.openxmlformats.org/drawingml/2006/main">
            <a:off x="10260955" y="5520184"/>
            <a:ext cx="2519095" cy="3762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2325" b="1">
                <a:solidFill>
                  <a:srgbClr val="202C35"/>
                </a:solidFill>
                <a:latin typeface="Arial"/>
                <a:ea typeface="Arial"/>
                <a:cs typeface="Arial"/>
              </a:rPr>
              <a:t>Species × sex</a:t>
            </a:r>
            <a:endParaRPr sz="2325"/>
          </a:p>
        </p:txBody>
      </p:sp>
      <p:sp>
        <p:nvSpPr>
          <p:cNvPr id="26" name="Text 23">
            <a:extLst xmlns:a="http://schemas.openxmlformats.org/drawingml/2006/main">
              <a:ext uri="{FF2B5EF4-FFF2-40B4-BE49-F238E27FC236}">
                <a16:creationId xmlns:a16="http://schemas.microsoft.com/office/drawing/2014/main" id="{BA45B708-009D-42CF-AA46-12B8E016DF31}"/>
              </a:ext>
            </a:extLst>
          </p:cNvPr>
          <p:cNvSpPr>
            <a:spLocks xmlns:a="http://schemas.openxmlformats.org/drawingml/2006/main" noGrp="1"/>
          </p:cNvSpPr>
          <p:nvPr/>
        </p:nvSpPr>
        <p:spPr>
          <a:xfrm xmlns:a="http://schemas.openxmlformats.org/drawingml/2006/main">
            <a:off x="12634168" y="5486846"/>
            <a:ext cx="944314"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325">
                <a:solidFill>
                  <a:srgbClr val="202C35"/>
                </a:solidFill>
                <a:latin typeface="Courier New"/>
                <a:ea typeface="Courier New"/>
                <a:cs typeface="Courier New"/>
              </a:rPr>
              <a:t>2</a:t>
            </a:r>
            <a:endParaRPr sz="2325"/>
          </a:p>
        </p:txBody>
      </p:sp>
      <p:sp>
        <p:nvSpPr>
          <p:cNvPr id="27" name="Text 24">
            <a:extLst xmlns:a="http://schemas.openxmlformats.org/drawingml/2006/main">
              <a:ext uri="{FF2B5EF4-FFF2-40B4-BE49-F238E27FC236}">
                <a16:creationId xmlns:a16="http://schemas.microsoft.com/office/drawing/2014/main" id="{72F2831E-0223-424C-BADF-C251EA808F14}"/>
              </a:ext>
            </a:extLst>
          </p:cNvPr>
          <p:cNvSpPr>
            <a:spLocks xmlns:a="http://schemas.openxmlformats.org/drawingml/2006/main" noGrp="1"/>
          </p:cNvSpPr>
          <p:nvPr/>
        </p:nvSpPr>
        <p:spPr>
          <a:xfrm xmlns:a="http://schemas.openxmlformats.org/drawingml/2006/main">
            <a:off x="13585961" y="5486846"/>
            <a:ext cx="1803685"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325">
                <a:solidFill>
                  <a:srgbClr val="C86C5A"/>
                </a:solidFill>
                <a:latin typeface="Courier New"/>
                <a:ea typeface="Courier New"/>
                <a:cs typeface="Courier New"/>
              </a:rPr>
              <a:t>8.94</a:t>
            </a:r>
            <a:endParaRPr sz="2325"/>
          </a:p>
        </p:txBody>
      </p:sp>
      <p:sp>
        <p:nvSpPr>
          <p:cNvPr id="28" name="Text 25">
            <a:extLst xmlns:a="http://schemas.openxmlformats.org/drawingml/2006/main">
              <a:ext uri="{FF2B5EF4-FFF2-40B4-BE49-F238E27FC236}">
                <a16:creationId xmlns:a16="http://schemas.microsoft.com/office/drawing/2014/main" id="{8659F8A6-2C1D-4181-BCCD-B956C88BC86D}"/>
              </a:ext>
            </a:extLst>
          </p:cNvPr>
          <p:cNvSpPr>
            <a:spLocks xmlns:a="http://schemas.openxmlformats.org/drawingml/2006/main" noGrp="1"/>
          </p:cNvSpPr>
          <p:nvPr/>
        </p:nvSpPr>
        <p:spPr>
          <a:xfrm xmlns:a="http://schemas.openxmlformats.org/drawingml/2006/main">
            <a:off x="15387481" y="5520184"/>
            <a:ext cx="190977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C86C5A"/>
                </a:solidFill>
                <a:latin typeface="Courier New"/>
                <a:ea typeface="Courier New"/>
                <a:cs typeface="Courier New"/>
              </a:rPr>
              <a:t>0.000166</a:t>
            </a:r>
            <a:endParaRPr sz="2100"/>
          </a:p>
        </p:txBody>
      </p:sp>
      <p:sp>
        <p:nvSpPr>
          <p:cNvPr id="29" name="Text 26">
            <a:extLst xmlns:a="http://schemas.openxmlformats.org/drawingml/2006/main">
              <a:ext uri="{FF2B5EF4-FFF2-40B4-BE49-F238E27FC236}">
                <a16:creationId xmlns:a16="http://schemas.microsoft.com/office/drawing/2014/main" id="{EC40E5E7-3B01-4C58-9819-2078A7F23D2F}"/>
              </a:ext>
            </a:extLst>
          </p:cNvPr>
          <p:cNvSpPr>
            <a:spLocks xmlns:a="http://schemas.openxmlformats.org/drawingml/2006/main" noGrp="1"/>
          </p:cNvSpPr>
          <p:nvPr/>
        </p:nvSpPr>
        <p:spPr>
          <a:xfrm xmlns:a="http://schemas.openxmlformats.org/drawingml/2006/main">
            <a:off x="10127605" y="6339334"/>
            <a:ext cx="2652445"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325">
                <a:solidFill>
                  <a:srgbClr val="516674"/>
                </a:solidFill>
                <a:latin typeface="Arial"/>
                <a:ea typeface="Arial"/>
                <a:cs typeface="Arial"/>
              </a:rPr>
              <a:t>Residuals</a:t>
            </a:r>
            <a:endParaRPr sz="2325"/>
          </a:p>
        </p:txBody>
      </p:sp>
      <p:sp>
        <p:nvSpPr>
          <p:cNvPr id="30" name="Text 27">
            <a:extLst xmlns:a="http://schemas.openxmlformats.org/drawingml/2006/main">
              <a:ext uri="{FF2B5EF4-FFF2-40B4-BE49-F238E27FC236}">
                <a16:creationId xmlns:a16="http://schemas.microsoft.com/office/drawing/2014/main" id="{1A70D20F-1CCC-4B9E-BCC5-E159F4B2E823}"/>
              </a:ext>
            </a:extLst>
          </p:cNvPr>
          <p:cNvSpPr>
            <a:spLocks xmlns:a="http://schemas.openxmlformats.org/drawingml/2006/main" noGrp="1"/>
          </p:cNvSpPr>
          <p:nvPr/>
        </p:nvSpPr>
        <p:spPr>
          <a:xfrm xmlns:a="http://schemas.openxmlformats.org/drawingml/2006/main">
            <a:off x="12634168" y="6339334"/>
            <a:ext cx="944314"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325">
                <a:solidFill>
                  <a:srgbClr val="516674"/>
                </a:solidFill>
                <a:latin typeface="Courier New"/>
                <a:ea typeface="Courier New"/>
                <a:cs typeface="Courier New"/>
              </a:rPr>
              <a:t>318</a:t>
            </a:r>
            <a:endParaRPr sz="2325"/>
          </a:p>
        </p:txBody>
      </p:sp>
      <p:sp>
        <p:nvSpPr>
          <p:cNvPr id="31" name="Text 28">
            <a:extLst xmlns:a="http://schemas.openxmlformats.org/drawingml/2006/main">
              <a:ext uri="{FF2B5EF4-FFF2-40B4-BE49-F238E27FC236}">
                <a16:creationId xmlns:a16="http://schemas.microsoft.com/office/drawing/2014/main" id="{900C113B-1925-43CC-9F1E-CF207FAADC00}"/>
              </a:ext>
            </a:extLst>
          </p:cNvPr>
          <p:cNvSpPr>
            <a:spLocks xmlns:a="http://schemas.openxmlformats.org/drawingml/2006/main" noGrp="1"/>
          </p:cNvSpPr>
          <p:nvPr/>
        </p:nvSpPr>
        <p:spPr>
          <a:xfrm xmlns:a="http://schemas.openxmlformats.org/drawingml/2006/main">
            <a:off x="13585961" y="6339334"/>
            <a:ext cx="1803685"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325">
                <a:solidFill>
                  <a:srgbClr val="516674"/>
                </a:solidFill>
                <a:latin typeface="Courier New"/>
                <a:ea typeface="Courier New"/>
                <a:cs typeface="Courier New"/>
              </a:rPr>
              <a:t>—</a:t>
            </a:r>
            <a:endParaRPr sz="2325"/>
          </a:p>
        </p:txBody>
      </p:sp>
      <p:sp>
        <p:nvSpPr>
          <p:cNvPr id="32" name="Text 29">
            <a:extLst xmlns:a="http://schemas.openxmlformats.org/drawingml/2006/main">
              <a:ext uri="{FF2B5EF4-FFF2-40B4-BE49-F238E27FC236}">
                <a16:creationId xmlns:a16="http://schemas.microsoft.com/office/drawing/2014/main" id="{13BBD441-C333-4F3F-8EDD-15E4ABC25C72}"/>
              </a:ext>
            </a:extLst>
          </p:cNvPr>
          <p:cNvSpPr>
            <a:spLocks xmlns:a="http://schemas.openxmlformats.org/drawingml/2006/main" noGrp="1"/>
          </p:cNvSpPr>
          <p:nvPr/>
        </p:nvSpPr>
        <p:spPr>
          <a:xfrm xmlns:a="http://schemas.openxmlformats.org/drawingml/2006/main">
            <a:off x="15387481" y="6372671"/>
            <a:ext cx="190977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a:t>
            </a:r>
            <a:endParaRPr sz="2100"/>
          </a:p>
        </p:txBody>
      </p:sp>
      <p:sp>
        <p:nvSpPr>
          <p:cNvPr id="33" name="Text 30">
            <a:extLst xmlns:a="http://schemas.openxmlformats.org/drawingml/2006/main">
              <a:ext uri="{FF2B5EF4-FFF2-40B4-BE49-F238E27FC236}">
                <a16:creationId xmlns:a16="http://schemas.microsoft.com/office/drawing/2014/main" id="{E2EAC23A-195A-4750-A55E-5CFBB96EC4AE}"/>
              </a:ext>
            </a:extLst>
          </p:cNvPr>
          <p:cNvSpPr>
            <a:spLocks xmlns:a="http://schemas.openxmlformats.org/drawingml/2006/main" noGrp="1"/>
          </p:cNvSpPr>
          <p:nvPr/>
        </p:nvSpPr>
        <p:spPr>
          <a:xfrm xmlns:a="http://schemas.openxmlformats.org/drawingml/2006/main">
            <a:off x="10127605" y="7201346"/>
            <a:ext cx="7384812" cy="128111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9851"/>
              </a:lnSpc>
              <a:buNone/>
            </a:pPr>
            <a:r>
              <a:rPr sz="2175">
                <a:solidFill>
                  <a:srgbClr val="516674"/>
                </a:solidFill>
                <a:latin typeface="Arial"/>
                <a:ea typeface="Arial"/>
                <a:cs typeface="Arial"/>
              </a:rPr>
              <a:t>Sequential sums of squares with species entered first. Residual mean square 94 919 g², i.e. a within-group standard deviation of about 308 g.</a:t>
            </a:r>
            <a:endParaRPr sz="2175"/>
          </a:p>
        </p:txBody>
      </p:sp>
      <p:sp>
        <p:nvSpPr>
          <p:cNvPr id="34" name="Text 31">
            <a:extLst xmlns:a="http://schemas.openxmlformats.org/drawingml/2006/main">
              <a:ext uri="{FF2B5EF4-FFF2-40B4-BE49-F238E27FC236}">
                <a16:creationId xmlns:a16="http://schemas.microsoft.com/office/drawing/2014/main" id="{B3BD57A1-FAA8-4A01-9BF3-233F019A1D90}"/>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35" name="Text 32">
            <a:extLst xmlns:a="http://schemas.openxmlformats.org/drawingml/2006/main">
              <a:ext uri="{FF2B5EF4-FFF2-40B4-BE49-F238E27FC236}">
                <a16:creationId xmlns:a16="http://schemas.microsoft.com/office/drawing/2014/main" id="{17D3BD25-5871-4917-B666-45B6EBDCDC07}"/>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13</a:t>
            </a:r>
            <a:endParaRPr sz="1800"/>
          </a:p>
        </p:txBody>
      </p:sp>
    </p:spTree>
    <p:extLst>
      <p:ext uri="{BB962C8B-B14F-4D97-AF65-F5344CB8AC3E}">
        <p14:creationId xmlns:p14="http://schemas.microsoft.com/office/powerpoint/2010/main" val="647480110"/>
      </p:ext>
    </p:extLst>
  </p:cSld>
</p:sld>
</file>

<file path=ppt/slides/slide14.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BE8925-D168-465F-A751-279C1E0B094F}"/>
              </a:ext>
            </a:extLst>
          </p:cNvPr>
          <p:cNvSpPr>
            <a:spLocks xmlns:a="http://schemas.openxmlformats.org/drawingml/2006/main" noGrp="1"/>
          </p:cNvSpPr>
          <p:nvPr/>
        </p:nvSpPr>
        <p:spPr>
          <a:xfrm xmlns:a="http://schemas.openxmlformats.org/drawingml/2006/main">
            <a:off x="990600" y="766763"/>
            <a:ext cx="3013837"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TWO-WAY ANOVA</a:t>
            </a:r>
            <a:endParaRPr sz="1950"/>
          </a:p>
        </p:txBody>
      </p:sp>
      <p:sp>
        <p:nvSpPr>
          <p:cNvPr id="3" name="Text 1">
            <a:extLst xmlns:a="http://schemas.openxmlformats.org/drawingml/2006/main">
              <a:ext uri="{FF2B5EF4-FFF2-40B4-BE49-F238E27FC236}">
                <a16:creationId xmlns:a16="http://schemas.microsoft.com/office/drawing/2014/main" id="{CDBC0AC9-E4A8-4C80-9150-5F35F06CDDBA}"/>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14</a:t>
            </a:r>
            <a:endParaRPr sz="1950"/>
          </a:p>
        </p:txBody>
      </p:sp>
      <p:sp>
        <p:nvSpPr>
          <p:cNvPr id="4" name="Shape 2">
            <a:extLst xmlns:a="http://schemas.openxmlformats.org/drawingml/2006/main">
              <a:ext uri="{FF2B5EF4-FFF2-40B4-BE49-F238E27FC236}">
                <a16:creationId xmlns:a16="http://schemas.microsoft.com/office/drawing/2014/main" id="{0D4BB2AB-8D92-4E19-8AE4-49B7B4DA35D6}"/>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AE93D099-71B9-4B6F-89D3-1F7C931EF052}"/>
              </a:ext>
            </a:extLst>
          </p:cNvPr>
          <p:cNvSpPr>
            <a:spLocks xmlns:a="http://schemas.openxmlformats.org/drawingml/2006/main" noGrp="1"/>
          </p:cNvSpPr>
          <p:nvPr/>
        </p:nvSpPr>
        <p:spPr>
          <a:xfrm xmlns:a="http://schemas.openxmlformats.org/drawingml/2006/main">
            <a:off x="990600" y="1500188"/>
            <a:ext cx="16344900" cy="71697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Chinstrap sexual dimorphism is half that of Gentoo</a:t>
            </a:r>
            <a:endParaRPr sz="4950"/>
          </a:p>
        </p:txBody>
      </p:sp>
      <p:sp>
        <p:nvSpPr>
          <p:cNvPr id="6" name="Text 4">
            <a:extLst xmlns:a="http://schemas.openxmlformats.org/drawingml/2006/main">
              <a:ext uri="{FF2B5EF4-FFF2-40B4-BE49-F238E27FC236}">
                <a16:creationId xmlns:a16="http://schemas.microsoft.com/office/drawing/2014/main" id="{C6597FF3-7B13-40A9-A3EB-911CEFC413AA}"/>
              </a:ext>
            </a:extLst>
          </p:cNvPr>
          <p:cNvSpPr>
            <a:spLocks xmlns:a="http://schemas.openxmlformats.org/drawingml/2006/main" noGrp="1"/>
          </p:cNvSpPr>
          <p:nvPr/>
        </p:nvSpPr>
        <p:spPr>
          <a:xfrm xmlns:a="http://schemas.openxmlformats.org/drawingml/2006/main">
            <a:off x="990600" y="2312417"/>
            <a:ext cx="14716125" cy="8382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00">
                <a:solidFill>
                  <a:srgbClr val="516674"/>
                </a:solidFill>
                <a:latin typeface="Arial"/>
                <a:ea typeface="Arial"/>
                <a:cs typeface="Arial"/>
              </a:rPr>
              <a:t>The interaction is not about whether males are heavier — they always are — but about how much heavier, which changes with species.</a:t>
            </a:r>
            <a:endParaRPr sz="2400"/>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bd2961e74bc24072">
            <a:extLst>
              <a:ext uri="{96DAC541-7B7A-43D3-8B79-37D633B846F1}">
                <asvg:svgBlip xmlns:asvg="http://schemas.microsoft.com/office/drawing/2016/SVG/main" r:embed="R77518b6bd24441ca"/>
              </a:ext>
            </a:extLst>
          </a:blip>
          <a:stretch xmlns:a="http://schemas.openxmlformats.org/drawingml/2006/main">
            <a:fillRect l="0" t="0" r="0" b="0"/>
          </a:stretch>
        </p:blipFill>
        <p:spPr>
          <a:xfrm xmlns:a="http://schemas.openxmlformats.org/drawingml/2006/main">
            <a:off x="990600" y="3341117"/>
            <a:ext cx="8654355" cy="5703987"/>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DD5D4DD-6CD8-4DAC-B50F-433E5D586B26}"/>
              </a:ext>
            </a:extLst>
          </p:cNvPr>
          <p:cNvSpPr>
            <a:spLocks xmlns:a="http://schemas.openxmlformats.org/drawingml/2006/main" noGrp="1"/>
          </p:cNvSpPr>
          <p:nvPr/>
        </p:nvSpPr>
        <p:spPr>
          <a:xfrm xmlns:a="http://schemas.openxmlformats.org/drawingml/2006/main">
            <a:off x="10216455" y="3341117"/>
            <a:ext cx="7789039"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C86C5A"/>
                </a:solidFill>
                <a:latin typeface="Arial"/>
                <a:ea typeface="Arial"/>
                <a:cs typeface="Arial"/>
              </a:rPr>
              <a:t>MALE MINUS FEMALE, TUKEY 95% INTERVALS</a:t>
            </a:r>
            <a:endParaRPr sz="1800"/>
          </a:p>
        </p:txBody>
      </p:sp>
      <p:sp>
        <p:nvSpPr>
          <p:cNvPr id="9" name="Shape 6">
            <a:extLst xmlns:a="http://schemas.openxmlformats.org/drawingml/2006/main">
              <a:ext uri="{FF2B5EF4-FFF2-40B4-BE49-F238E27FC236}">
                <a16:creationId xmlns:a16="http://schemas.microsoft.com/office/drawing/2014/main" id="{C9BB8E52-103A-4D4B-A8A1-50796EED73DF}"/>
              </a:ext>
            </a:extLst>
          </p:cNvPr>
          <p:cNvSpPr>
            <a:spLocks xmlns:a="http://schemas.openxmlformats.org/drawingml/2006/main" noGrp="1"/>
          </p:cNvSpPr>
          <p:nvPr/>
        </p:nvSpPr>
        <p:spPr>
          <a:xfrm xmlns:a="http://schemas.openxmlformats.org/drawingml/2006/main">
            <a:off x="10216455" y="4815036"/>
            <a:ext cx="7080945"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2198B9A0-EB09-4234-98F9-2DFF2F8247B6}"/>
              </a:ext>
            </a:extLst>
          </p:cNvPr>
          <p:cNvSpPr>
            <a:spLocks xmlns:a="http://schemas.openxmlformats.org/drawingml/2006/main" noGrp="1"/>
          </p:cNvSpPr>
          <p:nvPr/>
        </p:nvSpPr>
        <p:spPr>
          <a:xfrm xmlns:a="http://schemas.openxmlformats.org/drawingml/2006/main">
            <a:off x="10216455" y="3812604"/>
            <a:ext cx="969243" cy="4476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75">
                <a:solidFill>
                  <a:srgbClr val="202C35"/>
                </a:solidFill>
                <a:latin typeface="Arial"/>
                <a:ea typeface="Arial"/>
                <a:cs typeface="Arial"/>
              </a:rPr>
              <a:t>Adelie</a:t>
            </a:r>
            <a:endParaRPr sz="2475"/>
          </a:p>
        </p:txBody>
      </p:sp>
      <p:sp>
        <p:nvSpPr>
          <p:cNvPr id="11" name="Text 8">
            <a:extLst xmlns:a="http://schemas.openxmlformats.org/drawingml/2006/main">
              <a:ext uri="{FF2B5EF4-FFF2-40B4-BE49-F238E27FC236}">
                <a16:creationId xmlns:a16="http://schemas.microsoft.com/office/drawing/2014/main" id="{8C65E33B-0DCE-4E4C-8D86-665E75417A6C}"/>
              </a:ext>
            </a:extLst>
          </p:cNvPr>
          <p:cNvSpPr>
            <a:spLocks xmlns:a="http://schemas.openxmlformats.org/drawingml/2006/main" noGrp="1"/>
          </p:cNvSpPr>
          <p:nvPr/>
        </p:nvSpPr>
        <p:spPr>
          <a:xfrm xmlns:a="http://schemas.openxmlformats.org/drawingml/2006/main">
            <a:off x="15988829" y="3812604"/>
            <a:ext cx="1439428" cy="4762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20000"/>
          </a:bodyPr>
          <a:lstStyle xmlns:a="http://schemas.openxmlformats.org/drawingml/2006/main"/>
          <a:p xmlns:a="http://schemas.openxmlformats.org/drawingml/2006/main">
            <a:pPr marL="0" indent="0" algn="l">
              <a:buNone/>
            </a:pPr>
            <a:r>
              <a:rPr sz="3450">
                <a:solidFill>
                  <a:srgbClr val="202C35"/>
                </a:solidFill>
                <a:latin typeface="Georgia"/>
                <a:ea typeface="Georgia"/>
                <a:cs typeface="Georgia"/>
              </a:rPr>
              <a:t>+687 g</a:t>
            </a:r>
            <a:endParaRPr sz="3450"/>
          </a:p>
        </p:txBody>
      </p:sp>
      <p:sp>
        <p:nvSpPr>
          <p:cNvPr id="12" name="Text 9">
            <a:extLst xmlns:a="http://schemas.openxmlformats.org/drawingml/2006/main">
              <a:ext uri="{FF2B5EF4-FFF2-40B4-BE49-F238E27FC236}">
                <a16:creationId xmlns:a16="http://schemas.microsoft.com/office/drawing/2014/main" id="{5B28C39F-6BCE-40E8-8FAF-D4C00F4D63DF}"/>
              </a:ext>
            </a:extLst>
          </p:cNvPr>
          <p:cNvSpPr>
            <a:spLocks xmlns:a="http://schemas.openxmlformats.org/drawingml/2006/main" noGrp="1"/>
          </p:cNvSpPr>
          <p:nvPr/>
        </p:nvSpPr>
        <p:spPr>
          <a:xfrm xmlns:a="http://schemas.openxmlformats.org/drawingml/2006/main">
            <a:off x="10216455" y="4325541"/>
            <a:ext cx="163449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a:bodyPr>
          <a:lstStyle xmlns:a="http://schemas.openxmlformats.org/drawingml/2006/main"/>
          <a:p xmlns:a="http://schemas.openxmlformats.org/drawingml/2006/main">
            <a:pPr marL="0" indent="0" algn="l">
              <a:buNone/>
            </a:pPr>
            <a:r>
              <a:rPr sz="1950">
                <a:solidFill>
                  <a:srgbClr val="516674"/>
                </a:solidFill>
                <a:latin typeface="Courier New"/>
                <a:ea typeface="Courier New"/>
                <a:cs typeface="Courier New"/>
              </a:rPr>
              <a:t>[537, 837]</a:t>
            </a:r>
            <a:endParaRPr sz="1950"/>
          </a:p>
        </p:txBody>
      </p:sp>
      <p:sp>
        <p:nvSpPr>
          <p:cNvPr id="13" name="Text 10">
            <a:extLst xmlns:a="http://schemas.openxmlformats.org/drawingml/2006/main">
              <a:ext uri="{FF2B5EF4-FFF2-40B4-BE49-F238E27FC236}">
                <a16:creationId xmlns:a16="http://schemas.microsoft.com/office/drawing/2014/main" id="{7C604E15-111C-40BB-8775-522E2314A69C}"/>
              </a:ext>
            </a:extLst>
          </p:cNvPr>
          <p:cNvSpPr>
            <a:spLocks xmlns:a="http://schemas.openxmlformats.org/drawingml/2006/main" noGrp="1"/>
          </p:cNvSpPr>
          <p:nvPr/>
        </p:nvSpPr>
        <p:spPr>
          <a:xfrm xmlns:a="http://schemas.openxmlformats.org/drawingml/2006/main">
            <a:off x="14806687" y="4325541"/>
            <a:ext cx="2739784"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Arial"/>
                <a:ea typeface="Arial"/>
                <a:cs typeface="Arial"/>
              </a:rPr>
              <a:t>20.4% of female mass</a:t>
            </a:r>
            <a:endParaRPr sz="1950"/>
          </a:p>
        </p:txBody>
      </p:sp>
      <p:sp>
        <p:nvSpPr>
          <p:cNvPr id="14" name="Shape 11">
            <a:extLst xmlns:a="http://schemas.openxmlformats.org/drawingml/2006/main">
              <a:ext uri="{FF2B5EF4-FFF2-40B4-BE49-F238E27FC236}">
                <a16:creationId xmlns:a16="http://schemas.microsoft.com/office/drawing/2014/main" id="{952A3311-6059-4929-BFCB-ACC285D0E3E7}"/>
              </a:ext>
            </a:extLst>
          </p:cNvPr>
          <p:cNvSpPr>
            <a:spLocks xmlns:a="http://schemas.openxmlformats.org/drawingml/2006/main" noGrp="1"/>
          </p:cNvSpPr>
          <p:nvPr/>
        </p:nvSpPr>
        <p:spPr>
          <a:xfrm xmlns:a="http://schemas.openxmlformats.org/drawingml/2006/main">
            <a:off x="10216455" y="6036543"/>
            <a:ext cx="7080945"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E40D1983-DDF2-4418-A147-829DF1C9714E}"/>
              </a:ext>
            </a:extLst>
          </p:cNvPr>
          <p:cNvSpPr>
            <a:spLocks xmlns:a="http://schemas.openxmlformats.org/drawingml/2006/main" noGrp="1"/>
          </p:cNvSpPr>
          <p:nvPr/>
        </p:nvSpPr>
        <p:spPr>
          <a:xfrm xmlns:a="http://schemas.openxmlformats.org/drawingml/2006/main">
            <a:off x="10216455" y="5034111"/>
            <a:ext cx="1491980" cy="4476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75">
                <a:solidFill>
                  <a:srgbClr val="202C35"/>
                </a:solidFill>
                <a:latin typeface="Arial"/>
                <a:ea typeface="Arial"/>
                <a:cs typeface="Arial"/>
              </a:rPr>
              <a:t>Chinstrap</a:t>
            </a:r>
            <a:endParaRPr sz="2475"/>
          </a:p>
        </p:txBody>
      </p:sp>
      <p:sp>
        <p:nvSpPr>
          <p:cNvPr id="16" name="Text 13">
            <a:extLst xmlns:a="http://schemas.openxmlformats.org/drawingml/2006/main">
              <a:ext uri="{FF2B5EF4-FFF2-40B4-BE49-F238E27FC236}">
                <a16:creationId xmlns:a16="http://schemas.microsoft.com/office/drawing/2014/main" id="{F1BE1CDF-85F6-46AA-9498-4BA9E0ABEBFD}"/>
              </a:ext>
            </a:extLst>
          </p:cNvPr>
          <p:cNvSpPr>
            <a:spLocks xmlns:a="http://schemas.openxmlformats.org/drawingml/2006/main" noGrp="1"/>
          </p:cNvSpPr>
          <p:nvPr/>
        </p:nvSpPr>
        <p:spPr>
          <a:xfrm xmlns:a="http://schemas.openxmlformats.org/drawingml/2006/main">
            <a:off x="15988829" y="5034111"/>
            <a:ext cx="1439428" cy="4762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20000"/>
          </a:bodyPr>
          <a:lstStyle xmlns:a="http://schemas.openxmlformats.org/drawingml/2006/main"/>
          <a:p xmlns:a="http://schemas.openxmlformats.org/drawingml/2006/main">
            <a:pPr marL="0" indent="0" algn="l">
              <a:buNone/>
            </a:pPr>
            <a:r>
              <a:rPr sz="3450">
                <a:solidFill>
                  <a:srgbClr val="202C35"/>
                </a:solidFill>
                <a:latin typeface="Georgia"/>
                <a:ea typeface="Georgia"/>
                <a:cs typeface="Georgia"/>
              </a:rPr>
              <a:t>+411 g</a:t>
            </a:r>
            <a:endParaRPr sz="3450"/>
          </a:p>
        </p:txBody>
      </p:sp>
      <p:sp>
        <p:nvSpPr>
          <p:cNvPr id="17" name="Text 14">
            <a:extLst xmlns:a="http://schemas.openxmlformats.org/drawingml/2006/main">
              <a:ext uri="{FF2B5EF4-FFF2-40B4-BE49-F238E27FC236}">
                <a16:creationId xmlns:a16="http://schemas.microsoft.com/office/drawing/2014/main" id="{4E916A7B-95FA-4D2A-916D-AC6DED4F7EF1}"/>
              </a:ext>
            </a:extLst>
          </p:cNvPr>
          <p:cNvSpPr>
            <a:spLocks xmlns:a="http://schemas.openxmlformats.org/drawingml/2006/main" noGrp="1"/>
          </p:cNvSpPr>
          <p:nvPr/>
        </p:nvSpPr>
        <p:spPr>
          <a:xfrm xmlns:a="http://schemas.openxmlformats.org/drawingml/2006/main">
            <a:off x="10216455" y="5547047"/>
            <a:ext cx="163449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a:bodyPr>
          <a:lstStyle xmlns:a="http://schemas.openxmlformats.org/drawingml/2006/main"/>
          <a:p xmlns:a="http://schemas.openxmlformats.org/drawingml/2006/main">
            <a:pPr marL="0" indent="0" algn="l">
              <a:buNone/>
            </a:pPr>
            <a:r>
              <a:rPr sz="1950">
                <a:solidFill>
                  <a:srgbClr val="516674"/>
                </a:solidFill>
                <a:latin typeface="Courier New"/>
                <a:ea typeface="Courier New"/>
                <a:cs typeface="Courier New"/>
              </a:rPr>
              <a:t>[196, 627]</a:t>
            </a:r>
            <a:endParaRPr sz="1950"/>
          </a:p>
        </p:txBody>
      </p:sp>
      <p:sp>
        <p:nvSpPr>
          <p:cNvPr id="18" name="Text 15">
            <a:extLst xmlns:a="http://schemas.openxmlformats.org/drawingml/2006/main">
              <a:ext uri="{FF2B5EF4-FFF2-40B4-BE49-F238E27FC236}">
                <a16:creationId xmlns:a16="http://schemas.microsoft.com/office/drawing/2014/main" id="{BB4893E1-6D46-43E0-9601-C4E0B32C49E3}"/>
              </a:ext>
            </a:extLst>
          </p:cNvPr>
          <p:cNvSpPr>
            <a:spLocks xmlns:a="http://schemas.openxmlformats.org/drawingml/2006/main" noGrp="1"/>
          </p:cNvSpPr>
          <p:nvPr/>
        </p:nvSpPr>
        <p:spPr>
          <a:xfrm xmlns:a="http://schemas.openxmlformats.org/drawingml/2006/main">
            <a:off x="14806687" y="5547047"/>
            <a:ext cx="2739784"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Arial"/>
                <a:ea typeface="Arial"/>
                <a:cs typeface="Arial"/>
              </a:rPr>
              <a:t>11.7% of female mass</a:t>
            </a:r>
            <a:endParaRPr sz="1950"/>
          </a:p>
        </p:txBody>
      </p:sp>
      <p:sp>
        <p:nvSpPr>
          <p:cNvPr id="19" name="Shape 16">
            <a:extLst xmlns:a="http://schemas.openxmlformats.org/drawingml/2006/main">
              <a:ext uri="{FF2B5EF4-FFF2-40B4-BE49-F238E27FC236}">
                <a16:creationId xmlns:a16="http://schemas.microsoft.com/office/drawing/2014/main" id="{CB4F9E2D-600C-4F46-B096-82D46872133E}"/>
              </a:ext>
            </a:extLst>
          </p:cNvPr>
          <p:cNvSpPr>
            <a:spLocks xmlns:a="http://schemas.openxmlformats.org/drawingml/2006/main" noGrp="1"/>
          </p:cNvSpPr>
          <p:nvPr/>
        </p:nvSpPr>
        <p:spPr>
          <a:xfrm xmlns:a="http://schemas.openxmlformats.org/drawingml/2006/main">
            <a:off x="10216455" y="7258050"/>
            <a:ext cx="7080945"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0" name="Text 17">
            <a:extLst xmlns:a="http://schemas.openxmlformats.org/drawingml/2006/main">
              <a:ext uri="{FF2B5EF4-FFF2-40B4-BE49-F238E27FC236}">
                <a16:creationId xmlns:a16="http://schemas.microsoft.com/office/drawing/2014/main" id="{C33839EE-7611-4FF2-B72B-8DA6A4C46904}"/>
              </a:ext>
            </a:extLst>
          </p:cNvPr>
          <p:cNvSpPr>
            <a:spLocks xmlns:a="http://schemas.openxmlformats.org/drawingml/2006/main" noGrp="1"/>
          </p:cNvSpPr>
          <p:nvPr/>
        </p:nvSpPr>
        <p:spPr>
          <a:xfrm xmlns:a="http://schemas.openxmlformats.org/drawingml/2006/main">
            <a:off x="10216455" y="6255618"/>
            <a:ext cx="1106909" cy="4476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75">
                <a:solidFill>
                  <a:srgbClr val="202C35"/>
                </a:solidFill>
                <a:latin typeface="Arial"/>
                <a:ea typeface="Arial"/>
                <a:cs typeface="Arial"/>
              </a:rPr>
              <a:t>Gentoo</a:t>
            </a:r>
            <a:endParaRPr sz="2475"/>
          </a:p>
        </p:txBody>
      </p:sp>
      <p:sp>
        <p:nvSpPr>
          <p:cNvPr id="21" name="Text 18">
            <a:extLst xmlns:a="http://schemas.openxmlformats.org/drawingml/2006/main">
              <a:ext uri="{FF2B5EF4-FFF2-40B4-BE49-F238E27FC236}">
                <a16:creationId xmlns:a16="http://schemas.microsoft.com/office/drawing/2014/main" id="{CC40E08F-8655-4851-8CAF-DF7343AB3966}"/>
              </a:ext>
            </a:extLst>
          </p:cNvPr>
          <p:cNvSpPr>
            <a:spLocks xmlns:a="http://schemas.openxmlformats.org/drawingml/2006/main" noGrp="1"/>
          </p:cNvSpPr>
          <p:nvPr/>
        </p:nvSpPr>
        <p:spPr>
          <a:xfrm xmlns:a="http://schemas.openxmlformats.org/drawingml/2006/main">
            <a:off x="15988829" y="6255618"/>
            <a:ext cx="1439428" cy="4762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20000"/>
          </a:bodyPr>
          <a:lstStyle xmlns:a="http://schemas.openxmlformats.org/drawingml/2006/main"/>
          <a:p xmlns:a="http://schemas.openxmlformats.org/drawingml/2006/main">
            <a:pPr marL="0" indent="0" algn="l">
              <a:buNone/>
            </a:pPr>
            <a:r>
              <a:rPr sz="3450">
                <a:solidFill>
                  <a:srgbClr val="202C35"/>
                </a:solidFill>
                <a:latin typeface="Georgia"/>
                <a:ea typeface="Georgia"/>
                <a:cs typeface="Georgia"/>
              </a:rPr>
              <a:t>+809 g</a:t>
            </a:r>
            <a:endParaRPr sz="3450"/>
          </a:p>
        </p:txBody>
      </p:sp>
      <p:sp>
        <p:nvSpPr>
          <p:cNvPr id="22" name="Text 19">
            <a:extLst xmlns:a="http://schemas.openxmlformats.org/drawingml/2006/main">
              <a:ext uri="{FF2B5EF4-FFF2-40B4-BE49-F238E27FC236}">
                <a16:creationId xmlns:a16="http://schemas.microsoft.com/office/drawing/2014/main" id="{BEA3DE40-C552-4BD8-A74E-1DE3F084C5F7}"/>
              </a:ext>
            </a:extLst>
          </p:cNvPr>
          <p:cNvSpPr>
            <a:spLocks xmlns:a="http://schemas.openxmlformats.org/drawingml/2006/main" noGrp="1"/>
          </p:cNvSpPr>
          <p:nvPr/>
        </p:nvSpPr>
        <p:spPr>
          <a:xfrm xmlns:a="http://schemas.openxmlformats.org/drawingml/2006/main">
            <a:off x="10216455" y="6768554"/>
            <a:ext cx="1797955"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a:bodyPr>
          <a:lstStyle xmlns:a="http://schemas.openxmlformats.org/drawingml/2006/main"/>
          <a:p xmlns:a="http://schemas.openxmlformats.org/drawingml/2006/main">
            <a:pPr marL="0" indent="0" algn="l">
              <a:buNone/>
            </a:pPr>
            <a:r>
              <a:rPr sz="1950">
                <a:solidFill>
                  <a:srgbClr val="516674"/>
                </a:solidFill>
                <a:latin typeface="Courier New"/>
                <a:ea typeface="Courier New"/>
                <a:cs typeface="Courier New"/>
              </a:rPr>
              <a:t>[646, 972]</a:t>
            </a:r>
            <a:endParaRPr sz="1950"/>
          </a:p>
        </p:txBody>
      </p:sp>
      <p:sp>
        <p:nvSpPr>
          <p:cNvPr id="23" name="Text 20">
            <a:extLst xmlns:a="http://schemas.openxmlformats.org/drawingml/2006/main">
              <a:ext uri="{FF2B5EF4-FFF2-40B4-BE49-F238E27FC236}">
                <a16:creationId xmlns:a16="http://schemas.microsoft.com/office/drawing/2014/main" id="{5862D9D6-60A1-47B1-A7ED-D4D746604337}"/>
              </a:ext>
            </a:extLst>
          </p:cNvPr>
          <p:cNvSpPr>
            <a:spLocks xmlns:a="http://schemas.openxmlformats.org/drawingml/2006/main" noGrp="1"/>
          </p:cNvSpPr>
          <p:nvPr/>
        </p:nvSpPr>
        <p:spPr>
          <a:xfrm xmlns:a="http://schemas.openxmlformats.org/drawingml/2006/main">
            <a:off x="14806687" y="6768554"/>
            <a:ext cx="2739784"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Arial"/>
                <a:ea typeface="Arial"/>
                <a:cs typeface="Arial"/>
              </a:rPr>
              <a:t>17.3% of female mass</a:t>
            </a:r>
            <a:endParaRPr sz="1950"/>
          </a:p>
        </p:txBody>
      </p:sp>
      <p:sp>
        <p:nvSpPr>
          <p:cNvPr id="24" name="Text 21">
            <a:extLst xmlns:a="http://schemas.openxmlformats.org/drawingml/2006/main">
              <a:ext uri="{FF2B5EF4-FFF2-40B4-BE49-F238E27FC236}">
                <a16:creationId xmlns:a16="http://schemas.microsoft.com/office/drawing/2014/main" id="{6BF79D37-6C5C-422A-8A80-E085F243847E}"/>
              </a:ext>
            </a:extLst>
          </p:cNvPr>
          <p:cNvSpPr>
            <a:spLocks xmlns:a="http://schemas.openxmlformats.org/drawingml/2006/main" noGrp="1"/>
          </p:cNvSpPr>
          <p:nvPr/>
        </p:nvSpPr>
        <p:spPr>
          <a:xfrm xmlns:a="http://schemas.openxmlformats.org/drawingml/2006/main">
            <a:off x="10216455" y="7477125"/>
            <a:ext cx="7293373" cy="17526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30435"/>
              </a:lnSpc>
              <a:buNone/>
            </a:pPr>
            <a:r>
              <a:rPr sz="2250">
                <a:solidFill>
                  <a:srgbClr val="202C35"/>
                </a:solidFill>
                <a:latin typeface="Arial"/>
                <a:ea typeface="Arial"/>
                <a:cs typeface="Arial"/>
              </a:rPr>
              <a:t>All three gaps exclude zero, so dimorphism is real in every species. What the interaction adds is that the Chinstrap gap is materially smaller — the reason the three lines are not parallel.</a:t>
            </a:r>
            <a:endParaRPr sz="2250"/>
          </a:p>
        </p:txBody>
      </p:sp>
      <p:sp>
        <p:nvSpPr>
          <p:cNvPr id="25" name="Text 22">
            <a:extLst xmlns:a="http://schemas.openxmlformats.org/drawingml/2006/main">
              <a:ext uri="{FF2B5EF4-FFF2-40B4-BE49-F238E27FC236}">
                <a16:creationId xmlns:a16="http://schemas.microsoft.com/office/drawing/2014/main" id="{AC7A7CD3-B589-4C42-8978-EB298CBC9547}"/>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26" name="Text 23">
            <a:extLst xmlns:a="http://schemas.openxmlformats.org/drawingml/2006/main">
              <a:ext uri="{FF2B5EF4-FFF2-40B4-BE49-F238E27FC236}">
                <a16:creationId xmlns:a16="http://schemas.microsoft.com/office/drawing/2014/main" id="{FFD5700A-052B-41BD-BB72-E02F90DBA397}"/>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14</a:t>
            </a:r>
            <a:endParaRPr sz="1800"/>
          </a:p>
        </p:txBody>
      </p:sp>
    </p:spTree>
    <p:extLst>
      <p:ext uri="{BB962C8B-B14F-4D97-AF65-F5344CB8AC3E}">
        <p14:creationId xmlns:p14="http://schemas.microsoft.com/office/powerpoint/2010/main" val="1852517304"/>
      </p:ext>
    </p:extLst>
  </p:cSld>
</p:sld>
</file>

<file path=ppt/slides/slide15.xml><?xml version="1.0" encoding="utf-8"?>
<p:sld xmlns:p="http://schemas.openxmlformats.org/presentationml/2006/main">
  <p:cSld>
    <p:bg>
      <p:bgPr>
        <a:solidFill xmlns:a="http://schemas.openxmlformats.org/drawingml/2006/main">
          <a:srgbClr val="B85C4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148D4C9-177C-4E50-9E0F-29026B0D4D58}"/>
              </a:ext>
            </a:extLst>
          </p:cNvPr>
          <p:cNvSpPr>
            <a:spLocks xmlns:a="http://schemas.openxmlformats.org/drawingml/2006/main" noGrp="1"/>
          </p:cNvSpPr>
          <p:nvPr/>
        </p:nvSpPr>
        <p:spPr>
          <a:xfrm xmlns:a="http://schemas.openxmlformats.org/drawingml/2006/main">
            <a:off x="990600" y="1042988"/>
            <a:ext cx="533400" cy="28575"/>
          </a:xfrm>
          <a:prstGeom xmlns:a="http://schemas.openxmlformats.org/drawingml/2006/main" prst="rect">
            <a:avLst/>
          </a:prstGeom>
          <a:solidFill xmlns:a="http://schemas.openxmlformats.org/drawingml/2006/main">
            <a:srgbClr val="F8F6F2"/>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909E78B3-EEC4-4F6A-BE58-9322A61FABBC}"/>
              </a:ext>
            </a:extLst>
          </p:cNvPr>
          <p:cNvSpPr>
            <a:spLocks xmlns:a="http://schemas.openxmlformats.org/drawingml/2006/main" noGrp="1"/>
          </p:cNvSpPr>
          <p:nvPr/>
        </p:nvSpPr>
        <p:spPr>
          <a:xfrm xmlns:a="http://schemas.openxmlformats.org/drawingml/2006/main">
            <a:off x="1714500" y="914400"/>
            <a:ext cx="2235391"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F6DED8"/>
                </a:solidFill>
                <a:latin typeface="Arial"/>
                <a:ea typeface="Arial"/>
                <a:cs typeface="Arial"/>
              </a:rPr>
              <a:t>PART THREE</a:t>
            </a:r>
            <a:endParaRPr sz="1950"/>
          </a:p>
        </p:txBody>
      </p:sp>
      <p:sp>
        <p:nvSpPr>
          <p:cNvPr id="4" name="Text 2">
            <a:extLst xmlns:a="http://schemas.openxmlformats.org/drawingml/2006/main">
              <a:ext uri="{FF2B5EF4-FFF2-40B4-BE49-F238E27FC236}">
                <a16:creationId xmlns:a16="http://schemas.microsoft.com/office/drawing/2014/main" id="{7762613A-A97A-44A5-8543-0C9CC9602580}"/>
              </a:ext>
            </a:extLst>
          </p:cNvPr>
          <p:cNvSpPr>
            <a:spLocks xmlns:a="http://schemas.openxmlformats.org/drawingml/2006/main" noGrp="1"/>
          </p:cNvSpPr>
          <p:nvPr/>
        </p:nvSpPr>
        <p:spPr>
          <a:xfrm xmlns:a="http://schemas.openxmlformats.org/drawingml/2006/main">
            <a:off x="990600" y="3941490"/>
            <a:ext cx="17937480" cy="1085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8000"/>
              </a:lnSpc>
              <a:buNone/>
            </a:pPr>
            <a:r>
              <a:rPr sz="8250" spc="-165">
                <a:solidFill>
                  <a:srgbClr val="FFF8F5"/>
                </a:solidFill>
                <a:latin typeface="Georgia"/>
                <a:ea typeface="Georgia"/>
                <a:cs typeface="Georgia"/>
              </a:rPr>
              <a:t>Telling Adelie from Chinstrap</a:t>
            </a:r>
            <a:endParaRPr sz="8250"/>
          </a:p>
        </p:txBody>
      </p:sp>
      <p:sp>
        <p:nvSpPr>
          <p:cNvPr id="5" name="Text 3">
            <a:extLst xmlns:a="http://schemas.openxmlformats.org/drawingml/2006/main">
              <a:ext uri="{FF2B5EF4-FFF2-40B4-BE49-F238E27FC236}">
                <a16:creationId xmlns:a16="http://schemas.microsoft.com/office/drawing/2014/main" id="{70E327C4-94C2-42D3-AE4C-40B26FA302C2}"/>
              </a:ext>
            </a:extLst>
          </p:cNvPr>
          <p:cNvSpPr>
            <a:spLocks xmlns:a="http://schemas.openxmlformats.org/drawingml/2006/main" noGrp="1"/>
          </p:cNvSpPr>
          <p:nvPr/>
        </p:nvSpPr>
        <p:spPr>
          <a:xfrm xmlns:a="http://schemas.openxmlformats.org/drawingml/2006/main">
            <a:off x="990600" y="5274990"/>
            <a:ext cx="11772900" cy="105147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2299"/>
              </a:lnSpc>
              <a:buNone/>
            </a:pPr>
            <a:r>
              <a:rPr sz="2850">
                <a:solidFill>
                  <a:srgbClr val="F6DED8"/>
                </a:solidFill>
                <a:latin typeface="Arial"/>
                <a:ea typeface="Arial"/>
                <a:cs typeface="Arial"/>
              </a:rPr>
              <a:t>Two measurements, one decision boundary, and an evaluation that we deliberately do not oversell.</a:t>
            </a:r>
            <a:endParaRPr sz="2850"/>
          </a:p>
        </p:txBody>
      </p:sp>
      <p:sp>
        <p:nvSpPr>
          <p:cNvPr id="6" name="Text 4">
            <a:extLst xmlns:a="http://schemas.openxmlformats.org/drawingml/2006/main">
              <a:ext uri="{FF2B5EF4-FFF2-40B4-BE49-F238E27FC236}">
                <a16:creationId xmlns:a16="http://schemas.microsoft.com/office/drawing/2014/main" id="{D19AA830-DF7A-4B7A-B647-3D79E9131712}"/>
              </a:ext>
            </a:extLst>
          </p:cNvPr>
          <p:cNvSpPr>
            <a:spLocks xmlns:a="http://schemas.openxmlformats.org/drawingml/2006/main" noGrp="1"/>
          </p:cNvSpPr>
          <p:nvPr/>
        </p:nvSpPr>
        <p:spPr>
          <a:xfrm xmlns:a="http://schemas.openxmlformats.org/drawingml/2006/main">
            <a:off x="990600" y="9029700"/>
            <a:ext cx="29923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16 Logistic model</a:t>
            </a:r>
            <a:endParaRPr sz="2100"/>
          </a:p>
        </p:txBody>
      </p:sp>
      <p:sp>
        <p:nvSpPr>
          <p:cNvPr id="7" name="Text 5">
            <a:extLst xmlns:a="http://schemas.openxmlformats.org/drawingml/2006/main">
              <a:ext uri="{FF2B5EF4-FFF2-40B4-BE49-F238E27FC236}">
                <a16:creationId xmlns:a16="http://schemas.microsoft.com/office/drawing/2014/main" id="{4A7E0591-C863-4DF4-BAF2-471B6AE2F436}"/>
              </a:ext>
            </a:extLst>
          </p:cNvPr>
          <p:cNvSpPr>
            <a:spLocks xmlns:a="http://schemas.openxmlformats.org/drawingml/2006/main" noGrp="1"/>
          </p:cNvSpPr>
          <p:nvPr/>
        </p:nvSpPr>
        <p:spPr>
          <a:xfrm xmlns:a="http://schemas.openxmlformats.org/drawingml/2006/main">
            <a:off x="4244355" y="9029700"/>
            <a:ext cx="246434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17 Performance</a:t>
            </a:r>
            <a:endParaRPr sz="2100"/>
          </a:p>
        </p:txBody>
      </p:sp>
    </p:spTree>
    <p:extLst>
      <p:ext uri="{BB962C8B-B14F-4D97-AF65-F5344CB8AC3E}">
        <p14:creationId xmlns:p14="http://schemas.microsoft.com/office/powerpoint/2010/main" val="794700238"/>
      </p:ext>
    </p:extLst>
  </p:cSld>
</p:sld>
</file>

<file path=ppt/slides/slide16.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CBD176-438D-4AA4-8FA0-8132FF4D5485}"/>
              </a:ext>
            </a:extLst>
          </p:cNvPr>
          <p:cNvSpPr>
            <a:spLocks xmlns:a="http://schemas.openxmlformats.org/drawingml/2006/main" noGrp="1"/>
          </p:cNvSpPr>
          <p:nvPr/>
        </p:nvSpPr>
        <p:spPr>
          <a:xfrm xmlns:a="http://schemas.openxmlformats.org/drawingml/2006/main">
            <a:off x="990600" y="766763"/>
            <a:ext cx="4198858"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LOGISTIC REGRESSION</a:t>
            </a:r>
            <a:endParaRPr sz="1950"/>
          </a:p>
        </p:txBody>
      </p:sp>
      <p:sp>
        <p:nvSpPr>
          <p:cNvPr id="3" name="Text 1">
            <a:extLst xmlns:a="http://schemas.openxmlformats.org/drawingml/2006/main">
              <a:ext uri="{FF2B5EF4-FFF2-40B4-BE49-F238E27FC236}">
                <a16:creationId xmlns:a16="http://schemas.microsoft.com/office/drawing/2014/main" id="{B8EC8C92-F465-4B2A-ACCE-090EB950EEA0}"/>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16</a:t>
            </a:r>
            <a:endParaRPr sz="1950"/>
          </a:p>
        </p:txBody>
      </p:sp>
      <p:sp>
        <p:nvSpPr>
          <p:cNvPr id="4" name="Shape 2">
            <a:extLst xmlns:a="http://schemas.openxmlformats.org/drawingml/2006/main">
              <a:ext uri="{FF2B5EF4-FFF2-40B4-BE49-F238E27FC236}">
                <a16:creationId xmlns:a16="http://schemas.microsoft.com/office/drawing/2014/main" id="{5166C6A9-6FE2-4DE2-BEB6-9E6B68CE728D}"/>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9A08F129-9F52-43DD-90A5-5A85BC819F99}"/>
              </a:ext>
            </a:extLst>
          </p:cNvPr>
          <p:cNvSpPr>
            <a:spLocks xmlns:a="http://schemas.openxmlformats.org/drawingml/2006/main" noGrp="1"/>
          </p:cNvSpPr>
          <p:nvPr/>
        </p:nvSpPr>
        <p:spPr>
          <a:xfrm xmlns:a="http://schemas.openxmlformats.org/drawingml/2006/main">
            <a:off x="990600" y="1500188"/>
            <a:ext cx="15304770" cy="139585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Bill length separates the two species; flipper length corrects for body size</a:t>
            </a:r>
            <a:endParaRPr sz="4950"/>
          </a:p>
        </p:txBody>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653976c379a34de4">
            <a:extLst>
              <a:ext uri="{96DAC541-7B7A-43D3-8B79-37D633B846F1}">
                <asvg:svgBlip xmlns:asvg="http://schemas.microsoft.com/office/drawing/2016/SVG/main" r:embed="Rae34c0a8d9be494e"/>
              </a:ext>
            </a:extLst>
          </a:blip>
          <a:stretch xmlns:a="http://schemas.openxmlformats.org/drawingml/2006/main">
            <a:fillRect l="0" t="0" r="0" b="0"/>
          </a:stretch>
        </p:blipFill>
        <p:spPr>
          <a:xfrm xmlns:a="http://schemas.openxmlformats.org/drawingml/2006/main">
            <a:off x="990600" y="3105596"/>
            <a:ext cx="9679112" cy="5653683"/>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FD3237EB-473A-49E9-88AC-8026782C4D22}"/>
              </a:ext>
            </a:extLst>
          </p:cNvPr>
          <p:cNvSpPr>
            <a:spLocks xmlns:a="http://schemas.openxmlformats.org/drawingml/2006/main" noGrp="1"/>
          </p:cNvSpPr>
          <p:nvPr/>
        </p:nvSpPr>
        <p:spPr>
          <a:xfrm xmlns:a="http://schemas.openxmlformats.org/drawingml/2006/main">
            <a:off x="2171700" y="8937352"/>
            <a:ext cx="190500" cy="190500"/>
          </a:xfrm>
          <a:prstGeom xmlns:a="http://schemas.openxmlformats.org/drawingml/2006/main" prst="ellipse">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07F3CF5F-EFBA-4511-BBB8-5B0D1AE22732}"/>
              </a:ext>
            </a:extLst>
          </p:cNvPr>
          <p:cNvSpPr>
            <a:spLocks xmlns:a="http://schemas.openxmlformats.org/drawingml/2006/main" noGrp="1"/>
          </p:cNvSpPr>
          <p:nvPr/>
        </p:nvSpPr>
        <p:spPr>
          <a:xfrm xmlns:a="http://schemas.openxmlformats.org/drawingml/2006/main">
            <a:off x="2476500" y="8865915"/>
            <a:ext cx="1569251"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202C35"/>
                </a:solidFill>
                <a:latin typeface="Arial"/>
                <a:ea typeface="Arial"/>
                <a:cs typeface="Arial"/>
              </a:rPr>
              <a:t>Adelie (139)</a:t>
            </a:r>
            <a:endParaRPr sz="2025"/>
          </a:p>
        </p:txBody>
      </p:sp>
      <p:sp>
        <p:nvSpPr>
          <p:cNvPr id="9" name="Shape 6">
            <a:extLst xmlns:a="http://schemas.openxmlformats.org/drawingml/2006/main">
              <a:ext uri="{FF2B5EF4-FFF2-40B4-BE49-F238E27FC236}">
                <a16:creationId xmlns:a16="http://schemas.microsoft.com/office/drawing/2014/main" id="{C6EA0D80-2C37-4E31-86A3-2B22335B3A9B}"/>
              </a:ext>
            </a:extLst>
          </p:cNvPr>
          <p:cNvSpPr>
            <a:spLocks xmlns:a="http://schemas.openxmlformats.org/drawingml/2006/main" noGrp="1"/>
          </p:cNvSpPr>
          <p:nvPr/>
        </p:nvSpPr>
        <p:spPr>
          <a:xfrm xmlns:a="http://schemas.openxmlformats.org/drawingml/2006/main">
            <a:off x="4284092" y="8937352"/>
            <a:ext cx="190500" cy="190500"/>
          </a:xfrm>
          <a:prstGeom xmlns:a="http://schemas.openxmlformats.org/drawingml/2006/main" prst="ellipse">
            <a:avLst/>
          </a:prstGeom>
          <a:solidFill xmlns:a="http://schemas.openxmlformats.org/drawingml/2006/main">
            <a:srgbClr val="C86C5A"/>
          </a:solidFill>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3188C419-9BB5-4044-A3C3-95BA7964D9BF}"/>
              </a:ext>
            </a:extLst>
          </p:cNvPr>
          <p:cNvSpPr>
            <a:spLocks xmlns:a="http://schemas.openxmlformats.org/drawingml/2006/main" noGrp="1"/>
          </p:cNvSpPr>
          <p:nvPr/>
        </p:nvSpPr>
        <p:spPr>
          <a:xfrm xmlns:a="http://schemas.openxmlformats.org/drawingml/2006/main">
            <a:off x="4588892" y="8865915"/>
            <a:ext cx="1816455"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202C35"/>
                </a:solidFill>
                <a:latin typeface="Arial"/>
                <a:ea typeface="Arial"/>
                <a:cs typeface="Arial"/>
              </a:rPr>
              <a:t>Chinstrap (67)</a:t>
            </a:r>
            <a:endParaRPr sz="2025"/>
          </a:p>
        </p:txBody>
      </p:sp>
      <p:sp>
        <p:nvSpPr>
          <p:cNvPr id="11" name="Shape 8">
            <a:extLst xmlns:a="http://schemas.openxmlformats.org/drawingml/2006/main">
              <a:ext uri="{FF2B5EF4-FFF2-40B4-BE49-F238E27FC236}">
                <a16:creationId xmlns:a16="http://schemas.microsoft.com/office/drawing/2014/main" id="{08AA6E38-F63B-4095-B45D-F2492E6EF7FE}"/>
              </a:ext>
            </a:extLst>
          </p:cNvPr>
          <p:cNvSpPr>
            <a:spLocks xmlns:a="http://schemas.openxmlformats.org/drawingml/2006/main" noGrp="1"/>
          </p:cNvSpPr>
          <p:nvPr/>
        </p:nvSpPr>
        <p:spPr>
          <a:xfrm xmlns:a="http://schemas.openxmlformats.org/drawingml/2006/main">
            <a:off x="6621214" y="9018315"/>
            <a:ext cx="323850" cy="28575"/>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12" name="Text 9">
            <a:extLst xmlns:a="http://schemas.openxmlformats.org/drawingml/2006/main">
              <a:ext uri="{FF2B5EF4-FFF2-40B4-BE49-F238E27FC236}">
                <a16:creationId xmlns:a16="http://schemas.microsoft.com/office/drawing/2014/main" id="{2EA6B778-1DE6-4C35-84A4-F630728E1B39}"/>
              </a:ext>
            </a:extLst>
          </p:cNvPr>
          <p:cNvSpPr>
            <a:spLocks xmlns:a="http://schemas.openxmlformats.org/drawingml/2006/main" noGrp="1"/>
          </p:cNvSpPr>
          <p:nvPr/>
        </p:nvSpPr>
        <p:spPr>
          <a:xfrm xmlns:a="http://schemas.openxmlformats.org/drawingml/2006/main">
            <a:off x="7059364" y="8865915"/>
            <a:ext cx="2301367"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202C35"/>
                </a:solidFill>
                <a:latin typeface="Arial"/>
                <a:ea typeface="Arial"/>
                <a:cs typeface="Arial"/>
              </a:rPr>
              <a:t>P(Chinstrap) = 0.5</a:t>
            </a:r>
            <a:endParaRPr sz="2025"/>
          </a:p>
        </p:txBody>
      </p:sp>
      <p:sp>
        <p:nvSpPr>
          <p:cNvPr id="13" name="Shape 10">
            <a:extLst xmlns:a="http://schemas.openxmlformats.org/drawingml/2006/main">
              <a:ext uri="{FF2B5EF4-FFF2-40B4-BE49-F238E27FC236}">
                <a16:creationId xmlns:a16="http://schemas.microsoft.com/office/drawing/2014/main" id="{D9AB8183-39B8-451C-B386-7C9E0CF61FD1}"/>
              </a:ext>
            </a:extLst>
          </p:cNvPr>
          <p:cNvSpPr>
            <a:spLocks xmlns:a="http://schemas.openxmlformats.org/drawingml/2006/main" noGrp="1"/>
          </p:cNvSpPr>
          <p:nvPr/>
        </p:nvSpPr>
        <p:spPr>
          <a:xfrm xmlns:a="http://schemas.openxmlformats.org/drawingml/2006/main">
            <a:off x="11203112" y="3105596"/>
            <a:ext cx="6094214" cy="2255341"/>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14" name="Shape 11">
            <a:extLst xmlns:a="http://schemas.openxmlformats.org/drawingml/2006/main">
              <a:ext uri="{FF2B5EF4-FFF2-40B4-BE49-F238E27FC236}">
                <a16:creationId xmlns:a16="http://schemas.microsoft.com/office/drawing/2014/main" id="{DF4904BD-DA7E-4FA4-A8AA-706F1C384636}"/>
              </a:ext>
            </a:extLst>
          </p:cNvPr>
          <p:cNvSpPr>
            <a:spLocks xmlns:a="http://schemas.openxmlformats.org/drawingml/2006/main" noGrp="1"/>
          </p:cNvSpPr>
          <p:nvPr/>
        </p:nvSpPr>
        <p:spPr>
          <a:xfrm xmlns:a="http://schemas.openxmlformats.org/drawingml/2006/main">
            <a:off x="11203112" y="3105596"/>
            <a:ext cx="76200" cy="2255341"/>
          </a:xfrm>
          <a:prstGeom xmlns:a="http://schemas.openxmlformats.org/drawingml/2006/main" prst="rect">
            <a:avLst/>
          </a:prstGeom>
          <a:solidFill xmlns:a="http://schemas.openxmlformats.org/drawingml/2006/main">
            <a:srgbClr val="B85C4A"/>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DAD925FE-45F2-4944-B3FD-191C004E46A2}"/>
              </a:ext>
            </a:extLst>
          </p:cNvPr>
          <p:cNvSpPr>
            <a:spLocks xmlns:a="http://schemas.openxmlformats.org/drawingml/2006/main" noGrp="1"/>
          </p:cNvSpPr>
          <p:nvPr/>
        </p:nvSpPr>
        <p:spPr>
          <a:xfrm xmlns:a="http://schemas.openxmlformats.org/drawingml/2006/main">
            <a:off x="11584112" y="3391346"/>
            <a:ext cx="5591240" cy="172194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49831"/>
              </a:lnSpc>
              <a:buNone/>
            </a:pPr>
            <a:r>
              <a:rPr sz="1950">
                <a:solidFill>
                  <a:srgbClr val="202C35"/>
                </a:solidFill>
                <a:highlight>
                  <a:srgbClr val="F6EAE6"/>
                </a:highlight>
                <a:latin typeface="Courier New"/>
                <a:ea typeface="Courier New"/>
                <a:cs typeface="Courier New"/>
              </a:rPr>
              <a:t>logit P(Chinstrap) = −19.59 + 1.223 · bill length − 0.178 · flipper length</a:t>
            </a:r>
            <a:endParaRPr sz="1950"/>
          </a:p>
        </p:txBody>
      </p:sp>
      <p:sp>
        <p:nvSpPr>
          <p:cNvPr id="16" name="Shape 13">
            <a:extLst xmlns:a="http://schemas.openxmlformats.org/drawingml/2006/main">
              <a:ext uri="{FF2B5EF4-FFF2-40B4-BE49-F238E27FC236}">
                <a16:creationId xmlns:a16="http://schemas.microsoft.com/office/drawing/2014/main" id="{2F4628DE-8CBE-463E-B27F-744A1E300995}"/>
              </a:ext>
            </a:extLst>
          </p:cNvPr>
          <p:cNvSpPr>
            <a:spLocks xmlns:a="http://schemas.openxmlformats.org/drawingml/2006/main" noGrp="1"/>
          </p:cNvSpPr>
          <p:nvPr/>
        </p:nvSpPr>
        <p:spPr>
          <a:xfrm xmlns:a="http://schemas.openxmlformats.org/drawingml/2006/main">
            <a:off x="11203112" y="5940326"/>
            <a:ext cx="6094214"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DD350439-FDC3-4FD1-877F-E2C2D44DB91B}"/>
              </a:ext>
            </a:extLst>
          </p:cNvPr>
          <p:cNvSpPr>
            <a:spLocks xmlns:a="http://schemas.openxmlformats.org/drawingml/2006/main" noGrp="1"/>
          </p:cNvSpPr>
          <p:nvPr/>
        </p:nvSpPr>
        <p:spPr>
          <a:xfrm xmlns:a="http://schemas.openxmlformats.org/drawingml/2006/main">
            <a:off x="11203112" y="5760988"/>
            <a:ext cx="2910289"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Odds ratio, bill length</a:t>
            </a:r>
            <a:endParaRPr sz="2175"/>
          </a:p>
        </p:txBody>
      </p:sp>
      <p:sp>
        <p:nvSpPr>
          <p:cNvPr id="18" name="Text 15">
            <a:extLst xmlns:a="http://schemas.openxmlformats.org/drawingml/2006/main">
              <a:ext uri="{FF2B5EF4-FFF2-40B4-BE49-F238E27FC236}">
                <a16:creationId xmlns:a16="http://schemas.microsoft.com/office/drawing/2014/main" id="{FF7C3A7F-04B8-4739-9B5D-2D563B3302B5}"/>
              </a:ext>
            </a:extLst>
          </p:cNvPr>
          <p:cNvSpPr>
            <a:spLocks xmlns:a="http://schemas.openxmlformats.org/drawingml/2006/main" noGrp="1"/>
          </p:cNvSpPr>
          <p:nvPr/>
        </p:nvSpPr>
        <p:spPr>
          <a:xfrm xmlns:a="http://schemas.openxmlformats.org/drawingml/2006/main">
            <a:off x="16302856" y="5760988"/>
            <a:ext cx="1070670"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3.40 ×</a:t>
            </a:r>
            <a:endParaRPr sz="2175"/>
          </a:p>
        </p:txBody>
      </p:sp>
      <p:sp>
        <p:nvSpPr>
          <p:cNvPr id="19" name="Shape 16">
            <a:extLst xmlns:a="http://schemas.openxmlformats.org/drawingml/2006/main">
              <a:ext uri="{FF2B5EF4-FFF2-40B4-BE49-F238E27FC236}">
                <a16:creationId xmlns:a16="http://schemas.microsoft.com/office/drawing/2014/main" id="{9A18CB45-A95B-421F-9E8B-B9599CBF9FA8}"/>
              </a:ext>
            </a:extLst>
          </p:cNvPr>
          <p:cNvSpPr>
            <a:spLocks xmlns:a="http://schemas.openxmlformats.org/drawingml/2006/main" noGrp="1"/>
          </p:cNvSpPr>
          <p:nvPr/>
        </p:nvSpPr>
        <p:spPr>
          <a:xfrm xmlns:a="http://schemas.openxmlformats.org/drawingml/2006/main">
            <a:off x="11203112" y="6300118"/>
            <a:ext cx="6094214"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0" name="Text 17">
            <a:extLst xmlns:a="http://schemas.openxmlformats.org/drawingml/2006/main">
              <a:ext uri="{FF2B5EF4-FFF2-40B4-BE49-F238E27FC236}">
                <a16:creationId xmlns:a16="http://schemas.microsoft.com/office/drawing/2014/main" id="{3C9E4CB8-5DAE-4CB0-9286-C93A94B24847}"/>
              </a:ext>
            </a:extLst>
          </p:cNvPr>
          <p:cNvSpPr>
            <a:spLocks xmlns:a="http://schemas.openxmlformats.org/drawingml/2006/main" noGrp="1"/>
          </p:cNvSpPr>
          <p:nvPr/>
        </p:nvSpPr>
        <p:spPr>
          <a:xfrm xmlns:a="http://schemas.openxmlformats.org/drawingml/2006/main">
            <a:off x="11203112" y="6121301"/>
            <a:ext cx="1624667"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516674"/>
                </a:solidFill>
                <a:latin typeface="Arial"/>
                <a:ea typeface="Arial"/>
                <a:cs typeface="Arial"/>
              </a:rPr>
              <a:t>95% interval</a:t>
            </a:r>
            <a:endParaRPr sz="2025"/>
          </a:p>
        </p:txBody>
      </p:sp>
      <p:sp>
        <p:nvSpPr>
          <p:cNvPr id="21" name="Text 18">
            <a:extLst xmlns:a="http://schemas.openxmlformats.org/drawingml/2006/main">
              <a:ext uri="{FF2B5EF4-FFF2-40B4-BE49-F238E27FC236}">
                <a16:creationId xmlns:a16="http://schemas.microsoft.com/office/drawing/2014/main" id="{3B2F733A-52EF-4465-B944-5E5D353CC7D8}"/>
              </a:ext>
            </a:extLst>
          </p:cNvPr>
          <p:cNvSpPr>
            <a:spLocks xmlns:a="http://schemas.openxmlformats.org/drawingml/2006/main" noGrp="1"/>
          </p:cNvSpPr>
          <p:nvPr/>
        </p:nvSpPr>
        <p:spPr>
          <a:xfrm xmlns:a="http://schemas.openxmlformats.org/drawingml/2006/main">
            <a:off x="15445606" y="6121301"/>
            <a:ext cx="2036891"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516674"/>
                </a:solidFill>
                <a:latin typeface="Courier New"/>
                <a:ea typeface="Courier New"/>
                <a:cs typeface="Courier New"/>
              </a:rPr>
              <a:t>[2.19, 5.27]</a:t>
            </a:r>
            <a:endParaRPr sz="2025"/>
          </a:p>
        </p:txBody>
      </p:sp>
      <p:sp>
        <p:nvSpPr>
          <p:cNvPr id="22" name="Shape 19">
            <a:extLst xmlns:a="http://schemas.openxmlformats.org/drawingml/2006/main">
              <a:ext uri="{FF2B5EF4-FFF2-40B4-BE49-F238E27FC236}">
                <a16:creationId xmlns:a16="http://schemas.microsoft.com/office/drawing/2014/main" id="{704523EF-4CBE-460D-8CD2-3F4A0FF89D34}"/>
              </a:ext>
            </a:extLst>
          </p:cNvPr>
          <p:cNvSpPr>
            <a:spLocks xmlns:a="http://schemas.openxmlformats.org/drawingml/2006/main" noGrp="1"/>
          </p:cNvSpPr>
          <p:nvPr/>
        </p:nvSpPr>
        <p:spPr>
          <a:xfrm xmlns:a="http://schemas.openxmlformats.org/drawingml/2006/main">
            <a:off x="11203112" y="6660431"/>
            <a:ext cx="6094214"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3" name="Text 20">
            <a:extLst xmlns:a="http://schemas.openxmlformats.org/drawingml/2006/main">
              <a:ext uri="{FF2B5EF4-FFF2-40B4-BE49-F238E27FC236}">
                <a16:creationId xmlns:a16="http://schemas.microsoft.com/office/drawing/2014/main" id="{F53DB858-49A0-4AE5-B9A6-5004259058BA}"/>
              </a:ext>
            </a:extLst>
          </p:cNvPr>
          <p:cNvSpPr>
            <a:spLocks xmlns:a="http://schemas.openxmlformats.org/drawingml/2006/main" noGrp="1"/>
          </p:cNvSpPr>
          <p:nvPr/>
        </p:nvSpPr>
        <p:spPr>
          <a:xfrm xmlns:a="http://schemas.openxmlformats.org/drawingml/2006/main">
            <a:off x="11203112" y="6481093"/>
            <a:ext cx="2448706"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Odds ratio, flipper</a:t>
            </a:r>
            <a:endParaRPr sz="2175"/>
          </a:p>
        </p:txBody>
      </p:sp>
      <p:sp>
        <p:nvSpPr>
          <p:cNvPr id="24" name="Text 21">
            <a:extLst xmlns:a="http://schemas.openxmlformats.org/drawingml/2006/main">
              <a:ext uri="{FF2B5EF4-FFF2-40B4-BE49-F238E27FC236}">
                <a16:creationId xmlns:a16="http://schemas.microsoft.com/office/drawing/2014/main" id="{4D7729E9-EE95-4FC1-B8AB-81708862D094}"/>
              </a:ext>
            </a:extLst>
          </p:cNvPr>
          <p:cNvSpPr>
            <a:spLocks xmlns:a="http://schemas.openxmlformats.org/drawingml/2006/main" noGrp="1"/>
          </p:cNvSpPr>
          <p:nvPr/>
        </p:nvSpPr>
        <p:spPr>
          <a:xfrm xmlns:a="http://schemas.openxmlformats.org/drawingml/2006/main">
            <a:off x="16302856" y="6481093"/>
            <a:ext cx="1070670"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0.84 ×</a:t>
            </a:r>
            <a:endParaRPr sz="2175"/>
          </a:p>
        </p:txBody>
      </p:sp>
      <p:sp>
        <p:nvSpPr>
          <p:cNvPr id="25" name="Shape 22">
            <a:extLst xmlns:a="http://schemas.openxmlformats.org/drawingml/2006/main">
              <a:ext uri="{FF2B5EF4-FFF2-40B4-BE49-F238E27FC236}">
                <a16:creationId xmlns:a16="http://schemas.microsoft.com/office/drawing/2014/main" id="{804044F9-4357-4924-9024-0EC6EB70D86A}"/>
              </a:ext>
            </a:extLst>
          </p:cNvPr>
          <p:cNvSpPr>
            <a:spLocks xmlns:a="http://schemas.openxmlformats.org/drawingml/2006/main" noGrp="1"/>
          </p:cNvSpPr>
          <p:nvPr/>
        </p:nvSpPr>
        <p:spPr>
          <a:xfrm xmlns:a="http://schemas.openxmlformats.org/drawingml/2006/main">
            <a:off x="11203112" y="7020223"/>
            <a:ext cx="6094214"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68C7C9E7-34F9-4412-93B6-99853DE897DF}"/>
              </a:ext>
            </a:extLst>
          </p:cNvPr>
          <p:cNvSpPr>
            <a:spLocks xmlns:a="http://schemas.openxmlformats.org/drawingml/2006/main" noGrp="1"/>
          </p:cNvSpPr>
          <p:nvPr/>
        </p:nvSpPr>
        <p:spPr>
          <a:xfrm xmlns:a="http://schemas.openxmlformats.org/drawingml/2006/main">
            <a:off x="11203112" y="6841406"/>
            <a:ext cx="1624667"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516674"/>
                </a:solidFill>
                <a:latin typeface="Arial"/>
                <a:ea typeface="Arial"/>
                <a:cs typeface="Arial"/>
              </a:rPr>
              <a:t>95% interval</a:t>
            </a:r>
            <a:endParaRPr sz="2025"/>
          </a:p>
        </p:txBody>
      </p:sp>
      <p:sp>
        <p:nvSpPr>
          <p:cNvPr id="27" name="Text 24">
            <a:extLst xmlns:a="http://schemas.openxmlformats.org/drawingml/2006/main">
              <a:ext uri="{FF2B5EF4-FFF2-40B4-BE49-F238E27FC236}">
                <a16:creationId xmlns:a16="http://schemas.microsoft.com/office/drawing/2014/main" id="{C69F123C-51EB-4A94-9B3E-26EEFE2A1719}"/>
              </a:ext>
            </a:extLst>
          </p:cNvPr>
          <p:cNvSpPr>
            <a:spLocks xmlns:a="http://schemas.openxmlformats.org/drawingml/2006/main" noGrp="1"/>
          </p:cNvSpPr>
          <p:nvPr/>
        </p:nvSpPr>
        <p:spPr>
          <a:xfrm xmlns:a="http://schemas.openxmlformats.org/drawingml/2006/main">
            <a:off x="15445606" y="6841406"/>
            <a:ext cx="2036891"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516674"/>
                </a:solidFill>
                <a:latin typeface="Courier New"/>
                <a:ea typeface="Courier New"/>
                <a:cs typeface="Courier New"/>
              </a:rPr>
              <a:t>[0.73, 0.97]</a:t>
            </a:r>
            <a:endParaRPr sz="2025"/>
          </a:p>
        </p:txBody>
      </p:sp>
      <p:sp>
        <p:nvSpPr>
          <p:cNvPr id="28" name="Text 25">
            <a:extLst xmlns:a="http://schemas.openxmlformats.org/drawingml/2006/main">
              <a:ext uri="{FF2B5EF4-FFF2-40B4-BE49-F238E27FC236}">
                <a16:creationId xmlns:a16="http://schemas.microsoft.com/office/drawing/2014/main" id="{1F7909FB-FCF3-46B7-B60A-F26EAECD405B}"/>
              </a:ext>
            </a:extLst>
          </p:cNvPr>
          <p:cNvSpPr>
            <a:spLocks xmlns:a="http://schemas.openxmlformats.org/drawingml/2006/main" noGrp="1"/>
          </p:cNvSpPr>
          <p:nvPr/>
        </p:nvSpPr>
        <p:spPr>
          <a:xfrm xmlns:a="http://schemas.openxmlformats.org/drawingml/2006/main">
            <a:off x="11203112" y="7258348"/>
            <a:ext cx="6277040" cy="1971377"/>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4923"/>
              </a:lnSpc>
              <a:buNone/>
            </a:pPr>
            <a:r>
              <a:rPr sz="2100">
                <a:solidFill>
                  <a:srgbClr val="516674"/>
                </a:solidFill>
                <a:latin typeface="Arial"/>
                <a:ea typeface="Arial"/>
                <a:cs typeface="Arial"/>
              </a:rPr>
              <a:t>One extra millimetre of bill multiplies the odds of being a Chinstrap by 3.4 at fixed flipper length. Adding flipper length to the bill-only model is worth a likelihood-ratio χ² of 7.11 on 1 df (p = 0.008).</a:t>
            </a:r>
            <a:endParaRPr sz="2100"/>
          </a:p>
        </p:txBody>
      </p:sp>
      <p:sp>
        <p:nvSpPr>
          <p:cNvPr id="29" name="Text 26">
            <a:extLst xmlns:a="http://schemas.openxmlformats.org/drawingml/2006/main">
              <a:ext uri="{FF2B5EF4-FFF2-40B4-BE49-F238E27FC236}">
                <a16:creationId xmlns:a16="http://schemas.microsoft.com/office/drawing/2014/main" id="{EBAA5D4F-9068-49B8-A439-20E871792D9C}"/>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30" name="Text 27">
            <a:extLst xmlns:a="http://schemas.openxmlformats.org/drawingml/2006/main">
              <a:ext uri="{FF2B5EF4-FFF2-40B4-BE49-F238E27FC236}">
                <a16:creationId xmlns:a16="http://schemas.microsoft.com/office/drawing/2014/main" id="{BEB1CDAF-E952-442E-AAF6-55782ECB9233}"/>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16</a:t>
            </a:r>
            <a:endParaRPr sz="1800"/>
          </a:p>
        </p:txBody>
      </p:sp>
    </p:spTree>
    <p:extLst>
      <p:ext uri="{BB962C8B-B14F-4D97-AF65-F5344CB8AC3E}">
        <p14:creationId xmlns:p14="http://schemas.microsoft.com/office/powerpoint/2010/main" val="786187277"/>
      </p:ext>
    </p:extLst>
  </p:cSld>
</p:sld>
</file>

<file path=ppt/slides/slide17.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35FAE5-1B50-43F0-8452-5F112732E84F}"/>
              </a:ext>
            </a:extLst>
          </p:cNvPr>
          <p:cNvSpPr>
            <a:spLocks xmlns:a="http://schemas.openxmlformats.org/drawingml/2006/main" noGrp="1"/>
          </p:cNvSpPr>
          <p:nvPr/>
        </p:nvSpPr>
        <p:spPr>
          <a:xfrm xmlns:a="http://schemas.openxmlformats.org/drawingml/2006/main">
            <a:off x="990600" y="766763"/>
            <a:ext cx="4198858"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LOGISTIC REGRESSION</a:t>
            </a:r>
            <a:endParaRPr sz="1950"/>
          </a:p>
        </p:txBody>
      </p:sp>
      <p:sp>
        <p:nvSpPr>
          <p:cNvPr id="3" name="Text 1">
            <a:extLst xmlns:a="http://schemas.openxmlformats.org/drawingml/2006/main">
              <a:ext uri="{FF2B5EF4-FFF2-40B4-BE49-F238E27FC236}">
                <a16:creationId xmlns:a16="http://schemas.microsoft.com/office/drawing/2014/main" id="{F06020A2-760D-4BC9-9612-35BF6851535F}"/>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17</a:t>
            </a:r>
            <a:endParaRPr sz="1950"/>
          </a:p>
        </p:txBody>
      </p:sp>
      <p:sp>
        <p:nvSpPr>
          <p:cNvPr id="4" name="Shape 2">
            <a:extLst xmlns:a="http://schemas.openxmlformats.org/drawingml/2006/main">
              <a:ext uri="{FF2B5EF4-FFF2-40B4-BE49-F238E27FC236}">
                <a16:creationId xmlns:a16="http://schemas.microsoft.com/office/drawing/2014/main" id="{BE3FB86B-8D6E-45BB-B63A-5C6D60908F1F}"/>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F0FCD493-9120-440B-9194-7A7B60D46606}"/>
              </a:ext>
            </a:extLst>
          </p:cNvPr>
          <p:cNvSpPr>
            <a:spLocks xmlns:a="http://schemas.openxmlformats.org/drawingml/2006/main" noGrp="1"/>
          </p:cNvSpPr>
          <p:nvPr/>
        </p:nvSpPr>
        <p:spPr>
          <a:xfrm xmlns:a="http://schemas.openxmlformats.org/drawingml/2006/main">
            <a:off x="990600" y="1500188"/>
            <a:ext cx="16344900" cy="71697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Eight birds out of 206 fall on the wrong side of the line</a:t>
            </a:r>
            <a:endParaRPr sz="4950"/>
          </a:p>
        </p:txBody>
      </p:sp>
      <p:sp>
        <p:nvSpPr>
          <p:cNvPr id="6" name="Text 4">
            <a:extLst xmlns:a="http://schemas.openxmlformats.org/drawingml/2006/main">
              <a:ext uri="{FF2B5EF4-FFF2-40B4-BE49-F238E27FC236}">
                <a16:creationId xmlns:a16="http://schemas.microsoft.com/office/drawing/2014/main" id="{3EC94EBB-AD84-40A2-8EF9-F29376EF8EC9}"/>
              </a:ext>
            </a:extLst>
          </p:cNvPr>
          <p:cNvSpPr>
            <a:spLocks xmlns:a="http://schemas.openxmlformats.org/drawingml/2006/main" noGrp="1"/>
          </p:cNvSpPr>
          <p:nvPr/>
        </p:nvSpPr>
        <p:spPr>
          <a:xfrm xmlns:a="http://schemas.openxmlformats.org/drawingml/2006/main">
            <a:off x="990600" y="2312417"/>
            <a:ext cx="15716250" cy="4381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400">
                <a:solidFill>
                  <a:srgbClr val="C86C5A"/>
                </a:solidFill>
                <a:latin typeface="Arial"/>
                <a:ea typeface="Arial"/>
                <a:cs typeface="Arial"/>
              </a:rPr>
              <a:t>All figures below are in-sample: the classifier was scored on the same observations used to estimate it.</a:t>
            </a:r>
            <a:endParaRPr sz="2400"/>
          </a:p>
        </p:txBody>
      </p:sp>
      <p:sp>
        <p:nvSpPr>
          <p:cNvPr id="7" name="Text 5">
            <a:extLst xmlns:a="http://schemas.openxmlformats.org/drawingml/2006/main">
              <a:ext uri="{FF2B5EF4-FFF2-40B4-BE49-F238E27FC236}">
                <a16:creationId xmlns:a16="http://schemas.microsoft.com/office/drawing/2014/main" id="{14A68571-0E27-4242-87B6-0D5AD12E3C91}"/>
              </a:ext>
            </a:extLst>
          </p:cNvPr>
          <p:cNvSpPr>
            <a:spLocks xmlns:a="http://schemas.openxmlformats.org/drawingml/2006/main" noGrp="1"/>
          </p:cNvSpPr>
          <p:nvPr/>
        </p:nvSpPr>
        <p:spPr>
          <a:xfrm xmlns:a="http://schemas.openxmlformats.org/drawingml/2006/main">
            <a:off x="990600" y="2998217"/>
            <a:ext cx="8201754"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516674"/>
                </a:solidFill>
                <a:latin typeface="Arial"/>
                <a:ea typeface="Arial"/>
                <a:cs typeface="Arial"/>
              </a:rPr>
              <a:t>CONFUSION MATRIX, THRESHOLD 0.5</a:t>
            </a:r>
            <a:endParaRPr sz="1800"/>
          </a:p>
        </p:txBody>
      </p:sp>
      <p:sp>
        <p:nvSpPr>
          <p:cNvPr id="8" name="Text 6">
            <a:extLst xmlns:a="http://schemas.openxmlformats.org/drawingml/2006/main">
              <a:ext uri="{FF2B5EF4-FFF2-40B4-BE49-F238E27FC236}">
                <a16:creationId xmlns:a16="http://schemas.microsoft.com/office/drawing/2014/main" id="{25078135-D85C-4607-B5E8-0BB92BFE1AAE}"/>
              </a:ext>
            </a:extLst>
          </p:cNvPr>
          <p:cNvSpPr>
            <a:spLocks xmlns:a="http://schemas.openxmlformats.org/drawingml/2006/main" noGrp="1"/>
          </p:cNvSpPr>
          <p:nvPr/>
        </p:nvSpPr>
        <p:spPr>
          <a:xfrm xmlns:a="http://schemas.openxmlformats.org/drawingml/2006/main">
            <a:off x="2856834" y="3450654"/>
            <a:ext cx="2948352"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ctr">
              <a:buNone/>
            </a:pPr>
            <a:r>
              <a:rPr sz="1950">
                <a:solidFill>
                  <a:srgbClr val="516674"/>
                </a:solidFill>
                <a:latin typeface="Arial"/>
                <a:ea typeface="Arial"/>
                <a:cs typeface="Arial"/>
              </a:rPr>
              <a:t>Predicted Adelie</a:t>
            </a:r>
            <a:endParaRPr sz="1950"/>
          </a:p>
        </p:txBody>
      </p:sp>
      <p:sp>
        <p:nvSpPr>
          <p:cNvPr id="9" name="Text 7">
            <a:extLst xmlns:a="http://schemas.openxmlformats.org/drawingml/2006/main">
              <a:ext uri="{FF2B5EF4-FFF2-40B4-BE49-F238E27FC236}">
                <a16:creationId xmlns:a16="http://schemas.microsoft.com/office/drawing/2014/main" id="{FA7A5B2E-332F-4729-8874-7A8BBEE02581}"/>
              </a:ext>
            </a:extLst>
          </p:cNvPr>
          <p:cNvSpPr>
            <a:spLocks xmlns:a="http://schemas.openxmlformats.org/drawingml/2006/main" noGrp="1"/>
          </p:cNvSpPr>
          <p:nvPr/>
        </p:nvSpPr>
        <p:spPr>
          <a:xfrm xmlns:a="http://schemas.openxmlformats.org/drawingml/2006/main">
            <a:off x="5632404" y="3450654"/>
            <a:ext cx="2948352"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ctr">
              <a:buNone/>
            </a:pPr>
            <a:r>
              <a:rPr sz="1950">
                <a:solidFill>
                  <a:srgbClr val="516674"/>
                </a:solidFill>
                <a:latin typeface="Arial"/>
                <a:ea typeface="Arial"/>
                <a:cs typeface="Arial"/>
              </a:rPr>
              <a:t>Predicted Chinstrap</a:t>
            </a:r>
            <a:endParaRPr sz="1950"/>
          </a:p>
        </p:txBody>
      </p:sp>
      <p:sp>
        <p:nvSpPr>
          <p:cNvPr id="10" name="Text 8">
            <a:extLst xmlns:a="http://schemas.openxmlformats.org/drawingml/2006/main">
              <a:ext uri="{FF2B5EF4-FFF2-40B4-BE49-F238E27FC236}">
                <a16:creationId xmlns:a16="http://schemas.microsoft.com/office/drawing/2014/main" id="{24DA55FC-82FE-4B4F-B28B-A03B29B46F68}"/>
              </a:ext>
            </a:extLst>
          </p:cNvPr>
          <p:cNvSpPr>
            <a:spLocks xmlns:a="http://schemas.openxmlformats.org/drawingml/2006/main" noGrp="1"/>
          </p:cNvSpPr>
          <p:nvPr/>
        </p:nvSpPr>
        <p:spPr>
          <a:xfrm xmlns:a="http://schemas.openxmlformats.org/drawingml/2006/main">
            <a:off x="914400" y="3922142"/>
            <a:ext cx="1828800" cy="11620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ctr">
            <a:normAutofit/>
          </a:bodyPr>
          <a:lstStyle xmlns:a="http://schemas.openxmlformats.org/drawingml/2006/main"/>
          <a:p xmlns:a="http://schemas.openxmlformats.org/drawingml/2006/main">
            <a:pPr marL="0" indent="0" algn="r">
              <a:buNone/>
            </a:pPr>
            <a:r>
              <a:rPr sz="2100">
                <a:solidFill>
                  <a:srgbClr val="202C35"/>
                </a:solidFill>
                <a:latin typeface="Arial"/>
                <a:ea typeface="Arial"/>
                <a:cs typeface="Arial"/>
              </a:rPr>
              <a:t>Observed Adelie</a:t>
            </a:r>
            <a:endParaRPr sz="2100"/>
          </a:p>
        </p:txBody>
      </p:sp>
      <p:sp>
        <p:nvSpPr>
          <p:cNvPr id="11" name="Shape 9">
            <a:extLst xmlns:a="http://schemas.openxmlformats.org/drawingml/2006/main">
              <a:ext uri="{FF2B5EF4-FFF2-40B4-BE49-F238E27FC236}">
                <a16:creationId xmlns:a16="http://schemas.microsoft.com/office/drawing/2014/main" id="{9441B7E5-20D4-4EA9-9EB6-EAE112AD9223}"/>
              </a:ext>
            </a:extLst>
          </p:cNvPr>
          <p:cNvSpPr>
            <a:spLocks xmlns:a="http://schemas.openxmlformats.org/drawingml/2006/main" noGrp="1"/>
          </p:cNvSpPr>
          <p:nvPr/>
        </p:nvSpPr>
        <p:spPr>
          <a:xfrm xmlns:a="http://schemas.openxmlformats.org/drawingml/2006/main">
            <a:off x="2990850" y="3922142"/>
            <a:ext cx="2680320" cy="1123950"/>
          </a:xfrm>
          <a:prstGeom xmlns:a="http://schemas.openxmlformats.org/drawingml/2006/main" prst="rect">
            <a:avLst/>
          </a:prstGeom>
          <a:solidFill xmlns:a="http://schemas.openxmlformats.org/drawingml/2006/main">
            <a:srgbClr val="B85C4A"/>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E612D0B-B5CA-4FD8-B0B4-81FE16BFFB6A}"/>
              </a:ext>
            </a:extLst>
          </p:cNvPr>
          <p:cNvSpPr>
            <a:spLocks xmlns:a="http://schemas.openxmlformats.org/drawingml/2006/main" noGrp="1"/>
          </p:cNvSpPr>
          <p:nvPr/>
        </p:nvSpPr>
        <p:spPr>
          <a:xfrm xmlns:a="http://schemas.openxmlformats.org/drawingml/2006/main">
            <a:off x="2950645" y="3922142"/>
            <a:ext cx="2760730" cy="11620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ctr">
            <a:normAutofit/>
          </a:bodyPr>
          <a:lstStyle xmlns:a="http://schemas.openxmlformats.org/drawingml/2006/main"/>
          <a:p xmlns:a="http://schemas.openxmlformats.org/drawingml/2006/main">
            <a:pPr marL="0" indent="0" algn="ctr">
              <a:buNone/>
            </a:pPr>
            <a:r>
              <a:rPr sz="4950">
                <a:solidFill>
                  <a:srgbClr val="FFF8F5"/>
                </a:solidFill>
                <a:latin typeface="Georgia"/>
                <a:ea typeface="Georgia"/>
                <a:cs typeface="Georgia"/>
              </a:rPr>
              <a:t>135</a:t>
            </a:r>
            <a:endParaRPr sz="4950"/>
          </a:p>
        </p:txBody>
      </p:sp>
      <p:sp>
        <p:nvSpPr>
          <p:cNvPr id="13" name="Shape 11">
            <a:extLst xmlns:a="http://schemas.openxmlformats.org/drawingml/2006/main">
              <a:ext uri="{FF2B5EF4-FFF2-40B4-BE49-F238E27FC236}">
                <a16:creationId xmlns:a16="http://schemas.microsoft.com/office/drawing/2014/main" id="{854743CC-6938-4D44-9D4B-3C823CAD9103}"/>
              </a:ext>
            </a:extLst>
          </p:cNvPr>
          <p:cNvSpPr>
            <a:spLocks xmlns:a="http://schemas.openxmlformats.org/drawingml/2006/main" noGrp="1"/>
          </p:cNvSpPr>
          <p:nvPr/>
        </p:nvSpPr>
        <p:spPr>
          <a:xfrm xmlns:a="http://schemas.openxmlformats.org/drawingml/2006/main">
            <a:off x="5766420" y="3922142"/>
            <a:ext cx="2680320" cy="1123950"/>
          </a:xfrm>
          <a:prstGeom xmlns:a="http://schemas.openxmlformats.org/drawingml/2006/main" prst="rect">
            <a:avLst/>
          </a:prstGeom>
          <a:solidFill xmlns:a="http://schemas.openxmlformats.org/drawingml/2006/main">
            <a:srgbClr val="F1E4E0"/>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BC2D9B2-9F98-4FEF-A224-31577AFF208A}"/>
              </a:ext>
            </a:extLst>
          </p:cNvPr>
          <p:cNvSpPr>
            <a:spLocks xmlns:a="http://schemas.openxmlformats.org/drawingml/2006/main" noGrp="1"/>
          </p:cNvSpPr>
          <p:nvPr/>
        </p:nvSpPr>
        <p:spPr>
          <a:xfrm xmlns:a="http://schemas.openxmlformats.org/drawingml/2006/main">
            <a:off x="5726215" y="3922142"/>
            <a:ext cx="2760730" cy="11620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ctr">
            <a:normAutofit/>
          </a:bodyPr>
          <a:lstStyle xmlns:a="http://schemas.openxmlformats.org/drawingml/2006/main"/>
          <a:p xmlns:a="http://schemas.openxmlformats.org/drawingml/2006/main">
            <a:pPr marL="0" indent="0" algn="ctr">
              <a:buNone/>
            </a:pPr>
            <a:r>
              <a:rPr sz="4950">
                <a:solidFill>
                  <a:srgbClr val="202C35"/>
                </a:solidFill>
                <a:latin typeface="Georgia"/>
                <a:ea typeface="Georgia"/>
                <a:cs typeface="Georgia"/>
              </a:rPr>
              <a:t>4</a:t>
            </a:r>
            <a:endParaRPr sz="4950"/>
          </a:p>
        </p:txBody>
      </p:sp>
      <p:sp>
        <p:nvSpPr>
          <p:cNvPr id="15" name="Text 13">
            <a:extLst xmlns:a="http://schemas.openxmlformats.org/drawingml/2006/main">
              <a:ext uri="{FF2B5EF4-FFF2-40B4-BE49-F238E27FC236}">
                <a16:creationId xmlns:a16="http://schemas.microsoft.com/office/drawing/2014/main" id="{4CACF7B6-DAC5-48A2-8C23-E8249E336DC3}"/>
              </a:ext>
            </a:extLst>
          </p:cNvPr>
          <p:cNvSpPr>
            <a:spLocks xmlns:a="http://schemas.openxmlformats.org/drawingml/2006/main" noGrp="1"/>
          </p:cNvSpPr>
          <p:nvPr/>
        </p:nvSpPr>
        <p:spPr>
          <a:xfrm xmlns:a="http://schemas.openxmlformats.org/drawingml/2006/main">
            <a:off x="914400" y="5141342"/>
            <a:ext cx="1828800" cy="11620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ctr">
            <a:normAutofit/>
          </a:bodyPr>
          <a:lstStyle xmlns:a="http://schemas.openxmlformats.org/drawingml/2006/main"/>
          <a:p xmlns:a="http://schemas.openxmlformats.org/drawingml/2006/main">
            <a:pPr marL="0" indent="0" algn="r">
              <a:buNone/>
            </a:pPr>
            <a:r>
              <a:rPr sz="2100">
                <a:solidFill>
                  <a:srgbClr val="202C35"/>
                </a:solidFill>
                <a:latin typeface="Arial"/>
                <a:ea typeface="Arial"/>
                <a:cs typeface="Arial"/>
              </a:rPr>
              <a:t>Observed Chinstrap</a:t>
            </a:r>
            <a:endParaRPr sz="2100"/>
          </a:p>
        </p:txBody>
      </p:sp>
      <p:sp>
        <p:nvSpPr>
          <p:cNvPr id="16" name="Shape 14">
            <a:extLst xmlns:a="http://schemas.openxmlformats.org/drawingml/2006/main">
              <a:ext uri="{FF2B5EF4-FFF2-40B4-BE49-F238E27FC236}">
                <a16:creationId xmlns:a16="http://schemas.microsoft.com/office/drawing/2014/main" id="{23EF91EB-2D7F-46E4-BD4F-DB0224F6BF84}"/>
              </a:ext>
            </a:extLst>
          </p:cNvPr>
          <p:cNvSpPr>
            <a:spLocks xmlns:a="http://schemas.openxmlformats.org/drawingml/2006/main" noGrp="1"/>
          </p:cNvSpPr>
          <p:nvPr/>
        </p:nvSpPr>
        <p:spPr>
          <a:xfrm xmlns:a="http://schemas.openxmlformats.org/drawingml/2006/main">
            <a:off x="2990850" y="5141342"/>
            <a:ext cx="2680320" cy="1123950"/>
          </a:xfrm>
          <a:prstGeom xmlns:a="http://schemas.openxmlformats.org/drawingml/2006/main" prst="rect">
            <a:avLst/>
          </a:prstGeom>
          <a:solidFill xmlns:a="http://schemas.openxmlformats.org/drawingml/2006/main">
            <a:srgbClr val="F1E4E0"/>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2A7F74D-320C-476F-8E63-372A75E5A29C}"/>
              </a:ext>
            </a:extLst>
          </p:cNvPr>
          <p:cNvSpPr>
            <a:spLocks xmlns:a="http://schemas.openxmlformats.org/drawingml/2006/main" noGrp="1"/>
          </p:cNvSpPr>
          <p:nvPr/>
        </p:nvSpPr>
        <p:spPr>
          <a:xfrm xmlns:a="http://schemas.openxmlformats.org/drawingml/2006/main">
            <a:off x="2950645" y="5141342"/>
            <a:ext cx="2760730" cy="11620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ctr">
            <a:normAutofit/>
          </a:bodyPr>
          <a:lstStyle xmlns:a="http://schemas.openxmlformats.org/drawingml/2006/main"/>
          <a:p xmlns:a="http://schemas.openxmlformats.org/drawingml/2006/main">
            <a:pPr marL="0" indent="0" algn="ctr">
              <a:buNone/>
            </a:pPr>
            <a:r>
              <a:rPr sz="4950">
                <a:solidFill>
                  <a:srgbClr val="202C35"/>
                </a:solidFill>
                <a:latin typeface="Georgia"/>
                <a:ea typeface="Georgia"/>
                <a:cs typeface="Georgia"/>
              </a:rPr>
              <a:t>4</a:t>
            </a:r>
            <a:endParaRPr sz="4950"/>
          </a:p>
        </p:txBody>
      </p:sp>
      <p:sp>
        <p:nvSpPr>
          <p:cNvPr id="18" name="Shape 16">
            <a:extLst xmlns:a="http://schemas.openxmlformats.org/drawingml/2006/main">
              <a:ext uri="{FF2B5EF4-FFF2-40B4-BE49-F238E27FC236}">
                <a16:creationId xmlns:a16="http://schemas.microsoft.com/office/drawing/2014/main" id="{C9401793-A520-4F20-A399-63F814130CBF}"/>
              </a:ext>
            </a:extLst>
          </p:cNvPr>
          <p:cNvSpPr>
            <a:spLocks xmlns:a="http://schemas.openxmlformats.org/drawingml/2006/main" noGrp="1"/>
          </p:cNvSpPr>
          <p:nvPr/>
        </p:nvSpPr>
        <p:spPr>
          <a:xfrm xmlns:a="http://schemas.openxmlformats.org/drawingml/2006/main">
            <a:off x="5766420" y="5141342"/>
            <a:ext cx="2680320" cy="1123950"/>
          </a:xfrm>
          <a:prstGeom xmlns:a="http://schemas.openxmlformats.org/drawingml/2006/main" prst="rect">
            <a:avLst/>
          </a:prstGeom>
          <a:solidFill xmlns:a="http://schemas.openxmlformats.org/drawingml/2006/main">
            <a:srgbClr val="B85C4A"/>
          </a:solidFill>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6A3EAED9-8654-441E-8D16-9725F3878CA5}"/>
              </a:ext>
            </a:extLst>
          </p:cNvPr>
          <p:cNvSpPr>
            <a:spLocks xmlns:a="http://schemas.openxmlformats.org/drawingml/2006/main" noGrp="1"/>
          </p:cNvSpPr>
          <p:nvPr/>
        </p:nvSpPr>
        <p:spPr>
          <a:xfrm xmlns:a="http://schemas.openxmlformats.org/drawingml/2006/main">
            <a:off x="5726215" y="5141342"/>
            <a:ext cx="2760730" cy="11620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ctr">
            <a:normAutofit/>
          </a:bodyPr>
          <a:lstStyle xmlns:a="http://schemas.openxmlformats.org/drawingml/2006/main"/>
          <a:p xmlns:a="http://schemas.openxmlformats.org/drawingml/2006/main">
            <a:pPr marL="0" indent="0" algn="ctr">
              <a:buNone/>
            </a:pPr>
            <a:r>
              <a:rPr sz="4950">
                <a:solidFill>
                  <a:srgbClr val="FFF8F5"/>
                </a:solidFill>
                <a:latin typeface="Georgia"/>
                <a:ea typeface="Georgia"/>
                <a:cs typeface="Georgia"/>
              </a:rPr>
              <a:t>63</a:t>
            </a:r>
            <a:endParaRPr sz="4950"/>
          </a:p>
        </p:txBody>
      </p:sp>
      <p:sp>
        <p:nvSpPr>
          <p:cNvPr id="20" name="Text 18">
            <a:extLst xmlns:a="http://schemas.openxmlformats.org/drawingml/2006/main">
              <a:ext uri="{FF2B5EF4-FFF2-40B4-BE49-F238E27FC236}">
                <a16:creationId xmlns:a16="http://schemas.microsoft.com/office/drawing/2014/main" id="{6E816429-56BC-4D0C-9156-4E7704ED1977}"/>
              </a:ext>
            </a:extLst>
          </p:cNvPr>
          <p:cNvSpPr>
            <a:spLocks xmlns:a="http://schemas.openxmlformats.org/drawingml/2006/main" noGrp="1"/>
          </p:cNvSpPr>
          <p:nvPr/>
        </p:nvSpPr>
        <p:spPr>
          <a:xfrm xmlns:a="http://schemas.openxmlformats.org/drawingml/2006/main">
            <a:off x="990600" y="6531992"/>
            <a:ext cx="2594164" cy="5143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719"/>
              </a:lnSpc>
              <a:buNone/>
            </a:pPr>
            <a:r>
              <a:rPr sz="3750">
                <a:solidFill>
                  <a:srgbClr val="202C35"/>
                </a:solidFill>
                <a:latin typeface="Georgia"/>
                <a:ea typeface="Georgia"/>
                <a:cs typeface="Georgia"/>
              </a:rPr>
              <a:t>96.1%</a:t>
            </a:r>
            <a:endParaRPr sz="3750"/>
          </a:p>
        </p:txBody>
      </p:sp>
      <p:sp>
        <p:nvSpPr>
          <p:cNvPr id="21" name="Text 19">
            <a:extLst xmlns:a="http://schemas.openxmlformats.org/drawingml/2006/main">
              <a:ext uri="{FF2B5EF4-FFF2-40B4-BE49-F238E27FC236}">
                <a16:creationId xmlns:a16="http://schemas.microsoft.com/office/drawing/2014/main" id="{F0AE42DF-0D09-483E-95D1-A843465EA30E}"/>
              </a:ext>
            </a:extLst>
          </p:cNvPr>
          <p:cNvSpPr>
            <a:spLocks xmlns:a="http://schemas.openxmlformats.org/drawingml/2006/main" noGrp="1"/>
          </p:cNvSpPr>
          <p:nvPr/>
        </p:nvSpPr>
        <p:spPr>
          <a:xfrm xmlns:a="http://schemas.openxmlformats.org/drawingml/2006/main">
            <a:off x="990600" y="7046342"/>
            <a:ext cx="2594164"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Arial"/>
                <a:ea typeface="Arial"/>
                <a:cs typeface="Arial"/>
              </a:rPr>
              <a:t>accuracy</a:t>
            </a:r>
            <a:endParaRPr sz="1950"/>
          </a:p>
        </p:txBody>
      </p:sp>
      <p:sp>
        <p:nvSpPr>
          <p:cNvPr id="22" name="Text 20">
            <a:extLst xmlns:a="http://schemas.openxmlformats.org/drawingml/2006/main">
              <a:ext uri="{FF2B5EF4-FFF2-40B4-BE49-F238E27FC236}">
                <a16:creationId xmlns:a16="http://schemas.microsoft.com/office/drawing/2014/main" id="{1AA7B2A4-82A6-42B3-BF70-A6C4229474B7}"/>
              </a:ext>
            </a:extLst>
          </p:cNvPr>
          <p:cNvSpPr>
            <a:spLocks xmlns:a="http://schemas.openxmlformats.org/drawingml/2006/main" noGrp="1"/>
          </p:cNvSpPr>
          <p:nvPr/>
        </p:nvSpPr>
        <p:spPr>
          <a:xfrm xmlns:a="http://schemas.openxmlformats.org/drawingml/2006/main">
            <a:off x="3539430" y="6531992"/>
            <a:ext cx="2594245" cy="5143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719"/>
              </a:lnSpc>
              <a:buNone/>
            </a:pPr>
            <a:r>
              <a:rPr sz="3750">
                <a:solidFill>
                  <a:srgbClr val="202C35"/>
                </a:solidFill>
                <a:latin typeface="Georgia"/>
                <a:ea typeface="Georgia"/>
                <a:cs typeface="Georgia"/>
              </a:rPr>
              <a:t>94.0%</a:t>
            </a:r>
            <a:endParaRPr sz="3750"/>
          </a:p>
        </p:txBody>
      </p:sp>
      <p:sp>
        <p:nvSpPr>
          <p:cNvPr id="23" name="Text 21">
            <a:extLst xmlns:a="http://schemas.openxmlformats.org/drawingml/2006/main">
              <a:ext uri="{FF2B5EF4-FFF2-40B4-BE49-F238E27FC236}">
                <a16:creationId xmlns:a16="http://schemas.microsoft.com/office/drawing/2014/main" id="{8E7B3DAF-2789-4D7E-8890-C5924E19D4A4}"/>
              </a:ext>
            </a:extLst>
          </p:cNvPr>
          <p:cNvSpPr>
            <a:spLocks xmlns:a="http://schemas.openxmlformats.org/drawingml/2006/main" noGrp="1"/>
          </p:cNvSpPr>
          <p:nvPr/>
        </p:nvSpPr>
        <p:spPr>
          <a:xfrm xmlns:a="http://schemas.openxmlformats.org/drawingml/2006/main">
            <a:off x="3539430" y="7046342"/>
            <a:ext cx="2594245"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Arial"/>
                <a:ea typeface="Arial"/>
                <a:cs typeface="Arial"/>
              </a:rPr>
              <a:t>sensitivity</a:t>
            </a:r>
            <a:endParaRPr sz="1950"/>
          </a:p>
        </p:txBody>
      </p:sp>
      <p:sp>
        <p:nvSpPr>
          <p:cNvPr id="24" name="Text 22">
            <a:extLst xmlns:a="http://schemas.openxmlformats.org/drawingml/2006/main">
              <a:ext uri="{FF2B5EF4-FFF2-40B4-BE49-F238E27FC236}">
                <a16:creationId xmlns:a16="http://schemas.microsoft.com/office/drawing/2014/main" id="{7DAA850D-50EC-4161-A878-9541D91924DE}"/>
              </a:ext>
            </a:extLst>
          </p:cNvPr>
          <p:cNvSpPr>
            <a:spLocks xmlns:a="http://schemas.openxmlformats.org/drawingml/2006/main" noGrp="1"/>
          </p:cNvSpPr>
          <p:nvPr/>
        </p:nvSpPr>
        <p:spPr>
          <a:xfrm xmlns:a="http://schemas.openxmlformats.org/drawingml/2006/main">
            <a:off x="6088335" y="6531992"/>
            <a:ext cx="2594164" cy="5143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719"/>
              </a:lnSpc>
              <a:buNone/>
            </a:pPr>
            <a:r>
              <a:rPr sz="3750">
                <a:solidFill>
                  <a:srgbClr val="202C35"/>
                </a:solidFill>
                <a:latin typeface="Georgia"/>
                <a:ea typeface="Georgia"/>
                <a:cs typeface="Georgia"/>
              </a:rPr>
              <a:t>97.1%</a:t>
            </a:r>
            <a:endParaRPr sz="3750"/>
          </a:p>
        </p:txBody>
      </p:sp>
      <p:sp>
        <p:nvSpPr>
          <p:cNvPr id="25" name="Text 23">
            <a:extLst xmlns:a="http://schemas.openxmlformats.org/drawingml/2006/main">
              <a:ext uri="{FF2B5EF4-FFF2-40B4-BE49-F238E27FC236}">
                <a16:creationId xmlns:a16="http://schemas.microsoft.com/office/drawing/2014/main" id="{87282109-3603-4870-947E-F49807275E6F}"/>
              </a:ext>
            </a:extLst>
          </p:cNvPr>
          <p:cNvSpPr>
            <a:spLocks xmlns:a="http://schemas.openxmlformats.org/drawingml/2006/main" noGrp="1"/>
          </p:cNvSpPr>
          <p:nvPr/>
        </p:nvSpPr>
        <p:spPr>
          <a:xfrm xmlns:a="http://schemas.openxmlformats.org/drawingml/2006/main">
            <a:off x="6088335" y="7046342"/>
            <a:ext cx="2594164"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516674"/>
                </a:solidFill>
                <a:latin typeface="Arial"/>
                <a:ea typeface="Arial"/>
                <a:cs typeface="Arial"/>
              </a:rPr>
              <a:t>specificity</a:t>
            </a:r>
            <a:endParaRPr sz="1950"/>
          </a:p>
        </p:txBody>
      </p:sp>
      <p:sp>
        <p:nvSpPr>
          <p:cNvPr id="26" name="Text 24">
            <a:extLst xmlns:a="http://schemas.openxmlformats.org/drawingml/2006/main">
              <a:ext uri="{FF2B5EF4-FFF2-40B4-BE49-F238E27FC236}">
                <a16:creationId xmlns:a16="http://schemas.microsoft.com/office/drawing/2014/main" id="{EC73F879-4AAC-4808-9A13-D295BA1B722B}"/>
              </a:ext>
            </a:extLst>
          </p:cNvPr>
          <p:cNvSpPr>
            <a:spLocks xmlns:a="http://schemas.openxmlformats.org/drawingml/2006/main" noGrp="1"/>
          </p:cNvSpPr>
          <p:nvPr/>
        </p:nvSpPr>
        <p:spPr>
          <a:xfrm xmlns:a="http://schemas.openxmlformats.org/drawingml/2006/main">
            <a:off x="9056340" y="2998217"/>
            <a:ext cx="9065084"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516674"/>
                </a:solidFill>
                <a:latin typeface="Arial"/>
                <a:ea typeface="Arial"/>
                <a:cs typeface="Arial"/>
              </a:rPr>
              <a:t>ROC CURVE</a:t>
            </a:r>
            <a:endParaRPr sz="1800"/>
          </a:p>
        </p:txBody>
      </p:sp>
      <p:pic>
        <p:nvPicPr>
          <p:cNvPr id="57" name="Image 0"/>
          <p:cNvPicPr>
            <a:picLocks xmlns:a="http://schemas.openxmlformats.org/drawingml/2006/main" noChangeAspect="1"/>
          </p:cNvPicPr>
          <p:nvPr/>
        </p:nvPicPr>
        <p:blipFill>
          <a:blip xmlns:r="http://schemas.openxmlformats.org/officeDocument/2006/relationships" xmlns:a="http://schemas.openxmlformats.org/drawingml/2006/main" r:embed="R0f28061b54664ec2">
            <a:extLst>
              <a:ext uri="{96DAC541-7B7A-43D3-8B79-37D633B846F1}">
                <asvg:svgBlip xmlns:asvg="http://schemas.microsoft.com/office/drawing/2016/SVG/main" r:embed="R74ef0c9680024754"/>
              </a:ext>
            </a:extLst>
          </a:blip>
          <a:stretch xmlns:a="http://schemas.openxmlformats.org/drawingml/2006/main">
            <a:fillRect l="0" t="0" r="0" b="0"/>
          </a:stretch>
        </p:blipFill>
        <p:spPr>
          <a:xfrm xmlns:a="http://schemas.openxmlformats.org/drawingml/2006/main">
            <a:off x="9056340" y="3412554"/>
            <a:ext cx="8240985" cy="4043735"/>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C698315C-0D78-492B-8D75-92878C442BF0}"/>
              </a:ext>
            </a:extLst>
          </p:cNvPr>
          <p:cNvSpPr>
            <a:spLocks xmlns:a="http://schemas.openxmlformats.org/drawingml/2006/main" noGrp="1"/>
          </p:cNvSpPr>
          <p:nvPr/>
        </p:nvSpPr>
        <p:spPr>
          <a:xfrm xmlns:a="http://schemas.openxmlformats.org/drawingml/2006/main">
            <a:off x="9056340" y="7608689"/>
            <a:ext cx="8488215" cy="1640086"/>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5522"/>
              </a:lnSpc>
              <a:buNone/>
            </a:pPr>
            <a:r>
              <a:rPr sz="2175">
                <a:solidFill>
                  <a:srgbClr val="516674"/>
                </a:solidFill>
                <a:latin typeface="Arial"/>
                <a:ea typeface="Arial"/>
                <a:cs typeface="Arial"/>
              </a:rPr>
              <a:t>An AUC of 0.993 says the two species are almost linearly separable in this plane. It does not say the classifier would hold on penguins measured by another team, on another island, in another season.</a:t>
            </a:r>
            <a:endParaRPr sz="2175"/>
          </a:p>
        </p:txBody>
      </p:sp>
      <p:sp>
        <p:nvSpPr>
          <p:cNvPr id="29" name="Text 26">
            <a:extLst xmlns:a="http://schemas.openxmlformats.org/drawingml/2006/main">
              <a:ext uri="{FF2B5EF4-FFF2-40B4-BE49-F238E27FC236}">
                <a16:creationId xmlns:a16="http://schemas.microsoft.com/office/drawing/2014/main" id="{2EDE30C7-B0E9-4212-9C09-A0809587BD6F}"/>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30" name="Text 27">
            <a:extLst xmlns:a="http://schemas.openxmlformats.org/drawingml/2006/main">
              <a:ext uri="{FF2B5EF4-FFF2-40B4-BE49-F238E27FC236}">
                <a16:creationId xmlns:a16="http://schemas.microsoft.com/office/drawing/2014/main" id="{F12C2F54-501E-4B9F-9984-3BD0217A7642}"/>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17</a:t>
            </a:r>
            <a:endParaRPr sz="1800"/>
          </a:p>
        </p:txBody>
      </p:sp>
    </p:spTree>
    <p:extLst>
      <p:ext uri="{BB962C8B-B14F-4D97-AF65-F5344CB8AC3E}">
        <p14:creationId xmlns:p14="http://schemas.microsoft.com/office/powerpoint/2010/main" val="30596680"/>
      </p:ext>
    </p:extLst>
  </p:cSld>
</p:sld>
</file>

<file path=ppt/slides/slide18.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B0C307-7DD5-4BBA-B23D-48982C40FD0F}"/>
              </a:ext>
            </a:extLst>
          </p:cNvPr>
          <p:cNvSpPr>
            <a:spLocks xmlns:a="http://schemas.openxmlformats.org/drawingml/2006/main" noGrp="1"/>
          </p:cNvSpPr>
          <p:nvPr/>
        </p:nvSpPr>
        <p:spPr>
          <a:xfrm xmlns:a="http://schemas.openxmlformats.org/drawingml/2006/main">
            <a:off x="990600" y="766763"/>
            <a:ext cx="3098557"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INTERPRETATION</a:t>
            </a:r>
            <a:endParaRPr sz="1950"/>
          </a:p>
        </p:txBody>
      </p:sp>
      <p:sp>
        <p:nvSpPr>
          <p:cNvPr id="3" name="Text 1">
            <a:extLst xmlns:a="http://schemas.openxmlformats.org/drawingml/2006/main">
              <a:ext uri="{FF2B5EF4-FFF2-40B4-BE49-F238E27FC236}">
                <a16:creationId xmlns:a16="http://schemas.microsoft.com/office/drawing/2014/main" id="{7F40B28D-A2B0-4A4D-9733-963440B7D6AE}"/>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18</a:t>
            </a:r>
            <a:endParaRPr sz="1950"/>
          </a:p>
        </p:txBody>
      </p:sp>
      <p:sp>
        <p:nvSpPr>
          <p:cNvPr id="4" name="Shape 2">
            <a:extLst xmlns:a="http://schemas.openxmlformats.org/drawingml/2006/main">
              <a:ext uri="{FF2B5EF4-FFF2-40B4-BE49-F238E27FC236}">
                <a16:creationId xmlns:a16="http://schemas.microsoft.com/office/drawing/2014/main" id="{2A03DF53-584B-4566-BB73-9EAE9A6A81F4}"/>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EB222C29-7249-4339-B71A-50C21923413C}"/>
              </a:ext>
            </a:extLst>
          </p:cNvPr>
          <p:cNvSpPr>
            <a:spLocks xmlns:a="http://schemas.openxmlformats.org/drawingml/2006/main" noGrp="1"/>
          </p:cNvSpPr>
          <p:nvPr/>
        </p:nvSpPr>
        <p:spPr>
          <a:xfrm xmlns:a="http://schemas.openxmlformats.org/drawingml/2006/main">
            <a:off x="990600" y="1500188"/>
            <a:ext cx="17937480" cy="71697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5040"/>
              </a:lnSpc>
              <a:buNone/>
            </a:pPr>
            <a:r>
              <a:rPr sz="4950" spc="-74">
                <a:solidFill>
                  <a:srgbClr val="202C35"/>
                </a:solidFill>
                <a:latin typeface="Georgia"/>
                <a:ea typeface="Georgia"/>
                <a:cs typeface="Georgia"/>
              </a:rPr>
              <a:t>What these results cannot establish</a:t>
            </a:r>
            <a:endParaRPr sz="4950"/>
          </a:p>
        </p:txBody>
      </p:sp>
      <p:sp>
        <p:nvSpPr>
          <p:cNvPr id="6" name="Shape 4">
            <a:extLst xmlns:a="http://schemas.openxmlformats.org/drawingml/2006/main">
              <a:ext uri="{FF2B5EF4-FFF2-40B4-BE49-F238E27FC236}">
                <a16:creationId xmlns:a16="http://schemas.microsoft.com/office/drawing/2014/main" id="{8BA76E07-0C0A-480A-9CC0-59CD06176296}"/>
              </a:ext>
            </a:extLst>
          </p:cNvPr>
          <p:cNvSpPr>
            <a:spLocks xmlns:a="http://schemas.openxmlformats.org/drawingml/2006/main" noGrp="1"/>
          </p:cNvSpPr>
          <p:nvPr/>
        </p:nvSpPr>
        <p:spPr>
          <a:xfrm xmlns:a="http://schemas.openxmlformats.org/drawingml/2006/main">
            <a:off x="990600" y="2560067"/>
            <a:ext cx="7886700" cy="3810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A8B2647D-1621-41EE-BFAD-3892AEA47EFF}"/>
              </a:ext>
            </a:extLst>
          </p:cNvPr>
          <p:cNvSpPr>
            <a:spLocks xmlns:a="http://schemas.openxmlformats.org/drawingml/2006/main" noGrp="1"/>
          </p:cNvSpPr>
          <p:nvPr/>
        </p:nvSpPr>
        <p:spPr>
          <a:xfrm xmlns:a="http://schemas.openxmlformats.org/drawingml/2006/main">
            <a:off x="990600" y="2845817"/>
            <a:ext cx="8675370" cy="4381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20000"/>
          </a:bodyPr>
          <a:lstStyle xmlns:a="http://schemas.openxmlformats.org/drawingml/2006/main"/>
          <a:p xmlns:a="http://schemas.openxmlformats.org/drawingml/2006/main">
            <a:pPr marL="0" indent="0" algn="l">
              <a:buNone/>
            </a:pPr>
            <a:r>
              <a:rPr sz="3150">
                <a:solidFill>
                  <a:srgbClr val="C86C5A"/>
                </a:solidFill>
                <a:latin typeface="Georgia"/>
                <a:ea typeface="Georgia"/>
                <a:cs typeface="Georgia"/>
              </a:rPr>
              <a:t>01</a:t>
            </a:r>
            <a:endParaRPr sz="3150"/>
          </a:p>
        </p:txBody>
      </p:sp>
      <p:sp>
        <p:nvSpPr>
          <p:cNvPr id="8" name="Text 6">
            <a:extLst xmlns:a="http://schemas.openxmlformats.org/drawingml/2006/main">
              <a:ext uri="{FF2B5EF4-FFF2-40B4-BE49-F238E27FC236}">
                <a16:creationId xmlns:a16="http://schemas.microsoft.com/office/drawing/2014/main" id="{CF84F2F8-EB6B-4BBF-A119-CB4B80BE69E2}"/>
              </a:ext>
            </a:extLst>
          </p:cNvPr>
          <p:cNvSpPr>
            <a:spLocks xmlns:a="http://schemas.openxmlformats.org/drawingml/2006/main" noGrp="1"/>
          </p:cNvSpPr>
          <p:nvPr/>
        </p:nvSpPr>
        <p:spPr>
          <a:xfrm xmlns:a="http://schemas.openxmlformats.org/drawingml/2006/main">
            <a:off x="990600" y="3398267"/>
            <a:ext cx="8675370" cy="49812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01684"/>
              </a:lnSpc>
              <a:buNone/>
            </a:pPr>
            <a:r>
              <a:rPr sz="3150">
                <a:solidFill>
                  <a:srgbClr val="202C35"/>
                </a:solidFill>
                <a:latin typeface="Georgia"/>
                <a:ea typeface="Georgia"/>
                <a:cs typeface="Georgia"/>
              </a:rPr>
              <a:t>The design is observational</a:t>
            </a:r>
            <a:endParaRPr sz="3150"/>
          </a:p>
        </p:txBody>
      </p:sp>
      <p:sp>
        <p:nvSpPr>
          <p:cNvPr id="9" name="Text 7">
            <a:extLst xmlns:a="http://schemas.openxmlformats.org/drawingml/2006/main">
              <a:ext uri="{FF2B5EF4-FFF2-40B4-BE49-F238E27FC236}">
                <a16:creationId xmlns:a16="http://schemas.microsoft.com/office/drawing/2014/main" id="{C6BB8D79-CA3B-45A6-945E-4782A868766C}"/>
              </a:ext>
            </a:extLst>
          </p:cNvPr>
          <p:cNvSpPr>
            <a:spLocks xmlns:a="http://schemas.openxmlformats.org/drawingml/2006/main" noGrp="1"/>
          </p:cNvSpPr>
          <p:nvPr/>
        </p:nvSpPr>
        <p:spPr>
          <a:xfrm xmlns:a="http://schemas.openxmlformats.org/drawingml/2006/main">
            <a:off x="990600" y="4010695"/>
            <a:ext cx="8123301" cy="18097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30986"/>
              </a:lnSpc>
              <a:buNone/>
            </a:pPr>
            <a:r>
              <a:rPr sz="2325">
                <a:solidFill>
                  <a:srgbClr val="516674"/>
                </a:solidFill>
                <a:latin typeface="Arial"/>
                <a:ea typeface="Arial"/>
                <a:cs typeface="Arial"/>
              </a:rPr>
              <a:t>No measurement was assigned, so the coefficients are conditional means, not effects. We can say heavier birds have longer flippers; we cannot say a longer flipper makes a bird heavier.</a:t>
            </a:r>
            <a:endParaRPr sz="2325"/>
          </a:p>
        </p:txBody>
      </p:sp>
      <p:sp>
        <p:nvSpPr>
          <p:cNvPr id="10" name="Shape 8">
            <a:extLst xmlns:a="http://schemas.openxmlformats.org/drawingml/2006/main">
              <a:ext uri="{FF2B5EF4-FFF2-40B4-BE49-F238E27FC236}">
                <a16:creationId xmlns:a16="http://schemas.microsoft.com/office/drawing/2014/main" id="{ABA5B709-A37E-4741-B945-EDF382E72C7B}"/>
              </a:ext>
            </a:extLst>
          </p:cNvPr>
          <p:cNvSpPr>
            <a:spLocks xmlns:a="http://schemas.openxmlformats.org/drawingml/2006/main" noGrp="1"/>
          </p:cNvSpPr>
          <p:nvPr/>
        </p:nvSpPr>
        <p:spPr>
          <a:xfrm xmlns:a="http://schemas.openxmlformats.org/drawingml/2006/main">
            <a:off x="9410700" y="2560067"/>
            <a:ext cx="7886700" cy="3810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EB5160F-F3A5-46C3-ACD9-4F143B9016C0}"/>
              </a:ext>
            </a:extLst>
          </p:cNvPr>
          <p:cNvSpPr>
            <a:spLocks xmlns:a="http://schemas.openxmlformats.org/drawingml/2006/main" noGrp="1"/>
          </p:cNvSpPr>
          <p:nvPr/>
        </p:nvSpPr>
        <p:spPr>
          <a:xfrm xmlns:a="http://schemas.openxmlformats.org/drawingml/2006/main">
            <a:off x="9410700" y="2845817"/>
            <a:ext cx="8675370" cy="4381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20000"/>
          </a:bodyPr>
          <a:lstStyle xmlns:a="http://schemas.openxmlformats.org/drawingml/2006/main"/>
          <a:p xmlns:a="http://schemas.openxmlformats.org/drawingml/2006/main">
            <a:pPr marL="0" indent="0" algn="l">
              <a:buNone/>
            </a:pPr>
            <a:r>
              <a:rPr sz="3150">
                <a:solidFill>
                  <a:srgbClr val="C86C5A"/>
                </a:solidFill>
                <a:latin typeface="Georgia"/>
                <a:ea typeface="Georgia"/>
                <a:cs typeface="Georgia"/>
              </a:rPr>
              <a:t>02</a:t>
            </a:r>
            <a:endParaRPr sz="3150"/>
          </a:p>
        </p:txBody>
      </p:sp>
      <p:sp>
        <p:nvSpPr>
          <p:cNvPr id="12" name="Text 10">
            <a:extLst xmlns:a="http://schemas.openxmlformats.org/drawingml/2006/main">
              <a:ext uri="{FF2B5EF4-FFF2-40B4-BE49-F238E27FC236}">
                <a16:creationId xmlns:a16="http://schemas.microsoft.com/office/drawing/2014/main" id="{6112BE22-FA16-42BD-901B-09CB71FBD05A}"/>
              </a:ext>
            </a:extLst>
          </p:cNvPr>
          <p:cNvSpPr>
            <a:spLocks xmlns:a="http://schemas.openxmlformats.org/drawingml/2006/main" noGrp="1"/>
          </p:cNvSpPr>
          <p:nvPr/>
        </p:nvSpPr>
        <p:spPr>
          <a:xfrm xmlns:a="http://schemas.openxmlformats.org/drawingml/2006/main">
            <a:off x="9410700" y="3398267"/>
            <a:ext cx="8675370" cy="49812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01684"/>
              </a:lnSpc>
              <a:buNone/>
            </a:pPr>
            <a:r>
              <a:rPr sz="3150">
                <a:solidFill>
                  <a:srgbClr val="202C35"/>
                </a:solidFill>
                <a:latin typeface="Georgia"/>
                <a:ea typeface="Georgia"/>
                <a:cs typeface="Georgia"/>
              </a:rPr>
              <a:t>Complete cases only</a:t>
            </a:r>
            <a:endParaRPr sz="3150"/>
          </a:p>
        </p:txBody>
      </p:sp>
      <p:sp>
        <p:nvSpPr>
          <p:cNvPr id="13" name="Text 11">
            <a:extLst xmlns:a="http://schemas.openxmlformats.org/drawingml/2006/main">
              <a:ext uri="{FF2B5EF4-FFF2-40B4-BE49-F238E27FC236}">
                <a16:creationId xmlns:a16="http://schemas.microsoft.com/office/drawing/2014/main" id="{FACD43E1-003B-4C59-A361-9AB7F43543C2}"/>
              </a:ext>
            </a:extLst>
          </p:cNvPr>
          <p:cNvSpPr>
            <a:spLocks xmlns:a="http://schemas.openxmlformats.org/drawingml/2006/main" noGrp="1"/>
          </p:cNvSpPr>
          <p:nvPr/>
        </p:nvSpPr>
        <p:spPr>
          <a:xfrm xmlns:a="http://schemas.openxmlformats.org/drawingml/2006/main">
            <a:off x="9410700" y="4010695"/>
            <a:ext cx="8123301" cy="18097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30986"/>
              </a:lnSpc>
              <a:buNone/>
            </a:pPr>
            <a:r>
              <a:rPr sz="2325">
                <a:solidFill>
                  <a:srgbClr val="516674"/>
                </a:solidFill>
                <a:latin typeface="Arial"/>
                <a:ea typeface="Arial"/>
                <a:cs typeface="Arial"/>
              </a:rPr>
              <a:t>We dropped 20 of 344 records with a missing field. If those measurements failed for a reason connected to the bird's condition, our sample is mildly selected and the means are biased.</a:t>
            </a:r>
            <a:endParaRPr sz="2325"/>
          </a:p>
        </p:txBody>
      </p:sp>
      <p:sp>
        <p:nvSpPr>
          <p:cNvPr id="14" name="Shape 12">
            <a:extLst xmlns:a="http://schemas.openxmlformats.org/drawingml/2006/main">
              <a:ext uri="{FF2B5EF4-FFF2-40B4-BE49-F238E27FC236}">
                <a16:creationId xmlns:a16="http://schemas.microsoft.com/office/drawing/2014/main" id="{4045AA26-EABE-47AF-9AB0-6A2D7EF7A1BA}"/>
              </a:ext>
            </a:extLst>
          </p:cNvPr>
          <p:cNvSpPr>
            <a:spLocks xmlns:a="http://schemas.openxmlformats.org/drawingml/2006/main" noGrp="1"/>
          </p:cNvSpPr>
          <p:nvPr/>
        </p:nvSpPr>
        <p:spPr>
          <a:xfrm xmlns:a="http://schemas.openxmlformats.org/drawingml/2006/main">
            <a:off x="990600" y="6028209"/>
            <a:ext cx="7886700" cy="3810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3E52A85-3266-4925-A277-26AE7824D57F}"/>
              </a:ext>
            </a:extLst>
          </p:cNvPr>
          <p:cNvSpPr>
            <a:spLocks xmlns:a="http://schemas.openxmlformats.org/drawingml/2006/main" noGrp="1"/>
          </p:cNvSpPr>
          <p:nvPr/>
        </p:nvSpPr>
        <p:spPr>
          <a:xfrm xmlns:a="http://schemas.openxmlformats.org/drawingml/2006/main">
            <a:off x="990600" y="6313959"/>
            <a:ext cx="8675370" cy="4381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20000"/>
          </a:bodyPr>
          <a:lstStyle xmlns:a="http://schemas.openxmlformats.org/drawingml/2006/main"/>
          <a:p xmlns:a="http://schemas.openxmlformats.org/drawingml/2006/main">
            <a:pPr marL="0" indent="0" algn="l">
              <a:buNone/>
            </a:pPr>
            <a:r>
              <a:rPr sz="3150">
                <a:solidFill>
                  <a:srgbClr val="C86C5A"/>
                </a:solidFill>
                <a:latin typeface="Georgia"/>
                <a:ea typeface="Georgia"/>
                <a:cs typeface="Georgia"/>
              </a:rPr>
              <a:t>03</a:t>
            </a:r>
            <a:endParaRPr sz="3150"/>
          </a:p>
        </p:txBody>
      </p:sp>
      <p:sp>
        <p:nvSpPr>
          <p:cNvPr id="16" name="Text 14">
            <a:extLst xmlns:a="http://schemas.openxmlformats.org/drawingml/2006/main">
              <a:ext uri="{FF2B5EF4-FFF2-40B4-BE49-F238E27FC236}">
                <a16:creationId xmlns:a16="http://schemas.microsoft.com/office/drawing/2014/main" id="{F19F8ECA-0DF4-4AD9-AE09-47B5A4D3A9D1}"/>
              </a:ext>
            </a:extLst>
          </p:cNvPr>
          <p:cNvSpPr>
            <a:spLocks xmlns:a="http://schemas.openxmlformats.org/drawingml/2006/main" noGrp="1"/>
          </p:cNvSpPr>
          <p:nvPr/>
        </p:nvSpPr>
        <p:spPr>
          <a:xfrm xmlns:a="http://schemas.openxmlformats.org/drawingml/2006/main">
            <a:off x="990600" y="6866409"/>
            <a:ext cx="8675370" cy="49812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01684"/>
              </a:lnSpc>
              <a:buNone/>
            </a:pPr>
            <a:r>
              <a:rPr sz="3150">
                <a:solidFill>
                  <a:srgbClr val="202C35"/>
                </a:solidFill>
                <a:latin typeface="Georgia"/>
                <a:ea typeface="Georgia"/>
                <a:cs typeface="Georgia"/>
              </a:rPr>
              <a:t>The results are model-dependent</a:t>
            </a:r>
            <a:endParaRPr sz="3150"/>
          </a:p>
        </p:txBody>
      </p:sp>
      <p:sp>
        <p:nvSpPr>
          <p:cNvPr id="17" name="Text 15">
            <a:extLst xmlns:a="http://schemas.openxmlformats.org/drawingml/2006/main">
              <a:ext uri="{FF2B5EF4-FFF2-40B4-BE49-F238E27FC236}">
                <a16:creationId xmlns:a16="http://schemas.microsoft.com/office/drawing/2014/main" id="{79268E84-C22B-4E53-B661-97B2E22EC053}"/>
              </a:ext>
            </a:extLst>
          </p:cNvPr>
          <p:cNvSpPr>
            <a:spLocks xmlns:a="http://schemas.openxmlformats.org/drawingml/2006/main" noGrp="1"/>
          </p:cNvSpPr>
          <p:nvPr/>
        </p:nvSpPr>
        <p:spPr>
          <a:xfrm xmlns:a="http://schemas.openxmlformats.org/drawingml/2006/main">
            <a:off x="990600" y="7478837"/>
            <a:ext cx="8123301" cy="13668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30986"/>
              </a:lnSpc>
              <a:buNone/>
            </a:pPr>
            <a:r>
              <a:rPr sz="2325">
                <a:solidFill>
                  <a:srgbClr val="516674"/>
                </a:solidFill>
                <a:latin typeface="Arial"/>
                <a:ea typeface="Arial"/>
                <a:cs typeface="Arial"/>
              </a:rPr>
              <a:t>Bill depth changes sign between the pooled correlation and the fitted model. Any single coefficient has to be quoted together with the set of variables it was conditioned on.</a:t>
            </a:r>
            <a:endParaRPr sz="2325"/>
          </a:p>
        </p:txBody>
      </p:sp>
      <p:sp>
        <p:nvSpPr>
          <p:cNvPr id="18" name="Shape 16">
            <a:extLst xmlns:a="http://schemas.openxmlformats.org/drawingml/2006/main">
              <a:ext uri="{FF2B5EF4-FFF2-40B4-BE49-F238E27FC236}">
                <a16:creationId xmlns:a16="http://schemas.microsoft.com/office/drawing/2014/main" id="{65C6D74B-4127-4907-A73B-081B8F8AEFCE}"/>
              </a:ext>
            </a:extLst>
          </p:cNvPr>
          <p:cNvSpPr>
            <a:spLocks xmlns:a="http://schemas.openxmlformats.org/drawingml/2006/main" noGrp="1"/>
          </p:cNvSpPr>
          <p:nvPr/>
        </p:nvSpPr>
        <p:spPr>
          <a:xfrm xmlns:a="http://schemas.openxmlformats.org/drawingml/2006/main">
            <a:off x="9410700" y="6028209"/>
            <a:ext cx="7886700" cy="3810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F4B312EC-13D8-4778-9535-5442DB7A77B0}"/>
              </a:ext>
            </a:extLst>
          </p:cNvPr>
          <p:cNvSpPr>
            <a:spLocks xmlns:a="http://schemas.openxmlformats.org/drawingml/2006/main" noGrp="1"/>
          </p:cNvSpPr>
          <p:nvPr/>
        </p:nvSpPr>
        <p:spPr>
          <a:xfrm xmlns:a="http://schemas.openxmlformats.org/drawingml/2006/main">
            <a:off x="9410700" y="6313959"/>
            <a:ext cx="8675370" cy="4381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92500" lnSpcReduction="20000"/>
          </a:bodyPr>
          <a:lstStyle xmlns:a="http://schemas.openxmlformats.org/drawingml/2006/main"/>
          <a:p xmlns:a="http://schemas.openxmlformats.org/drawingml/2006/main">
            <a:pPr marL="0" indent="0" algn="l">
              <a:buNone/>
            </a:pPr>
            <a:r>
              <a:rPr sz="3150">
                <a:solidFill>
                  <a:srgbClr val="C86C5A"/>
                </a:solidFill>
                <a:latin typeface="Georgia"/>
                <a:ea typeface="Georgia"/>
                <a:cs typeface="Georgia"/>
              </a:rPr>
              <a:t>04</a:t>
            </a:r>
            <a:endParaRPr sz="3150"/>
          </a:p>
        </p:txBody>
      </p:sp>
      <p:sp>
        <p:nvSpPr>
          <p:cNvPr id="20" name="Text 18">
            <a:extLst xmlns:a="http://schemas.openxmlformats.org/drawingml/2006/main">
              <a:ext uri="{FF2B5EF4-FFF2-40B4-BE49-F238E27FC236}">
                <a16:creationId xmlns:a16="http://schemas.microsoft.com/office/drawing/2014/main" id="{956BE385-673E-4945-8D81-8755132B2607}"/>
              </a:ext>
            </a:extLst>
          </p:cNvPr>
          <p:cNvSpPr>
            <a:spLocks xmlns:a="http://schemas.openxmlformats.org/drawingml/2006/main" noGrp="1"/>
          </p:cNvSpPr>
          <p:nvPr/>
        </p:nvSpPr>
        <p:spPr>
          <a:xfrm xmlns:a="http://schemas.openxmlformats.org/drawingml/2006/main">
            <a:off x="9410700" y="6866409"/>
            <a:ext cx="8675370" cy="49812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01684"/>
              </a:lnSpc>
              <a:buNone/>
            </a:pPr>
            <a:r>
              <a:rPr sz="3150">
                <a:solidFill>
                  <a:srgbClr val="202C35"/>
                </a:solidFill>
                <a:latin typeface="Georgia"/>
                <a:ea typeface="Georgia"/>
                <a:cs typeface="Georgia"/>
              </a:rPr>
              <a:t>The classifier is not validated</a:t>
            </a:r>
            <a:endParaRPr sz="3150"/>
          </a:p>
        </p:txBody>
      </p:sp>
      <p:sp>
        <p:nvSpPr>
          <p:cNvPr id="21" name="Text 19">
            <a:extLst xmlns:a="http://schemas.openxmlformats.org/drawingml/2006/main">
              <a:ext uri="{FF2B5EF4-FFF2-40B4-BE49-F238E27FC236}">
                <a16:creationId xmlns:a16="http://schemas.microsoft.com/office/drawing/2014/main" id="{EBAFE6AA-4383-4067-B5B9-7ECB56F667D7}"/>
              </a:ext>
            </a:extLst>
          </p:cNvPr>
          <p:cNvSpPr>
            <a:spLocks xmlns:a="http://schemas.openxmlformats.org/drawingml/2006/main" noGrp="1"/>
          </p:cNvSpPr>
          <p:nvPr/>
        </p:nvSpPr>
        <p:spPr>
          <a:xfrm xmlns:a="http://schemas.openxmlformats.org/drawingml/2006/main">
            <a:off x="9410700" y="7478837"/>
            <a:ext cx="8123301" cy="18097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lnSpcReduction="10000"/>
          </a:bodyPr>
          <a:lstStyle xmlns:a="http://schemas.openxmlformats.org/drawingml/2006/main"/>
          <a:p xmlns:a="http://schemas.openxmlformats.org/drawingml/2006/main">
            <a:pPr marL="0" indent="0" algn="l">
              <a:lnSpc>
                <a:spcPct val="130986"/>
              </a:lnSpc>
              <a:buNone/>
            </a:pPr>
            <a:r>
              <a:rPr sz="2325">
                <a:solidFill>
                  <a:srgbClr val="516674"/>
                </a:solidFill>
                <a:latin typeface="Arial"/>
                <a:ea typeface="Arial"/>
                <a:cs typeface="Arial"/>
              </a:rPr>
              <a:t>96.1% and AUC 0.993 are in-sample. The size of the optimism is unknown here. An external estimate would require nested resampling or an independent test set.</a:t>
            </a:r>
            <a:endParaRPr sz="2325"/>
          </a:p>
        </p:txBody>
      </p:sp>
      <p:sp>
        <p:nvSpPr>
          <p:cNvPr id="22" name="Text 20">
            <a:extLst xmlns:a="http://schemas.openxmlformats.org/drawingml/2006/main">
              <a:ext uri="{FF2B5EF4-FFF2-40B4-BE49-F238E27FC236}">
                <a16:creationId xmlns:a16="http://schemas.microsoft.com/office/drawing/2014/main" id="{059682D2-2E4E-4F1A-A4A9-14DF2598A23C}"/>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23" name="Text 21">
            <a:extLst xmlns:a="http://schemas.openxmlformats.org/drawingml/2006/main">
              <a:ext uri="{FF2B5EF4-FFF2-40B4-BE49-F238E27FC236}">
                <a16:creationId xmlns:a16="http://schemas.microsoft.com/office/drawing/2014/main" id="{186C1B11-9352-47FC-9E72-1EB99E1F1AC8}"/>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18</a:t>
            </a:r>
            <a:endParaRPr sz="1800"/>
          </a:p>
        </p:txBody>
      </p:sp>
    </p:spTree>
    <p:extLst>
      <p:ext uri="{BB962C8B-B14F-4D97-AF65-F5344CB8AC3E}">
        <p14:creationId xmlns:p14="http://schemas.microsoft.com/office/powerpoint/2010/main" val="2118207905"/>
      </p:ext>
    </p:extLst>
  </p:cSld>
</p:sld>
</file>

<file path=ppt/slides/slide19.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0010CB-7AB9-4C25-BEA2-9C7FE3715E70}"/>
              </a:ext>
            </a:extLst>
          </p:cNvPr>
          <p:cNvSpPr>
            <a:spLocks xmlns:a="http://schemas.openxmlformats.org/drawingml/2006/main" noGrp="1"/>
          </p:cNvSpPr>
          <p:nvPr/>
        </p:nvSpPr>
        <p:spPr>
          <a:xfrm xmlns:a="http://schemas.openxmlformats.org/drawingml/2006/main">
            <a:off x="990600" y="766763"/>
            <a:ext cx="2597356"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CONCLUSIONS</a:t>
            </a:r>
            <a:endParaRPr sz="1950"/>
          </a:p>
        </p:txBody>
      </p:sp>
      <p:sp>
        <p:nvSpPr>
          <p:cNvPr id="3" name="Text 1">
            <a:extLst xmlns:a="http://schemas.openxmlformats.org/drawingml/2006/main">
              <a:ext uri="{FF2B5EF4-FFF2-40B4-BE49-F238E27FC236}">
                <a16:creationId xmlns:a16="http://schemas.microsoft.com/office/drawing/2014/main" id="{FE9D6E14-3BC0-4017-8548-21012D0488F8}"/>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19</a:t>
            </a:r>
            <a:endParaRPr sz="1950"/>
          </a:p>
        </p:txBody>
      </p:sp>
      <p:sp>
        <p:nvSpPr>
          <p:cNvPr id="4" name="Shape 2">
            <a:extLst xmlns:a="http://schemas.openxmlformats.org/drawingml/2006/main">
              <a:ext uri="{FF2B5EF4-FFF2-40B4-BE49-F238E27FC236}">
                <a16:creationId xmlns:a16="http://schemas.microsoft.com/office/drawing/2014/main" id="{5A812DED-7C76-4098-99A5-4780DB240F74}"/>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46772AD-3EE9-4A15-BA7A-44C71BD71D41}"/>
              </a:ext>
            </a:extLst>
          </p:cNvPr>
          <p:cNvSpPr>
            <a:spLocks xmlns:a="http://schemas.openxmlformats.org/drawingml/2006/main" noGrp="1"/>
          </p:cNvSpPr>
          <p:nvPr/>
        </p:nvSpPr>
        <p:spPr>
          <a:xfrm xmlns:a="http://schemas.openxmlformats.org/drawingml/2006/main">
            <a:off x="990600" y="1519238"/>
            <a:ext cx="17937480" cy="75813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2195"/>
              </a:lnSpc>
              <a:buNone/>
            </a:pPr>
            <a:r>
              <a:rPr sz="5400" spc="-81">
                <a:solidFill>
                  <a:srgbClr val="202C35"/>
                </a:solidFill>
                <a:latin typeface="Georgia"/>
                <a:ea typeface="Georgia"/>
                <a:cs typeface="Georgia"/>
              </a:rPr>
              <a:t>Three answers</a:t>
            </a:r>
            <a:endParaRPr sz="5400"/>
          </a:p>
        </p:txBody>
      </p:sp>
      <p:sp>
        <p:nvSpPr>
          <p:cNvPr id="6" name="Shape 4">
            <a:extLst xmlns:a="http://schemas.openxmlformats.org/drawingml/2006/main">
              <a:ext uri="{FF2B5EF4-FFF2-40B4-BE49-F238E27FC236}">
                <a16:creationId xmlns:a16="http://schemas.microsoft.com/office/drawing/2014/main" id="{E1E1F36E-BADF-44DB-A28D-CE7E266772D4}"/>
              </a:ext>
            </a:extLst>
          </p:cNvPr>
          <p:cNvSpPr>
            <a:spLocks xmlns:a="http://schemas.openxmlformats.org/drawingml/2006/main" noGrp="1"/>
          </p:cNvSpPr>
          <p:nvPr/>
        </p:nvSpPr>
        <p:spPr>
          <a:xfrm xmlns:a="http://schemas.openxmlformats.org/drawingml/2006/main">
            <a:off x="990600" y="2677418"/>
            <a:ext cx="16306800"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57F1518C-A86D-4165-88AB-4FCFA06AFAFD}"/>
              </a:ext>
            </a:extLst>
          </p:cNvPr>
          <p:cNvSpPr>
            <a:spLocks xmlns:a="http://schemas.openxmlformats.org/drawingml/2006/main" noGrp="1"/>
          </p:cNvSpPr>
          <p:nvPr/>
        </p:nvSpPr>
        <p:spPr>
          <a:xfrm xmlns:a="http://schemas.openxmlformats.org/drawingml/2006/main">
            <a:off x="990600" y="3020318"/>
            <a:ext cx="5131847" cy="8572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755"/>
              </a:lnSpc>
              <a:buNone/>
            </a:pPr>
            <a:r>
              <a:rPr sz="6450">
                <a:solidFill>
                  <a:srgbClr val="C86C5A"/>
                </a:solidFill>
                <a:latin typeface="Georgia"/>
                <a:ea typeface="Georgia"/>
                <a:cs typeface="Georgia"/>
              </a:rPr>
              <a:t>16.0 g</a:t>
            </a:r>
            <a:endParaRPr sz="6450"/>
          </a:p>
        </p:txBody>
      </p:sp>
      <p:sp>
        <p:nvSpPr>
          <p:cNvPr id="8" name="Text 6">
            <a:extLst xmlns:a="http://schemas.openxmlformats.org/drawingml/2006/main">
              <a:ext uri="{FF2B5EF4-FFF2-40B4-BE49-F238E27FC236}">
                <a16:creationId xmlns:a16="http://schemas.microsoft.com/office/drawing/2014/main" id="{05BC7792-3367-4A47-8854-C6F2D8FE9905}"/>
              </a:ext>
            </a:extLst>
          </p:cNvPr>
          <p:cNvSpPr>
            <a:spLocks xmlns:a="http://schemas.openxmlformats.org/drawingml/2006/main" noGrp="1"/>
          </p:cNvSpPr>
          <p:nvPr/>
        </p:nvSpPr>
        <p:spPr>
          <a:xfrm xmlns:a="http://schemas.openxmlformats.org/drawingml/2006/main">
            <a:off x="990600" y="3896618"/>
            <a:ext cx="4805275" cy="704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516674"/>
                </a:solidFill>
                <a:latin typeface="Arial"/>
                <a:ea typeface="Arial"/>
                <a:cs typeface="Arial"/>
              </a:rPr>
              <a:t>per millimetre of flipper, species and sex held fixed</a:t>
            </a:r>
            <a:endParaRPr sz="2025"/>
          </a:p>
        </p:txBody>
      </p:sp>
      <p:sp>
        <p:nvSpPr>
          <p:cNvPr id="9" name="Text 7">
            <a:extLst xmlns:a="http://schemas.openxmlformats.org/drawingml/2006/main">
              <a:ext uri="{FF2B5EF4-FFF2-40B4-BE49-F238E27FC236}">
                <a16:creationId xmlns:a16="http://schemas.microsoft.com/office/drawing/2014/main" id="{B231A67F-66D6-4004-AEC5-996F37295A0B}"/>
              </a:ext>
            </a:extLst>
          </p:cNvPr>
          <p:cNvSpPr>
            <a:spLocks xmlns:a="http://schemas.openxmlformats.org/drawingml/2006/main" noGrp="1"/>
          </p:cNvSpPr>
          <p:nvPr/>
        </p:nvSpPr>
        <p:spPr>
          <a:xfrm xmlns:a="http://schemas.openxmlformats.org/drawingml/2006/main">
            <a:off x="6189315" y="3020318"/>
            <a:ext cx="11441327" cy="19859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lnSpcReduction="10000"/>
          </a:bodyPr>
          <a:lstStyle xmlns:a="http://schemas.openxmlformats.org/drawingml/2006/main"/>
          <a:p xmlns:a="http://schemas.openxmlformats.org/drawingml/2006/main">
            <a:pPr marL="0" indent="0" algn="l">
              <a:lnSpc>
                <a:spcPct val="126875"/>
              </a:lnSpc>
              <a:buNone/>
            </a:pPr>
            <a:r>
              <a:rPr sz="2625">
                <a:solidFill>
                  <a:srgbClr val="202C35"/>
                </a:solidFill>
                <a:latin typeface="Arial"/>
                <a:ea typeface="Arial"/>
                <a:cs typeface="Arial"/>
              </a:rPr>
              <a:t>Flipper length is the strongest continuous predictor of body mass, and the multivariable model accounts for 88% of the adjusted variation with a residual standard error of 285 g. BIC removes island and clutch completion after accounting for species and morphology.</a:t>
            </a:r>
            <a:endParaRPr sz="2625"/>
          </a:p>
        </p:txBody>
      </p:sp>
      <p:sp>
        <p:nvSpPr>
          <p:cNvPr id="10" name="Shape 8">
            <a:extLst xmlns:a="http://schemas.openxmlformats.org/drawingml/2006/main">
              <a:ext uri="{FF2B5EF4-FFF2-40B4-BE49-F238E27FC236}">
                <a16:creationId xmlns:a16="http://schemas.microsoft.com/office/drawing/2014/main" id="{31AAAA38-2A67-405D-BA9B-5B987880286E}"/>
              </a:ext>
            </a:extLst>
          </p:cNvPr>
          <p:cNvSpPr>
            <a:spLocks xmlns:a="http://schemas.openxmlformats.org/drawingml/2006/main" noGrp="1"/>
          </p:cNvSpPr>
          <p:nvPr/>
        </p:nvSpPr>
        <p:spPr>
          <a:xfrm xmlns:a="http://schemas.openxmlformats.org/drawingml/2006/main">
            <a:off x="990600" y="4944442"/>
            <a:ext cx="16306800"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AF8C90CA-DA5A-4377-823B-ADEF1228B899}"/>
              </a:ext>
            </a:extLst>
          </p:cNvPr>
          <p:cNvSpPr>
            <a:spLocks xmlns:a="http://schemas.openxmlformats.org/drawingml/2006/main" noGrp="1"/>
          </p:cNvSpPr>
          <p:nvPr/>
        </p:nvSpPr>
        <p:spPr>
          <a:xfrm xmlns:a="http://schemas.openxmlformats.org/drawingml/2006/main">
            <a:off x="990600" y="5287342"/>
            <a:ext cx="5131847" cy="8572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755"/>
              </a:lnSpc>
              <a:buNone/>
            </a:pPr>
            <a:r>
              <a:rPr sz="6450">
                <a:solidFill>
                  <a:srgbClr val="C86C5A"/>
                </a:solidFill>
                <a:latin typeface="Georgia"/>
                <a:ea typeface="Georgia"/>
                <a:cs typeface="Georgia"/>
              </a:rPr>
              <a:t>p = 1.7e−4</a:t>
            </a:r>
            <a:endParaRPr sz="6450"/>
          </a:p>
        </p:txBody>
      </p:sp>
      <p:sp>
        <p:nvSpPr>
          <p:cNvPr id="12" name="Text 10">
            <a:extLst xmlns:a="http://schemas.openxmlformats.org/drawingml/2006/main">
              <a:ext uri="{FF2B5EF4-FFF2-40B4-BE49-F238E27FC236}">
                <a16:creationId xmlns:a16="http://schemas.microsoft.com/office/drawing/2014/main" id="{3BF9D14C-C579-43FA-A56C-6FBF39ADBEC7}"/>
              </a:ext>
            </a:extLst>
          </p:cNvPr>
          <p:cNvSpPr>
            <a:spLocks xmlns:a="http://schemas.openxmlformats.org/drawingml/2006/main" noGrp="1"/>
          </p:cNvSpPr>
          <p:nvPr/>
        </p:nvSpPr>
        <p:spPr>
          <a:xfrm xmlns:a="http://schemas.openxmlformats.org/drawingml/2006/main">
            <a:off x="990600" y="6163642"/>
            <a:ext cx="5131847"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516674"/>
                </a:solidFill>
                <a:latin typeface="Arial"/>
                <a:ea typeface="Arial"/>
                <a:cs typeface="Arial"/>
              </a:rPr>
              <a:t>species × sex interaction</a:t>
            </a:r>
            <a:endParaRPr sz="2025"/>
          </a:p>
        </p:txBody>
      </p:sp>
      <p:sp>
        <p:nvSpPr>
          <p:cNvPr id="13" name="Text 11">
            <a:extLst xmlns:a="http://schemas.openxmlformats.org/drawingml/2006/main">
              <a:ext uri="{FF2B5EF4-FFF2-40B4-BE49-F238E27FC236}">
                <a16:creationId xmlns:a16="http://schemas.microsoft.com/office/drawing/2014/main" id="{0F639932-DB89-4312-BF31-55833555E20F}"/>
              </a:ext>
            </a:extLst>
          </p:cNvPr>
          <p:cNvSpPr>
            <a:spLocks xmlns:a="http://schemas.openxmlformats.org/drawingml/2006/main" noGrp="1"/>
          </p:cNvSpPr>
          <p:nvPr/>
        </p:nvSpPr>
        <p:spPr>
          <a:xfrm xmlns:a="http://schemas.openxmlformats.org/drawingml/2006/main">
            <a:off x="6189315" y="5287342"/>
            <a:ext cx="11441327" cy="150256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6875"/>
              </a:lnSpc>
              <a:buNone/>
            </a:pPr>
            <a:r>
              <a:rPr sz="2625">
                <a:solidFill>
                  <a:srgbClr val="202C35"/>
                </a:solidFill>
                <a:latin typeface="Arial"/>
                <a:ea typeface="Arial"/>
                <a:cs typeface="Arial"/>
              </a:rPr>
              <a:t>Species and sex both shift body mass, and their interaction is significant: the male–female gap runs from </a:t>
            </a:r>
            <a:r>
              <a:rPr sz="2625" b="1">
                <a:solidFill>
                  <a:srgbClr val="202C35"/>
                </a:solidFill>
                <a:latin typeface="Arial"/>
                <a:ea typeface="Arial"/>
                <a:cs typeface="Arial"/>
              </a:rPr>
              <a:t>411 g </a:t>
            </a:r>
            <a:r>
              <a:rPr sz="2625">
                <a:solidFill>
                  <a:srgbClr val="202C35"/>
                </a:solidFill>
                <a:latin typeface="Arial"/>
                <a:ea typeface="Arial"/>
                <a:cs typeface="Arial"/>
              </a:rPr>
              <a:t>in Chinstrap to </a:t>
            </a:r>
            <a:r>
              <a:rPr sz="2625" b="1">
                <a:solidFill>
                  <a:srgbClr val="202C35"/>
                </a:solidFill>
                <a:latin typeface="Arial"/>
                <a:ea typeface="Arial"/>
                <a:cs typeface="Arial"/>
              </a:rPr>
              <a:t>809 g </a:t>
            </a:r>
            <a:r>
              <a:rPr sz="2625">
                <a:solidFill>
                  <a:srgbClr val="202C35"/>
                </a:solidFill>
                <a:latin typeface="Arial"/>
                <a:ea typeface="Arial"/>
                <a:cs typeface="Arial"/>
              </a:rPr>
              <a:t>in Gentoo. A single additive dimorphism constant would misdescribe the data.</a:t>
            </a:r>
            <a:endParaRPr sz="2625"/>
          </a:p>
        </p:txBody>
      </p:sp>
      <p:sp>
        <p:nvSpPr>
          <p:cNvPr id="14" name="Shape 12">
            <a:extLst xmlns:a="http://schemas.openxmlformats.org/drawingml/2006/main">
              <a:ext uri="{FF2B5EF4-FFF2-40B4-BE49-F238E27FC236}">
                <a16:creationId xmlns:a16="http://schemas.microsoft.com/office/drawing/2014/main" id="{DA0627E5-1563-402D-B341-3565EA8168CD}"/>
              </a:ext>
            </a:extLst>
          </p:cNvPr>
          <p:cNvSpPr>
            <a:spLocks xmlns:a="http://schemas.openxmlformats.org/drawingml/2006/main" noGrp="1"/>
          </p:cNvSpPr>
          <p:nvPr/>
        </p:nvSpPr>
        <p:spPr>
          <a:xfrm xmlns:a="http://schemas.openxmlformats.org/drawingml/2006/main">
            <a:off x="990600" y="8672513"/>
            <a:ext cx="16306800"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4EC6FE20-6FBD-4D95-9852-28521190CD9B}"/>
              </a:ext>
            </a:extLst>
          </p:cNvPr>
          <p:cNvSpPr>
            <a:spLocks xmlns:a="http://schemas.openxmlformats.org/drawingml/2006/main" noGrp="1"/>
          </p:cNvSpPr>
          <p:nvPr/>
        </p:nvSpPr>
        <p:spPr>
          <a:xfrm xmlns:a="http://schemas.openxmlformats.org/drawingml/2006/main">
            <a:off x="990600" y="6814319"/>
            <a:ext cx="16306800" cy="19050"/>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ADCB4DCF-DEB5-43AF-8613-C8B87551D605}"/>
              </a:ext>
            </a:extLst>
          </p:cNvPr>
          <p:cNvSpPr>
            <a:spLocks xmlns:a="http://schemas.openxmlformats.org/drawingml/2006/main" noGrp="1"/>
          </p:cNvSpPr>
          <p:nvPr/>
        </p:nvSpPr>
        <p:spPr>
          <a:xfrm xmlns:a="http://schemas.openxmlformats.org/drawingml/2006/main">
            <a:off x="990600" y="7157219"/>
            <a:ext cx="5131847" cy="8572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7755"/>
              </a:lnSpc>
              <a:buNone/>
            </a:pPr>
            <a:r>
              <a:rPr sz="6450">
                <a:solidFill>
                  <a:srgbClr val="C86C5A"/>
                </a:solidFill>
                <a:latin typeface="Georgia"/>
                <a:ea typeface="Georgia"/>
                <a:cs typeface="Georgia"/>
              </a:rPr>
              <a:t>96.1%</a:t>
            </a:r>
            <a:endParaRPr sz="6450"/>
          </a:p>
        </p:txBody>
      </p:sp>
      <p:sp>
        <p:nvSpPr>
          <p:cNvPr id="17" name="Text 15">
            <a:extLst xmlns:a="http://schemas.openxmlformats.org/drawingml/2006/main">
              <a:ext uri="{FF2B5EF4-FFF2-40B4-BE49-F238E27FC236}">
                <a16:creationId xmlns:a16="http://schemas.microsoft.com/office/drawing/2014/main" id="{BE24EFB9-03B1-4D54-9EA5-53021ABCA0D9}"/>
              </a:ext>
            </a:extLst>
          </p:cNvPr>
          <p:cNvSpPr>
            <a:spLocks xmlns:a="http://schemas.openxmlformats.org/drawingml/2006/main" noGrp="1"/>
          </p:cNvSpPr>
          <p:nvPr/>
        </p:nvSpPr>
        <p:spPr>
          <a:xfrm xmlns:a="http://schemas.openxmlformats.org/drawingml/2006/main">
            <a:off x="990600" y="8033519"/>
            <a:ext cx="5131847"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516674"/>
                </a:solidFill>
                <a:latin typeface="Arial"/>
                <a:ea typeface="Arial"/>
                <a:cs typeface="Arial"/>
              </a:rPr>
              <a:t>in-sample accuracy, AUC 0.993</a:t>
            </a:r>
            <a:endParaRPr sz="2025"/>
          </a:p>
        </p:txBody>
      </p:sp>
      <p:sp>
        <p:nvSpPr>
          <p:cNvPr id="18" name="Text 16">
            <a:extLst xmlns:a="http://schemas.openxmlformats.org/drawingml/2006/main">
              <a:ext uri="{FF2B5EF4-FFF2-40B4-BE49-F238E27FC236}">
                <a16:creationId xmlns:a16="http://schemas.microsoft.com/office/drawing/2014/main" id="{0B695943-4993-4D5A-8A56-8FF7115FB892}"/>
              </a:ext>
            </a:extLst>
          </p:cNvPr>
          <p:cNvSpPr>
            <a:spLocks xmlns:a="http://schemas.openxmlformats.org/drawingml/2006/main" noGrp="1"/>
          </p:cNvSpPr>
          <p:nvPr/>
        </p:nvSpPr>
        <p:spPr>
          <a:xfrm xmlns:a="http://schemas.openxmlformats.org/drawingml/2006/main">
            <a:off x="6189315" y="7157219"/>
            <a:ext cx="11441327" cy="148828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6875"/>
              </a:lnSpc>
              <a:buNone/>
            </a:pPr>
            <a:r>
              <a:rPr sz="2625">
                <a:solidFill>
                  <a:srgbClr val="202C35"/>
                </a:solidFill>
                <a:latin typeface="Arial"/>
                <a:ea typeface="Arial"/>
                <a:cs typeface="Arial"/>
              </a:rPr>
              <a:t>Bill length and flipper length separate Adelie from Chinstrap almost linearly within this sample. The honest next step is not a bigger model but an independent test set.</a:t>
            </a:r>
            <a:endParaRPr sz="2625"/>
          </a:p>
        </p:txBody>
      </p:sp>
      <p:sp>
        <p:nvSpPr>
          <p:cNvPr id="19" name="Text 17">
            <a:extLst xmlns:a="http://schemas.openxmlformats.org/drawingml/2006/main">
              <a:ext uri="{FF2B5EF4-FFF2-40B4-BE49-F238E27FC236}">
                <a16:creationId xmlns:a16="http://schemas.microsoft.com/office/drawing/2014/main" id="{7E67CFB4-E579-4740-99B1-4DEC4211AD73}"/>
              </a:ext>
            </a:extLst>
          </p:cNvPr>
          <p:cNvSpPr>
            <a:spLocks xmlns:a="http://schemas.openxmlformats.org/drawingml/2006/main" noGrp="1"/>
          </p:cNvSpPr>
          <p:nvPr/>
        </p:nvSpPr>
        <p:spPr>
          <a:xfrm xmlns:a="http://schemas.openxmlformats.org/drawingml/2006/main">
            <a:off x="990600" y="8977313"/>
            <a:ext cx="11772900" cy="738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5000"/>
              </a:lnSpc>
              <a:buNone/>
            </a:pPr>
            <a:r>
              <a:rPr sz="1875">
                <a:solidFill>
                  <a:srgbClr val="516674"/>
                </a:solidFill>
                <a:latin typeface="Arial"/>
                <a:ea typeface="Arial"/>
                <a:cs typeface="Arial"/>
              </a:rPr>
              <a:t>Horst, A. M., Hill, A. P. and Gorman, K. B. (2020). </a:t>
            </a:r>
            <a:r>
              <a:rPr sz="1875" i="1">
                <a:solidFill>
                  <a:srgbClr val="516674"/>
                </a:solidFill>
                <a:latin typeface="Arial"/>
                <a:ea typeface="Arial"/>
                <a:cs typeface="Arial"/>
              </a:rPr>
              <a:t>palmerpenguins: Palmer Archipelago (Antarctica) penguin data </a:t>
            </a:r>
            <a:r>
              <a:rPr sz="1875">
                <a:solidFill>
                  <a:srgbClr val="516674"/>
                </a:solidFill>
                <a:latin typeface="Arial"/>
                <a:ea typeface="Arial"/>
                <a:cs typeface="Arial"/>
              </a:rPr>
              <a:t>. R package. Analysis in R 4.1: scripts 01–04, 324 complete observations.</a:t>
            </a:r>
            <a:endParaRPr sz="1875"/>
          </a:p>
        </p:txBody>
      </p:sp>
      <p:sp>
        <p:nvSpPr>
          <p:cNvPr id="20" name="Text 18">
            <a:extLst xmlns:a="http://schemas.openxmlformats.org/drawingml/2006/main">
              <a:ext uri="{FF2B5EF4-FFF2-40B4-BE49-F238E27FC236}">
                <a16:creationId xmlns:a16="http://schemas.microsoft.com/office/drawing/2014/main" id="{A0B539A7-4868-4C62-B0D3-96B257C38585}"/>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19</a:t>
            </a:r>
            <a:endParaRPr sz="1800"/>
          </a:p>
        </p:txBody>
      </p:sp>
    </p:spTree>
    <p:extLst>
      <p:ext uri="{BB962C8B-B14F-4D97-AF65-F5344CB8AC3E}">
        <p14:creationId xmlns:p14="http://schemas.microsoft.com/office/powerpoint/2010/main" val="440399307"/>
      </p:ext>
    </p:extLst>
  </p:cSld>
</p:sld>
</file>

<file path=ppt/slides/slide20.xml><?xml version="1.0" encoding="utf-8"?>
<p:sld xmlns:p="http://schemas.openxmlformats.org/presentationml/2006/main">
  <p:cSld>
    <p:bg>
      <p:bgPr>
        <a:solidFill xmlns:a="http://schemas.openxmlformats.org/drawingml/2006/main">
          <a:srgbClr val="B85C4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3B36D3E-1AED-454C-9ED6-14CDC1AF1CBC}"/>
              </a:ext>
            </a:extLst>
          </p:cNvPr>
          <p:cNvSpPr>
            <a:spLocks xmlns:a="http://schemas.openxmlformats.org/drawingml/2006/main" noGrp="1"/>
          </p:cNvSpPr>
          <p:nvPr/>
        </p:nvSpPr>
        <p:spPr>
          <a:xfrm xmlns:a="http://schemas.openxmlformats.org/drawingml/2006/main">
            <a:off x="990600" y="1042988"/>
            <a:ext cx="533400" cy="28575"/>
          </a:xfrm>
          <a:prstGeom xmlns:a="http://schemas.openxmlformats.org/drawingml/2006/main" prst="rect">
            <a:avLst/>
          </a:prstGeom>
          <a:solidFill xmlns:a="http://schemas.openxmlformats.org/drawingml/2006/main">
            <a:srgbClr val="F8F6F2"/>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AC270D38-3861-45D1-8945-576D099398FB}"/>
              </a:ext>
            </a:extLst>
          </p:cNvPr>
          <p:cNvSpPr>
            <a:spLocks xmlns:a="http://schemas.openxmlformats.org/drawingml/2006/main" noGrp="1"/>
          </p:cNvSpPr>
          <p:nvPr/>
        </p:nvSpPr>
        <p:spPr>
          <a:xfrm xmlns:a="http://schemas.openxmlformats.org/drawingml/2006/main">
            <a:off x="1714500" y="914400"/>
            <a:ext cx="1447205"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F6DED8"/>
                </a:solidFill>
                <a:latin typeface="Arial"/>
                <a:ea typeface="Arial"/>
                <a:cs typeface="Arial"/>
              </a:rPr>
              <a:t>BACKUP</a:t>
            </a:r>
            <a:endParaRPr sz="1950"/>
          </a:p>
        </p:txBody>
      </p:sp>
      <p:sp>
        <p:nvSpPr>
          <p:cNvPr id="4" name="Text 2">
            <a:extLst xmlns:a="http://schemas.openxmlformats.org/drawingml/2006/main">
              <a:ext uri="{FF2B5EF4-FFF2-40B4-BE49-F238E27FC236}">
                <a16:creationId xmlns:a16="http://schemas.microsoft.com/office/drawing/2014/main" id="{6ECE30E8-3461-4B0F-9507-31376EFDE5FD}"/>
              </a:ext>
            </a:extLst>
          </p:cNvPr>
          <p:cNvSpPr>
            <a:spLocks xmlns:a="http://schemas.openxmlformats.org/drawingml/2006/main" noGrp="1"/>
          </p:cNvSpPr>
          <p:nvPr/>
        </p:nvSpPr>
        <p:spPr>
          <a:xfrm xmlns:a="http://schemas.openxmlformats.org/drawingml/2006/main">
            <a:off x="990600" y="3941490"/>
            <a:ext cx="17937480" cy="1085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88000"/>
              </a:lnSpc>
              <a:buNone/>
            </a:pPr>
            <a:r>
              <a:rPr sz="8250" spc="-165">
                <a:solidFill>
                  <a:srgbClr val="FFF8F5"/>
                </a:solidFill>
                <a:latin typeface="Georgia"/>
                <a:ea typeface="Georgia"/>
                <a:cs typeface="Georgia"/>
              </a:rPr>
              <a:t>Appendix</a:t>
            </a:r>
            <a:endParaRPr sz="8250"/>
          </a:p>
        </p:txBody>
      </p:sp>
      <p:sp>
        <p:nvSpPr>
          <p:cNvPr id="5" name="Text 3">
            <a:extLst xmlns:a="http://schemas.openxmlformats.org/drawingml/2006/main">
              <a:ext uri="{FF2B5EF4-FFF2-40B4-BE49-F238E27FC236}">
                <a16:creationId xmlns:a16="http://schemas.microsoft.com/office/drawing/2014/main" id="{002AE19B-C637-438C-95F3-80819473C2D8}"/>
              </a:ext>
            </a:extLst>
          </p:cNvPr>
          <p:cNvSpPr>
            <a:spLocks xmlns:a="http://schemas.openxmlformats.org/drawingml/2006/main" noGrp="1"/>
          </p:cNvSpPr>
          <p:nvPr/>
        </p:nvSpPr>
        <p:spPr>
          <a:xfrm xmlns:a="http://schemas.openxmlformats.org/drawingml/2006/main">
            <a:off x="990600" y="5274990"/>
            <a:ext cx="11772900" cy="1051471"/>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2299"/>
              </a:lnSpc>
              <a:buNone/>
            </a:pPr>
            <a:r>
              <a:rPr sz="2850">
                <a:solidFill>
                  <a:srgbClr val="F6DED8"/>
                </a:solidFill>
                <a:latin typeface="Arial"/>
                <a:ea typeface="Arial"/>
                <a:cs typeface="Arial"/>
              </a:rPr>
              <a:t>Full regression table, influence diagnostics, the value of each added predictor, and the goodness-of-fit checks for the classifier.</a:t>
            </a:r>
            <a:endParaRPr sz="2850"/>
          </a:p>
        </p:txBody>
      </p:sp>
      <p:sp>
        <p:nvSpPr>
          <p:cNvPr id="6" name="Text 4">
            <a:extLst xmlns:a="http://schemas.openxmlformats.org/drawingml/2006/main">
              <a:ext uri="{FF2B5EF4-FFF2-40B4-BE49-F238E27FC236}">
                <a16:creationId xmlns:a16="http://schemas.microsoft.com/office/drawing/2014/main" id="{ED01B1E8-0654-4A92-BF8F-00E9193B49B7}"/>
              </a:ext>
            </a:extLst>
          </p:cNvPr>
          <p:cNvSpPr>
            <a:spLocks xmlns:a="http://schemas.openxmlformats.org/drawingml/2006/main" noGrp="1"/>
          </p:cNvSpPr>
          <p:nvPr/>
        </p:nvSpPr>
        <p:spPr>
          <a:xfrm xmlns:a="http://schemas.openxmlformats.org/drawingml/2006/main">
            <a:off x="990600" y="9029700"/>
            <a:ext cx="264033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A1 Coefficients</a:t>
            </a:r>
            <a:endParaRPr sz="2100"/>
          </a:p>
        </p:txBody>
      </p:sp>
      <p:sp>
        <p:nvSpPr>
          <p:cNvPr id="7" name="Text 5">
            <a:extLst xmlns:a="http://schemas.openxmlformats.org/drawingml/2006/main">
              <a:ext uri="{FF2B5EF4-FFF2-40B4-BE49-F238E27FC236}">
                <a16:creationId xmlns:a16="http://schemas.microsoft.com/office/drawing/2014/main" id="{41619495-3E69-4260-ACB3-4E14A66F4383}"/>
              </a:ext>
            </a:extLst>
          </p:cNvPr>
          <p:cNvSpPr>
            <a:spLocks xmlns:a="http://schemas.openxmlformats.org/drawingml/2006/main" noGrp="1"/>
          </p:cNvSpPr>
          <p:nvPr/>
        </p:nvSpPr>
        <p:spPr>
          <a:xfrm xmlns:a="http://schemas.openxmlformats.org/drawingml/2006/main">
            <a:off x="3924300" y="9029700"/>
            <a:ext cx="21122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A2 Influence</a:t>
            </a:r>
            <a:endParaRPr sz="2100"/>
          </a:p>
        </p:txBody>
      </p:sp>
      <p:sp>
        <p:nvSpPr>
          <p:cNvPr id="8" name="Text 6">
            <a:extLst xmlns:a="http://schemas.openxmlformats.org/drawingml/2006/main">
              <a:ext uri="{FF2B5EF4-FFF2-40B4-BE49-F238E27FC236}">
                <a16:creationId xmlns:a16="http://schemas.microsoft.com/office/drawing/2014/main" id="{7B9BBB87-0D89-4044-9DEC-1F0C25C86AB3}"/>
              </a:ext>
            </a:extLst>
          </p:cNvPr>
          <p:cNvSpPr>
            <a:spLocks xmlns:a="http://schemas.openxmlformats.org/drawingml/2006/main" noGrp="1"/>
          </p:cNvSpPr>
          <p:nvPr/>
        </p:nvSpPr>
        <p:spPr>
          <a:xfrm xmlns:a="http://schemas.openxmlformats.org/drawingml/2006/main">
            <a:off x="6377955" y="9029700"/>
            <a:ext cx="31684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A3 Predictor value</a:t>
            </a:r>
            <a:endParaRPr sz="2100"/>
          </a:p>
        </p:txBody>
      </p:sp>
      <p:sp>
        <p:nvSpPr>
          <p:cNvPr id="9" name="Text 7">
            <a:extLst xmlns:a="http://schemas.openxmlformats.org/drawingml/2006/main">
              <a:ext uri="{FF2B5EF4-FFF2-40B4-BE49-F238E27FC236}">
                <a16:creationId xmlns:a16="http://schemas.microsoft.com/office/drawing/2014/main" id="{FF14C8A8-05F1-4CC4-98F7-05E8D7BED9EF}"/>
              </a:ext>
            </a:extLst>
          </p:cNvPr>
          <p:cNvSpPr>
            <a:spLocks xmlns:a="http://schemas.openxmlformats.org/drawingml/2006/main" noGrp="1"/>
          </p:cNvSpPr>
          <p:nvPr/>
        </p:nvSpPr>
        <p:spPr>
          <a:xfrm xmlns:a="http://schemas.openxmlformats.org/drawingml/2006/main">
            <a:off x="9791774" y="9029700"/>
            <a:ext cx="352044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F1CFC7"/>
                </a:solidFill>
                <a:latin typeface="Courier New"/>
                <a:ea typeface="Courier New"/>
                <a:cs typeface="Courier New"/>
              </a:rPr>
              <a:t>A4 Classifier checks</a:t>
            </a:r>
            <a:endParaRPr sz="2100"/>
          </a:p>
        </p:txBody>
      </p:sp>
    </p:spTree>
    <p:extLst>
      <p:ext uri="{BB962C8B-B14F-4D97-AF65-F5344CB8AC3E}">
        <p14:creationId xmlns:p14="http://schemas.microsoft.com/office/powerpoint/2010/main" val="1530854781"/>
      </p:ext>
    </p:extLst>
  </p:cSld>
</p:sld>
</file>

<file path=ppt/slides/slide21.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9EFAE2-FB6D-48BD-99D8-D9FB7D732E7F}"/>
              </a:ext>
            </a:extLst>
          </p:cNvPr>
          <p:cNvSpPr>
            <a:spLocks xmlns:a="http://schemas.openxmlformats.org/drawingml/2006/main" noGrp="1"/>
          </p:cNvSpPr>
          <p:nvPr/>
        </p:nvSpPr>
        <p:spPr>
          <a:xfrm xmlns:a="http://schemas.openxmlformats.org/drawingml/2006/main">
            <a:off x="990600" y="766763"/>
            <a:ext cx="1813508"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APPENDIX</a:t>
            </a:r>
            <a:endParaRPr sz="1950"/>
          </a:p>
        </p:txBody>
      </p:sp>
      <p:sp>
        <p:nvSpPr>
          <p:cNvPr id="3" name="Text 1">
            <a:extLst xmlns:a="http://schemas.openxmlformats.org/drawingml/2006/main">
              <a:ext uri="{FF2B5EF4-FFF2-40B4-BE49-F238E27FC236}">
                <a16:creationId xmlns:a16="http://schemas.microsoft.com/office/drawing/2014/main" id="{C1938115-5E39-4B32-8E86-92FE12381D17}"/>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A1</a:t>
            </a:r>
            <a:endParaRPr sz="1950"/>
          </a:p>
        </p:txBody>
      </p:sp>
      <p:sp>
        <p:nvSpPr>
          <p:cNvPr id="4" name="Shape 2">
            <a:extLst xmlns:a="http://schemas.openxmlformats.org/drawingml/2006/main">
              <a:ext uri="{FF2B5EF4-FFF2-40B4-BE49-F238E27FC236}">
                <a16:creationId xmlns:a16="http://schemas.microsoft.com/office/drawing/2014/main" id="{0B2949C2-F97C-47B0-94E3-67834BC98D9B}"/>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657282CC-6E39-4300-8AFA-4B7C5895ECEF}"/>
              </a:ext>
            </a:extLst>
          </p:cNvPr>
          <p:cNvSpPr>
            <a:spLocks xmlns:a="http://schemas.openxmlformats.org/drawingml/2006/main" noGrp="1"/>
          </p:cNvSpPr>
          <p:nvPr/>
        </p:nvSpPr>
        <p:spPr>
          <a:xfrm xmlns:a="http://schemas.openxmlformats.org/drawingml/2006/main">
            <a:off x="990600" y="1500188"/>
            <a:ext cx="17937480" cy="67582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4979"/>
              </a:lnSpc>
              <a:buNone/>
            </a:pPr>
            <a:r>
              <a:rPr sz="4650" spc="-70">
                <a:solidFill>
                  <a:srgbClr val="202C35"/>
                </a:solidFill>
                <a:latin typeface="Georgia"/>
                <a:ea typeface="Georgia"/>
                <a:cs typeface="Georgia"/>
              </a:rPr>
              <a:t>Full linear model, complete coefficient table</a:t>
            </a:r>
            <a:endParaRPr sz="4650"/>
          </a:p>
        </p:txBody>
      </p:sp>
      <p:sp>
        <p:nvSpPr>
          <p:cNvPr id="6" name="Shape 4">
            <a:extLst xmlns:a="http://schemas.openxmlformats.org/drawingml/2006/main">
              <a:ext uri="{FF2B5EF4-FFF2-40B4-BE49-F238E27FC236}">
                <a16:creationId xmlns:a16="http://schemas.microsoft.com/office/drawing/2014/main" id="{D63553A8-F1F7-4275-BC60-7BD83FD90064}"/>
              </a:ext>
            </a:extLst>
          </p:cNvPr>
          <p:cNvSpPr>
            <a:spLocks xmlns:a="http://schemas.openxmlformats.org/drawingml/2006/main" noGrp="1"/>
          </p:cNvSpPr>
          <p:nvPr/>
        </p:nvSpPr>
        <p:spPr>
          <a:xfrm xmlns:a="http://schemas.openxmlformats.org/drawingml/2006/main">
            <a:off x="990600" y="2777877"/>
            <a:ext cx="16306800" cy="19050"/>
          </a:xfrm>
          <a:prstGeom xmlns:a="http://schemas.openxmlformats.org/drawingml/2006/main" prst="rect">
            <a:avLst/>
          </a:prstGeom>
          <a:solidFill xmlns:a="http://schemas.openxmlformats.org/drawingml/2006/main">
            <a:srgbClr val="202C35"/>
          </a:solidFill>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1E8E5399-114D-4ABC-AC51-57468C38D527}"/>
              </a:ext>
            </a:extLst>
          </p:cNvPr>
          <p:cNvSpPr>
            <a:spLocks xmlns:a="http://schemas.openxmlformats.org/drawingml/2006/main" noGrp="1"/>
          </p:cNvSpPr>
          <p:nvPr/>
        </p:nvSpPr>
        <p:spPr>
          <a:xfrm xmlns:a="http://schemas.openxmlformats.org/drawingml/2006/main">
            <a:off x="990600" y="2480816"/>
            <a:ext cx="5004480" cy="314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75" b="1" spc="225">
                <a:solidFill>
                  <a:srgbClr val="516674"/>
                </a:solidFill>
                <a:latin typeface="Arial"/>
                <a:ea typeface="Arial"/>
                <a:cs typeface="Arial"/>
              </a:rPr>
              <a:t>TERM</a:t>
            </a:r>
            <a:endParaRPr sz="1875"/>
          </a:p>
        </p:txBody>
      </p:sp>
      <p:sp>
        <p:nvSpPr>
          <p:cNvPr id="8" name="Text 6">
            <a:extLst xmlns:a="http://schemas.openxmlformats.org/drawingml/2006/main">
              <a:ext uri="{FF2B5EF4-FFF2-40B4-BE49-F238E27FC236}">
                <a16:creationId xmlns:a16="http://schemas.microsoft.com/office/drawing/2014/main" id="{72206D8F-2B99-4505-A9C6-451E03C025A9}"/>
              </a:ext>
            </a:extLst>
          </p:cNvPr>
          <p:cNvSpPr>
            <a:spLocks xmlns:a="http://schemas.openxmlformats.org/drawingml/2006/main" noGrp="1"/>
          </p:cNvSpPr>
          <p:nvPr/>
        </p:nvSpPr>
        <p:spPr>
          <a:xfrm xmlns:a="http://schemas.openxmlformats.org/drawingml/2006/main">
            <a:off x="5507028" y="2480816"/>
            <a:ext cx="2669143" cy="314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875" b="1" spc="225">
                <a:solidFill>
                  <a:srgbClr val="516674"/>
                </a:solidFill>
                <a:latin typeface="Arial"/>
                <a:ea typeface="Arial"/>
                <a:cs typeface="Arial"/>
              </a:rPr>
              <a:t>ESTIMATE</a:t>
            </a:r>
            <a:endParaRPr sz="1875"/>
          </a:p>
        </p:txBody>
      </p:sp>
      <p:sp>
        <p:nvSpPr>
          <p:cNvPr id="9" name="Text 7">
            <a:extLst xmlns:a="http://schemas.openxmlformats.org/drawingml/2006/main">
              <a:ext uri="{FF2B5EF4-FFF2-40B4-BE49-F238E27FC236}">
                <a16:creationId xmlns:a16="http://schemas.microsoft.com/office/drawing/2014/main" id="{783911CE-48F5-494C-A9A0-0C7436B6DE79}"/>
              </a:ext>
            </a:extLst>
          </p:cNvPr>
          <p:cNvSpPr>
            <a:spLocks xmlns:a="http://schemas.openxmlformats.org/drawingml/2006/main" noGrp="1"/>
          </p:cNvSpPr>
          <p:nvPr/>
        </p:nvSpPr>
        <p:spPr>
          <a:xfrm xmlns:a="http://schemas.openxmlformats.org/drawingml/2006/main">
            <a:off x="8143079" y="2480816"/>
            <a:ext cx="2669061" cy="314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875" b="1" spc="225">
                <a:solidFill>
                  <a:srgbClr val="516674"/>
                </a:solidFill>
                <a:latin typeface="Arial"/>
                <a:ea typeface="Arial"/>
                <a:cs typeface="Arial"/>
              </a:rPr>
              <a:t>STD. ERROR</a:t>
            </a:r>
            <a:endParaRPr sz="1875"/>
          </a:p>
        </p:txBody>
      </p:sp>
      <p:sp>
        <p:nvSpPr>
          <p:cNvPr id="10" name="Text 8">
            <a:extLst xmlns:a="http://schemas.openxmlformats.org/drawingml/2006/main">
              <a:ext uri="{FF2B5EF4-FFF2-40B4-BE49-F238E27FC236}">
                <a16:creationId xmlns:a16="http://schemas.microsoft.com/office/drawing/2014/main" id="{7736B55B-9872-464D-99A1-6486EE7E8083}"/>
              </a:ext>
            </a:extLst>
          </p:cNvPr>
          <p:cNvSpPr>
            <a:spLocks xmlns:a="http://schemas.openxmlformats.org/drawingml/2006/main" noGrp="1"/>
          </p:cNvSpPr>
          <p:nvPr/>
        </p:nvSpPr>
        <p:spPr>
          <a:xfrm xmlns:a="http://schemas.openxmlformats.org/drawingml/2006/main">
            <a:off x="10688055" y="2480816"/>
            <a:ext cx="3669990" cy="314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875" b="1" spc="225">
                <a:solidFill>
                  <a:srgbClr val="516674"/>
                </a:solidFill>
                <a:latin typeface="Arial"/>
                <a:ea typeface="Arial"/>
                <a:cs typeface="Arial"/>
              </a:rPr>
              <a:t>95% INTERVAL</a:t>
            </a:r>
            <a:endParaRPr sz="1875"/>
          </a:p>
        </p:txBody>
      </p:sp>
      <p:sp>
        <p:nvSpPr>
          <p:cNvPr id="11" name="Text 9">
            <a:extLst xmlns:a="http://schemas.openxmlformats.org/drawingml/2006/main">
              <a:ext uri="{FF2B5EF4-FFF2-40B4-BE49-F238E27FC236}">
                <a16:creationId xmlns:a16="http://schemas.microsoft.com/office/drawing/2014/main" id="{9B0C7D2F-66EC-463A-922A-70DB5FAC1EB1}"/>
              </a:ext>
            </a:extLst>
          </p:cNvPr>
          <p:cNvSpPr>
            <a:spLocks xmlns:a="http://schemas.openxmlformats.org/drawingml/2006/main" noGrp="1"/>
          </p:cNvSpPr>
          <p:nvPr/>
        </p:nvSpPr>
        <p:spPr>
          <a:xfrm xmlns:a="http://schemas.openxmlformats.org/drawingml/2006/main">
            <a:off x="14294621" y="2480816"/>
            <a:ext cx="3002704" cy="3143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r">
              <a:buNone/>
            </a:pPr>
            <a:r>
              <a:rPr sz="1875" b="1" spc="225">
                <a:solidFill>
                  <a:srgbClr val="516674"/>
                </a:solidFill>
                <a:latin typeface="Arial"/>
                <a:ea typeface="Arial"/>
                <a:cs typeface="Arial"/>
              </a:rPr>
              <a:t>P VALUE</a:t>
            </a:r>
            <a:endParaRPr sz="1875"/>
          </a:p>
        </p:txBody>
      </p:sp>
      <p:sp>
        <p:nvSpPr>
          <p:cNvPr id="12" name="Shape 10">
            <a:extLst xmlns:a="http://schemas.openxmlformats.org/drawingml/2006/main">
              <a:ext uri="{FF2B5EF4-FFF2-40B4-BE49-F238E27FC236}">
                <a16:creationId xmlns:a16="http://schemas.microsoft.com/office/drawing/2014/main" id="{EA2FE94E-B817-462E-A9E8-C0BF87A7DB8A}"/>
              </a:ext>
            </a:extLst>
          </p:cNvPr>
          <p:cNvSpPr>
            <a:spLocks xmlns:a="http://schemas.openxmlformats.org/drawingml/2006/main" noGrp="1"/>
          </p:cNvSpPr>
          <p:nvPr/>
        </p:nvSpPr>
        <p:spPr>
          <a:xfrm xmlns:a="http://schemas.openxmlformats.org/drawingml/2006/main">
            <a:off x="990600" y="3324002"/>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29AC617D-766E-41A0-BB05-E46676B0D5ED}"/>
              </a:ext>
            </a:extLst>
          </p:cNvPr>
          <p:cNvSpPr>
            <a:spLocks xmlns:a="http://schemas.openxmlformats.org/drawingml/2006/main" noGrp="1"/>
          </p:cNvSpPr>
          <p:nvPr/>
        </p:nvSpPr>
        <p:spPr>
          <a:xfrm xmlns:a="http://schemas.openxmlformats.org/drawingml/2006/main">
            <a:off x="990600" y="2958852"/>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Intercept</a:t>
            </a:r>
            <a:endParaRPr sz="2100"/>
          </a:p>
        </p:txBody>
      </p:sp>
      <p:sp>
        <p:nvSpPr>
          <p:cNvPr id="14" name="Text 12">
            <a:extLst xmlns:a="http://schemas.openxmlformats.org/drawingml/2006/main">
              <a:ext uri="{FF2B5EF4-FFF2-40B4-BE49-F238E27FC236}">
                <a16:creationId xmlns:a16="http://schemas.microsoft.com/office/drawing/2014/main" id="{6494BE03-CA9E-4C08-B02F-BC2078C92CD9}"/>
              </a:ext>
            </a:extLst>
          </p:cNvPr>
          <p:cNvSpPr>
            <a:spLocks xmlns:a="http://schemas.openxmlformats.org/drawingml/2006/main" noGrp="1"/>
          </p:cNvSpPr>
          <p:nvPr/>
        </p:nvSpPr>
        <p:spPr>
          <a:xfrm xmlns:a="http://schemas.openxmlformats.org/drawingml/2006/main">
            <a:off x="5507028" y="2958852"/>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−1603.5</a:t>
            </a:r>
            <a:endParaRPr sz="2100"/>
          </a:p>
        </p:txBody>
      </p:sp>
      <p:sp>
        <p:nvSpPr>
          <p:cNvPr id="15" name="Text 13">
            <a:extLst xmlns:a="http://schemas.openxmlformats.org/drawingml/2006/main">
              <a:ext uri="{FF2B5EF4-FFF2-40B4-BE49-F238E27FC236}">
                <a16:creationId xmlns:a16="http://schemas.microsoft.com/office/drawing/2014/main" id="{AEC3865D-523D-4005-BE99-58AF1540438F}"/>
              </a:ext>
            </a:extLst>
          </p:cNvPr>
          <p:cNvSpPr>
            <a:spLocks xmlns:a="http://schemas.openxmlformats.org/drawingml/2006/main" noGrp="1"/>
          </p:cNvSpPr>
          <p:nvPr/>
        </p:nvSpPr>
        <p:spPr>
          <a:xfrm xmlns:a="http://schemas.openxmlformats.org/drawingml/2006/main">
            <a:off x="8143079" y="2958852"/>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579.2</a:t>
            </a:r>
            <a:endParaRPr sz="2100"/>
          </a:p>
        </p:txBody>
      </p:sp>
      <p:sp>
        <p:nvSpPr>
          <p:cNvPr id="16" name="Text 14">
            <a:extLst xmlns:a="http://schemas.openxmlformats.org/drawingml/2006/main">
              <a:ext uri="{FF2B5EF4-FFF2-40B4-BE49-F238E27FC236}">
                <a16:creationId xmlns:a16="http://schemas.microsoft.com/office/drawing/2014/main" id="{E0288571-BA21-4BF2-B17E-787544C19653}"/>
              </a:ext>
            </a:extLst>
          </p:cNvPr>
          <p:cNvSpPr>
            <a:spLocks xmlns:a="http://schemas.openxmlformats.org/drawingml/2006/main" noGrp="1"/>
          </p:cNvSpPr>
          <p:nvPr/>
        </p:nvSpPr>
        <p:spPr>
          <a:xfrm xmlns:a="http://schemas.openxmlformats.org/drawingml/2006/main">
            <a:off x="10688055" y="2958852"/>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[-2739, -468]</a:t>
            </a:r>
            <a:endParaRPr sz="2100"/>
          </a:p>
        </p:txBody>
      </p:sp>
      <p:sp>
        <p:nvSpPr>
          <p:cNvPr id="17" name="Text 15">
            <a:extLst xmlns:a="http://schemas.openxmlformats.org/drawingml/2006/main">
              <a:ext uri="{FF2B5EF4-FFF2-40B4-BE49-F238E27FC236}">
                <a16:creationId xmlns:a16="http://schemas.microsoft.com/office/drawing/2014/main" id="{EB098E89-306F-4409-9AEF-E5C2E2798430}"/>
              </a:ext>
            </a:extLst>
          </p:cNvPr>
          <p:cNvSpPr>
            <a:spLocks xmlns:a="http://schemas.openxmlformats.org/drawingml/2006/main" noGrp="1"/>
          </p:cNvSpPr>
          <p:nvPr/>
        </p:nvSpPr>
        <p:spPr>
          <a:xfrm xmlns:a="http://schemas.openxmlformats.org/drawingml/2006/main">
            <a:off x="14294621" y="2958852"/>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0.006</a:t>
            </a:r>
            <a:endParaRPr sz="2100"/>
          </a:p>
        </p:txBody>
      </p:sp>
      <p:sp>
        <p:nvSpPr>
          <p:cNvPr id="18" name="Shape 16">
            <a:extLst xmlns:a="http://schemas.openxmlformats.org/drawingml/2006/main">
              <a:ext uri="{FF2B5EF4-FFF2-40B4-BE49-F238E27FC236}">
                <a16:creationId xmlns:a16="http://schemas.microsoft.com/office/drawing/2014/main" id="{1BD995D8-385B-48BE-B790-C5EEDC5A0E4C}"/>
              </a:ext>
            </a:extLst>
          </p:cNvPr>
          <p:cNvSpPr>
            <a:spLocks xmlns:a="http://schemas.openxmlformats.org/drawingml/2006/main" noGrp="1"/>
          </p:cNvSpPr>
          <p:nvPr/>
        </p:nvSpPr>
        <p:spPr>
          <a:xfrm xmlns:a="http://schemas.openxmlformats.org/drawingml/2006/main">
            <a:off x="990600" y="3860602"/>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2156A0B9-8ADB-4D96-AB07-4A574748D81C}"/>
              </a:ext>
            </a:extLst>
          </p:cNvPr>
          <p:cNvSpPr>
            <a:spLocks xmlns:a="http://schemas.openxmlformats.org/drawingml/2006/main" noGrp="1"/>
          </p:cNvSpPr>
          <p:nvPr/>
        </p:nvSpPr>
        <p:spPr>
          <a:xfrm xmlns:a="http://schemas.openxmlformats.org/drawingml/2006/main">
            <a:off x="990600" y="3495452"/>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Chinstrap vs Adelie</a:t>
            </a:r>
            <a:endParaRPr sz="2100"/>
          </a:p>
        </p:txBody>
      </p:sp>
      <p:sp>
        <p:nvSpPr>
          <p:cNvPr id="20" name="Text 18">
            <a:extLst xmlns:a="http://schemas.openxmlformats.org/drawingml/2006/main">
              <a:ext uri="{FF2B5EF4-FFF2-40B4-BE49-F238E27FC236}">
                <a16:creationId xmlns:a16="http://schemas.microsoft.com/office/drawing/2014/main" id="{4F846B67-E57A-43FE-999B-172A4A3E891C}"/>
              </a:ext>
            </a:extLst>
          </p:cNvPr>
          <p:cNvSpPr>
            <a:spLocks xmlns:a="http://schemas.openxmlformats.org/drawingml/2006/main" noGrp="1"/>
          </p:cNvSpPr>
          <p:nvPr/>
        </p:nvSpPr>
        <p:spPr>
          <a:xfrm xmlns:a="http://schemas.openxmlformats.org/drawingml/2006/main">
            <a:off x="5507028" y="3495452"/>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−243.2</a:t>
            </a:r>
            <a:endParaRPr sz="2100"/>
          </a:p>
        </p:txBody>
      </p:sp>
      <p:sp>
        <p:nvSpPr>
          <p:cNvPr id="21" name="Text 19">
            <a:extLst xmlns:a="http://schemas.openxmlformats.org/drawingml/2006/main">
              <a:ext uri="{FF2B5EF4-FFF2-40B4-BE49-F238E27FC236}">
                <a16:creationId xmlns:a16="http://schemas.microsoft.com/office/drawing/2014/main" id="{A634E03A-D6D1-4D04-B5EA-B830537AC209}"/>
              </a:ext>
            </a:extLst>
          </p:cNvPr>
          <p:cNvSpPr>
            <a:spLocks xmlns:a="http://schemas.openxmlformats.org/drawingml/2006/main" noGrp="1"/>
          </p:cNvSpPr>
          <p:nvPr/>
        </p:nvSpPr>
        <p:spPr>
          <a:xfrm xmlns:a="http://schemas.openxmlformats.org/drawingml/2006/main">
            <a:off x="8143079" y="3495452"/>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89.0</a:t>
            </a:r>
            <a:endParaRPr sz="2100"/>
          </a:p>
        </p:txBody>
      </p:sp>
      <p:sp>
        <p:nvSpPr>
          <p:cNvPr id="22" name="Text 20">
            <a:extLst xmlns:a="http://schemas.openxmlformats.org/drawingml/2006/main">
              <a:ext uri="{FF2B5EF4-FFF2-40B4-BE49-F238E27FC236}">
                <a16:creationId xmlns:a16="http://schemas.microsoft.com/office/drawing/2014/main" id="{78B94990-C976-4551-87DA-048926DF93B4}"/>
              </a:ext>
            </a:extLst>
          </p:cNvPr>
          <p:cNvSpPr>
            <a:spLocks xmlns:a="http://schemas.openxmlformats.org/drawingml/2006/main" noGrp="1"/>
          </p:cNvSpPr>
          <p:nvPr/>
        </p:nvSpPr>
        <p:spPr>
          <a:xfrm xmlns:a="http://schemas.openxmlformats.org/drawingml/2006/main">
            <a:off x="10688055" y="3495452"/>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[-418, -69]</a:t>
            </a:r>
            <a:endParaRPr sz="2100"/>
          </a:p>
        </p:txBody>
      </p:sp>
      <p:sp>
        <p:nvSpPr>
          <p:cNvPr id="23" name="Text 21">
            <a:extLst xmlns:a="http://schemas.openxmlformats.org/drawingml/2006/main">
              <a:ext uri="{FF2B5EF4-FFF2-40B4-BE49-F238E27FC236}">
                <a16:creationId xmlns:a16="http://schemas.microsoft.com/office/drawing/2014/main" id="{09F2E675-9FF7-4185-BB34-CF1D40A01628}"/>
              </a:ext>
            </a:extLst>
          </p:cNvPr>
          <p:cNvSpPr>
            <a:spLocks xmlns:a="http://schemas.openxmlformats.org/drawingml/2006/main" noGrp="1"/>
          </p:cNvSpPr>
          <p:nvPr/>
        </p:nvSpPr>
        <p:spPr>
          <a:xfrm xmlns:a="http://schemas.openxmlformats.org/drawingml/2006/main">
            <a:off x="14294621" y="3495452"/>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0.007</a:t>
            </a:r>
            <a:endParaRPr sz="2100"/>
          </a:p>
        </p:txBody>
      </p:sp>
      <p:sp>
        <p:nvSpPr>
          <p:cNvPr id="24" name="Shape 22">
            <a:extLst xmlns:a="http://schemas.openxmlformats.org/drawingml/2006/main">
              <a:ext uri="{FF2B5EF4-FFF2-40B4-BE49-F238E27FC236}">
                <a16:creationId xmlns:a16="http://schemas.microsoft.com/office/drawing/2014/main" id="{EF2960DA-762B-42CF-B728-DFC3174F8A61}"/>
              </a:ext>
            </a:extLst>
          </p:cNvPr>
          <p:cNvSpPr>
            <a:spLocks xmlns:a="http://schemas.openxmlformats.org/drawingml/2006/main" noGrp="1"/>
          </p:cNvSpPr>
          <p:nvPr/>
        </p:nvSpPr>
        <p:spPr>
          <a:xfrm xmlns:a="http://schemas.openxmlformats.org/drawingml/2006/main">
            <a:off x="990600" y="4397201"/>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9BEA0EBF-6B66-470A-8F80-C5CF58816A11}"/>
              </a:ext>
            </a:extLst>
          </p:cNvPr>
          <p:cNvSpPr>
            <a:spLocks xmlns:a="http://schemas.openxmlformats.org/drawingml/2006/main" noGrp="1"/>
          </p:cNvSpPr>
          <p:nvPr/>
        </p:nvSpPr>
        <p:spPr>
          <a:xfrm xmlns:a="http://schemas.openxmlformats.org/drawingml/2006/main">
            <a:off x="990600" y="4032052"/>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Gentoo vs Adelie</a:t>
            </a:r>
            <a:endParaRPr sz="2100"/>
          </a:p>
        </p:txBody>
      </p:sp>
      <p:sp>
        <p:nvSpPr>
          <p:cNvPr id="26" name="Text 24">
            <a:extLst xmlns:a="http://schemas.openxmlformats.org/drawingml/2006/main">
              <a:ext uri="{FF2B5EF4-FFF2-40B4-BE49-F238E27FC236}">
                <a16:creationId xmlns:a16="http://schemas.microsoft.com/office/drawing/2014/main" id="{E114E339-6B1F-49B3-B5BD-F8CA5E68502F}"/>
              </a:ext>
            </a:extLst>
          </p:cNvPr>
          <p:cNvSpPr>
            <a:spLocks xmlns:a="http://schemas.openxmlformats.org/drawingml/2006/main" noGrp="1"/>
          </p:cNvSpPr>
          <p:nvPr/>
        </p:nvSpPr>
        <p:spPr>
          <a:xfrm xmlns:a="http://schemas.openxmlformats.org/drawingml/2006/main">
            <a:off x="5507028" y="4032052"/>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997.7</a:t>
            </a:r>
            <a:endParaRPr sz="2100"/>
          </a:p>
        </p:txBody>
      </p:sp>
      <p:sp>
        <p:nvSpPr>
          <p:cNvPr id="27" name="Text 25">
            <a:extLst xmlns:a="http://schemas.openxmlformats.org/drawingml/2006/main">
              <a:ext uri="{FF2B5EF4-FFF2-40B4-BE49-F238E27FC236}">
                <a16:creationId xmlns:a16="http://schemas.microsoft.com/office/drawing/2014/main" id="{AEA4783A-21E3-464F-8A3C-DEC00DC74845}"/>
              </a:ext>
            </a:extLst>
          </p:cNvPr>
          <p:cNvSpPr>
            <a:spLocks xmlns:a="http://schemas.openxmlformats.org/drawingml/2006/main" noGrp="1"/>
          </p:cNvSpPr>
          <p:nvPr/>
        </p:nvSpPr>
        <p:spPr>
          <a:xfrm xmlns:a="http://schemas.openxmlformats.org/drawingml/2006/main">
            <a:off x="8143079" y="4032052"/>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138.7</a:t>
            </a:r>
            <a:endParaRPr sz="2100"/>
          </a:p>
        </p:txBody>
      </p:sp>
      <p:sp>
        <p:nvSpPr>
          <p:cNvPr id="28" name="Text 26">
            <a:extLst xmlns:a="http://schemas.openxmlformats.org/drawingml/2006/main">
              <a:ext uri="{FF2B5EF4-FFF2-40B4-BE49-F238E27FC236}">
                <a16:creationId xmlns:a16="http://schemas.microsoft.com/office/drawing/2014/main" id="{C0448683-3F59-4C17-9B6B-3984CBAFDED6}"/>
              </a:ext>
            </a:extLst>
          </p:cNvPr>
          <p:cNvSpPr>
            <a:spLocks xmlns:a="http://schemas.openxmlformats.org/drawingml/2006/main" noGrp="1"/>
          </p:cNvSpPr>
          <p:nvPr/>
        </p:nvSpPr>
        <p:spPr>
          <a:xfrm xmlns:a="http://schemas.openxmlformats.org/drawingml/2006/main">
            <a:off x="10688055" y="4032052"/>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[726, 1270]</a:t>
            </a:r>
            <a:endParaRPr sz="2100"/>
          </a:p>
        </p:txBody>
      </p:sp>
      <p:sp>
        <p:nvSpPr>
          <p:cNvPr id="29" name="Text 27">
            <a:extLst xmlns:a="http://schemas.openxmlformats.org/drawingml/2006/main">
              <a:ext uri="{FF2B5EF4-FFF2-40B4-BE49-F238E27FC236}">
                <a16:creationId xmlns:a16="http://schemas.microsoft.com/office/drawing/2014/main" id="{8BA6BA30-7619-42D9-8ADA-3C24B18BFB90}"/>
              </a:ext>
            </a:extLst>
          </p:cNvPr>
          <p:cNvSpPr>
            <a:spLocks xmlns:a="http://schemas.openxmlformats.org/drawingml/2006/main" noGrp="1"/>
          </p:cNvSpPr>
          <p:nvPr/>
        </p:nvSpPr>
        <p:spPr>
          <a:xfrm xmlns:a="http://schemas.openxmlformats.org/drawingml/2006/main">
            <a:off x="14294621" y="4032052"/>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4.7e−12</a:t>
            </a:r>
            <a:endParaRPr sz="2100"/>
          </a:p>
        </p:txBody>
      </p:sp>
      <p:sp>
        <p:nvSpPr>
          <p:cNvPr id="30" name="Shape 28">
            <a:extLst xmlns:a="http://schemas.openxmlformats.org/drawingml/2006/main">
              <a:ext uri="{FF2B5EF4-FFF2-40B4-BE49-F238E27FC236}">
                <a16:creationId xmlns:a16="http://schemas.microsoft.com/office/drawing/2014/main" id="{99DABF20-BBA1-41D9-AC88-E0B03D188531}"/>
              </a:ext>
            </a:extLst>
          </p:cNvPr>
          <p:cNvSpPr>
            <a:spLocks xmlns:a="http://schemas.openxmlformats.org/drawingml/2006/main" noGrp="1"/>
          </p:cNvSpPr>
          <p:nvPr/>
        </p:nvSpPr>
        <p:spPr>
          <a:xfrm xmlns:a="http://schemas.openxmlformats.org/drawingml/2006/main">
            <a:off x="990600" y="4933801"/>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7329481C-D729-4173-ACDB-C03DA6564E5C}"/>
              </a:ext>
            </a:extLst>
          </p:cNvPr>
          <p:cNvSpPr>
            <a:spLocks xmlns:a="http://schemas.openxmlformats.org/drawingml/2006/main" noGrp="1"/>
          </p:cNvSpPr>
          <p:nvPr/>
        </p:nvSpPr>
        <p:spPr>
          <a:xfrm xmlns:a="http://schemas.openxmlformats.org/drawingml/2006/main">
            <a:off x="990600" y="4568651"/>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Dream vs Biscoe</a:t>
            </a:r>
            <a:endParaRPr sz="2100"/>
          </a:p>
        </p:txBody>
      </p:sp>
      <p:sp>
        <p:nvSpPr>
          <p:cNvPr id="32" name="Text 30">
            <a:extLst xmlns:a="http://schemas.openxmlformats.org/drawingml/2006/main">
              <a:ext uri="{FF2B5EF4-FFF2-40B4-BE49-F238E27FC236}">
                <a16:creationId xmlns:a16="http://schemas.microsoft.com/office/drawing/2014/main" id="{80A17509-6FFD-4855-B3C1-CF4AE33696F9}"/>
              </a:ext>
            </a:extLst>
          </p:cNvPr>
          <p:cNvSpPr>
            <a:spLocks xmlns:a="http://schemas.openxmlformats.org/drawingml/2006/main" noGrp="1"/>
          </p:cNvSpPr>
          <p:nvPr/>
        </p:nvSpPr>
        <p:spPr>
          <a:xfrm xmlns:a="http://schemas.openxmlformats.org/drawingml/2006/main">
            <a:off x="5507028" y="4568651"/>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−14.9</a:t>
            </a:r>
            <a:endParaRPr sz="2100"/>
          </a:p>
        </p:txBody>
      </p:sp>
      <p:sp>
        <p:nvSpPr>
          <p:cNvPr id="33" name="Text 31">
            <a:extLst xmlns:a="http://schemas.openxmlformats.org/drawingml/2006/main">
              <a:ext uri="{FF2B5EF4-FFF2-40B4-BE49-F238E27FC236}">
                <a16:creationId xmlns:a16="http://schemas.microsoft.com/office/drawing/2014/main" id="{462DBB74-2022-4A7F-B9E2-C9B178982514}"/>
              </a:ext>
            </a:extLst>
          </p:cNvPr>
          <p:cNvSpPr>
            <a:spLocks xmlns:a="http://schemas.openxmlformats.org/drawingml/2006/main" noGrp="1"/>
          </p:cNvSpPr>
          <p:nvPr/>
        </p:nvSpPr>
        <p:spPr>
          <a:xfrm xmlns:a="http://schemas.openxmlformats.org/drawingml/2006/main">
            <a:off x="8143079" y="4568651"/>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58.7</a:t>
            </a:r>
            <a:endParaRPr sz="2100"/>
          </a:p>
        </p:txBody>
      </p:sp>
      <p:sp>
        <p:nvSpPr>
          <p:cNvPr id="34" name="Text 32">
            <a:extLst xmlns:a="http://schemas.openxmlformats.org/drawingml/2006/main">
              <a:ext uri="{FF2B5EF4-FFF2-40B4-BE49-F238E27FC236}">
                <a16:creationId xmlns:a16="http://schemas.microsoft.com/office/drawing/2014/main" id="{F3E633A3-49AC-42B7-9BE8-757BB163E846}"/>
              </a:ext>
            </a:extLst>
          </p:cNvPr>
          <p:cNvSpPr>
            <a:spLocks xmlns:a="http://schemas.openxmlformats.org/drawingml/2006/main" noGrp="1"/>
          </p:cNvSpPr>
          <p:nvPr/>
        </p:nvSpPr>
        <p:spPr>
          <a:xfrm xmlns:a="http://schemas.openxmlformats.org/drawingml/2006/main">
            <a:off x="10688055" y="4568651"/>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[-130, 100]</a:t>
            </a:r>
            <a:endParaRPr sz="2100"/>
          </a:p>
        </p:txBody>
      </p:sp>
      <p:sp>
        <p:nvSpPr>
          <p:cNvPr id="35" name="Text 33">
            <a:extLst xmlns:a="http://schemas.openxmlformats.org/drawingml/2006/main">
              <a:ext uri="{FF2B5EF4-FFF2-40B4-BE49-F238E27FC236}">
                <a16:creationId xmlns:a16="http://schemas.microsoft.com/office/drawing/2014/main" id="{7847A1A5-AF21-40DC-B7C1-AD3B3FA0B48F}"/>
              </a:ext>
            </a:extLst>
          </p:cNvPr>
          <p:cNvSpPr>
            <a:spLocks xmlns:a="http://schemas.openxmlformats.org/drawingml/2006/main" noGrp="1"/>
          </p:cNvSpPr>
          <p:nvPr/>
        </p:nvSpPr>
        <p:spPr>
          <a:xfrm xmlns:a="http://schemas.openxmlformats.org/drawingml/2006/main">
            <a:off x="14294621" y="4568651"/>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0.800</a:t>
            </a:r>
            <a:endParaRPr sz="2100"/>
          </a:p>
        </p:txBody>
      </p:sp>
      <p:sp>
        <p:nvSpPr>
          <p:cNvPr id="36" name="Shape 34">
            <a:extLst xmlns:a="http://schemas.openxmlformats.org/drawingml/2006/main">
              <a:ext uri="{FF2B5EF4-FFF2-40B4-BE49-F238E27FC236}">
                <a16:creationId xmlns:a16="http://schemas.microsoft.com/office/drawing/2014/main" id="{D24C4931-BB8C-4CDD-A5E5-7BDAADEA8FDB}"/>
              </a:ext>
            </a:extLst>
          </p:cNvPr>
          <p:cNvSpPr>
            <a:spLocks xmlns:a="http://schemas.openxmlformats.org/drawingml/2006/main" noGrp="1"/>
          </p:cNvSpPr>
          <p:nvPr/>
        </p:nvSpPr>
        <p:spPr>
          <a:xfrm xmlns:a="http://schemas.openxmlformats.org/drawingml/2006/main">
            <a:off x="990600" y="5470401"/>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BB57F94E-54B1-4F8D-B8C9-1B3372E174BA}"/>
              </a:ext>
            </a:extLst>
          </p:cNvPr>
          <p:cNvSpPr>
            <a:spLocks xmlns:a="http://schemas.openxmlformats.org/drawingml/2006/main" noGrp="1"/>
          </p:cNvSpPr>
          <p:nvPr/>
        </p:nvSpPr>
        <p:spPr>
          <a:xfrm xmlns:a="http://schemas.openxmlformats.org/drawingml/2006/main">
            <a:off x="990600" y="5105251"/>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Torgersen vs Biscoe</a:t>
            </a:r>
            <a:endParaRPr sz="2100"/>
          </a:p>
        </p:txBody>
      </p:sp>
      <p:sp>
        <p:nvSpPr>
          <p:cNvPr id="38" name="Text 36">
            <a:extLst xmlns:a="http://schemas.openxmlformats.org/drawingml/2006/main">
              <a:ext uri="{FF2B5EF4-FFF2-40B4-BE49-F238E27FC236}">
                <a16:creationId xmlns:a16="http://schemas.microsoft.com/office/drawing/2014/main" id="{988ECA26-07B5-4B4B-999D-83D7C4240B6E}"/>
              </a:ext>
            </a:extLst>
          </p:cNvPr>
          <p:cNvSpPr>
            <a:spLocks xmlns:a="http://schemas.openxmlformats.org/drawingml/2006/main" noGrp="1"/>
          </p:cNvSpPr>
          <p:nvPr/>
        </p:nvSpPr>
        <p:spPr>
          <a:xfrm xmlns:a="http://schemas.openxmlformats.org/drawingml/2006/main">
            <a:off x="5507028" y="5105251"/>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−32.0</a:t>
            </a:r>
            <a:endParaRPr sz="2100"/>
          </a:p>
        </p:txBody>
      </p:sp>
      <p:sp>
        <p:nvSpPr>
          <p:cNvPr id="39" name="Text 37">
            <a:extLst xmlns:a="http://schemas.openxmlformats.org/drawingml/2006/main">
              <a:ext uri="{FF2B5EF4-FFF2-40B4-BE49-F238E27FC236}">
                <a16:creationId xmlns:a16="http://schemas.microsoft.com/office/drawing/2014/main" id="{4D8E8D6D-DA13-4DA6-9E25-892FA93254EF}"/>
              </a:ext>
            </a:extLst>
          </p:cNvPr>
          <p:cNvSpPr>
            <a:spLocks xmlns:a="http://schemas.openxmlformats.org/drawingml/2006/main" noGrp="1"/>
          </p:cNvSpPr>
          <p:nvPr/>
        </p:nvSpPr>
        <p:spPr>
          <a:xfrm xmlns:a="http://schemas.openxmlformats.org/drawingml/2006/main">
            <a:off x="8143079" y="5105251"/>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62.4</a:t>
            </a:r>
            <a:endParaRPr sz="2100"/>
          </a:p>
        </p:txBody>
      </p:sp>
      <p:sp>
        <p:nvSpPr>
          <p:cNvPr id="40" name="Text 38">
            <a:extLst xmlns:a="http://schemas.openxmlformats.org/drawingml/2006/main">
              <a:ext uri="{FF2B5EF4-FFF2-40B4-BE49-F238E27FC236}">
                <a16:creationId xmlns:a16="http://schemas.microsoft.com/office/drawing/2014/main" id="{717E9BA1-F682-4F83-B311-1E2D4DC39DE2}"/>
              </a:ext>
            </a:extLst>
          </p:cNvPr>
          <p:cNvSpPr>
            <a:spLocks xmlns:a="http://schemas.openxmlformats.org/drawingml/2006/main" noGrp="1"/>
          </p:cNvSpPr>
          <p:nvPr/>
        </p:nvSpPr>
        <p:spPr>
          <a:xfrm xmlns:a="http://schemas.openxmlformats.org/drawingml/2006/main">
            <a:off x="10688055" y="5105251"/>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[-154, 90]</a:t>
            </a:r>
            <a:endParaRPr sz="2100"/>
          </a:p>
        </p:txBody>
      </p:sp>
      <p:sp>
        <p:nvSpPr>
          <p:cNvPr id="41" name="Text 39">
            <a:extLst xmlns:a="http://schemas.openxmlformats.org/drawingml/2006/main">
              <a:ext uri="{FF2B5EF4-FFF2-40B4-BE49-F238E27FC236}">
                <a16:creationId xmlns:a16="http://schemas.microsoft.com/office/drawing/2014/main" id="{85AB5FB3-FF94-4EC5-A476-7950633EEBBF}"/>
              </a:ext>
            </a:extLst>
          </p:cNvPr>
          <p:cNvSpPr>
            <a:spLocks xmlns:a="http://schemas.openxmlformats.org/drawingml/2006/main" noGrp="1"/>
          </p:cNvSpPr>
          <p:nvPr/>
        </p:nvSpPr>
        <p:spPr>
          <a:xfrm xmlns:a="http://schemas.openxmlformats.org/drawingml/2006/main">
            <a:off x="14294621" y="5105251"/>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0.609</a:t>
            </a:r>
            <a:endParaRPr sz="2100"/>
          </a:p>
        </p:txBody>
      </p:sp>
      <p:sp>
        <p:nvSpPr>
          <p:cNvPr id="42" name="Shape 40">
            <a:extLst xmlns:a="http://schemas.openxmlformats.org/drawingml/2006/main">
              <a:ext uri="{FF2B5EF4-FFF2-40B4-BE49-F238E27FC236}">
                <a16:creationId xmlns:a16="http://schemas.microsoft.com/office/drawing/2014/main" id="{B7B59189-8D0C-4DFD-915F-F7E0217E205E}"/>
              </a:ext>
            </a:extLst>
          </p:cNvPr>
          <p:cNvSpPr>
            <a:spLocks xmlns:a="http://schemas.openxmlformats.org/drawingml/2006/main" noGrp="1"/>
          </p:cNvSpPr>
          <p:nvPr/>
        </p:nvSpPr>
        <p:spPr>
          <a:xfrm xmlns:a="http://schemas.openxmlformats.org/drawingml/2006/main">
            <a:off x="990600" y="6007001"/>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220FE36A-F203-4B69-A6D3-B7661D3351E4}"/>
              </a:ext>
            </a:extLst>
          </p:cNvPr>
          <p:cNvSpPr>
            <a:spLocks xmlns:a="http://schemas.openxmlformats.org/drawingml/2006/main" noGrp="1"/>
          </p:cNvSpPr>
          <p:nvPr/>
        </p:nvSpPr>
        <p:spPr>
          <a:xfrm xmlns:a="http://schemas.openxmlformats.org/drawingml/2006/main">
            <a:off x="990600" y="5641851"/>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Clutch completed</a:t>
            </a:r>
            <a:endParaRPr sz="2100"/>
          </a:p>
        </p:txBody>
      </p:sp>
      <p:sp>
        <p:nvSpPr>
          <p:cNvPr id="44" name="Text 42">
            <a:extLst xmlns:a="http://schemas.openxmlformats.org/drawingml/2006/main">
              <a:ext uri="{FF2B5EF4-FFF2-40B4-BE49-F238E27FC236}">
                <a16:creationId xmlns:a16="http://schemas.microsoft.com/office/drawing/2014/main" id="{1CCB541E-4734-4F9A-9CBE-A3B09132BF3A}"/>
              </a:ext>
            </a:extLst>
          </p:cNvPr>
          <p:cNvSpPr>
            <a:spLocks xmlns:a="http://schemas.openxmlformats.org/drawingml/2006/main" noGrp="1"/>
          </p:cNvSpPr>
          <p:nvPr/>
        </p:nvSpPr>
        <p:spPr>
          <a:xfrm xmlns:a="http://schemas.openxmlformats.org/drawingml/2006/main">
            <a:off x="5507028" y="5641851"/>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101.1</a:t>
            </a:r>
            <a:endParaRPr sz="2100"/>
          </a:p>
        </p:txBody>
      </p:sp>
      <p:sp>
        <p:nvSpPr>
          <p:cNvPr id="45" name="Text 43">
            <a:extLst xmlns:a="http://schemas.openxmlformats.org/drawingml/2006/main">
              <a:ext uri="{FF2B5EF4-FFF2-40B4-BE49-F238E27FC236}">
                <a16:creationId xmlns:a16="http://schemas.microsoft.com/office/drawing/2014/main" id="{1032718E-2EB5-4A5D-B3DE-E50FC24A025F}"/>
              </a:ext>
            </a:extLst>
          </p:cNvPr>
          <p:cNvSpPr>
            <a:spLocks xmlns:a="http://schemas.openxmlformats.org/drawingml/2006/main" noGrp="1"/>
          </p:cNvSpPr>
          <p:nvPr/>
        </p:nvSpPr>
        <p:spPr>
          <a:xfrm xmlns:a="http://schemas.openxmlformats.org/drawingml/2006/main">
            <a:off x="8143079" y="5641851"/>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53.2</a:t>
            </a:r>
            <a:endParaRPr sz="2100"/>
          </a:p>
        </p:txBody>
      </p:sp>
      <p:sp>
        <p:nvSpPr>
          <p:cNvPr id="46" name="Text 44">
            <a:extLst xmlns:a="http://schemas.openxmlformats.org/drawingml/2006/main">
              <a:ext uri="{FF2B5EF4-FFF2-40B4-BE49-F238E27FC236}">
                <a16:creationId xmlns:a16="http://schemas.microsoft.com/office/drawing/2014/main" id="{EBBA8069-7BB6-4849-B697-F71BBE0D6DA1}"/>
              </a:ext>
            </a:extLst>
          </p:cNvPr>
          <p:cNvSpPr>
            <a:spLocks xmlns:a="http://schemas.openxmlformats.org/drawingml/2006/main" noGrp="1"/>
          </p:cNvSpPr>
          <p:nvPr/>
        </p:nvSpPr>
        <p:spPr>
          <a:xfrm xmlns:a="http://schemas.openxmlformats.org/drawingml/2006/main">
            <a:off x="10688055" y="5641851"/>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[-3, 205]</a:t>
            </a:r>
            <a:endParaRPr sz="2100"/>
          </a:p>
        </p:txBody>
      </p:sp>
      <p:sp>
        <p:nvSpPr>
          <p:cNvPr id="47" name="Text 45">
            <a:extLst xmlns:a="http://schemas.openxmlformats.org/drawingml/2006/main">
              <a:ext uri="{FF2B5EF4-FFF2-40B4-BE49-F238E27FC236}">
                <a16:creationId xmlns:a16="http://schemas.microsoft.com/office/drawing/2014/main" id="{AD2804B9-E728-4058-8EE9-D04AC167D219}"/>
              </a:ext>
            </a:extLst>
          </p:cNvPr>
          <p:cNvSpPr>
            <a:spLocks xmlns:a="http://schemas.openxmlformats.org/drawingml/2006/main" noGrp="1"/>
          </p:cNvSpPr>
          <p:nvPr/>
        </p:nvSpPr>
        <p:spPr>
          <a:xfrm xmlns:a="http://schemas.openxmlformats.org/drawingml/2006/main">
            <a:off x="14294621" y="5641851"/>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0.058</a:t>
            </a:r>
            <a:endParaRPr sz="2100"/>
          </a:p>
        </p:txBody>
      </p:sp>
      <p:sp>
        <p:nvSpPr>
          <p:cNvPr id="48" name="Shape 46">
            <a:extLst xmlns:a="http://schemas.openxmlformats.org/drawingml/2006/main">
              <a:ext uri="{FF2B5EF4-FFF2-40B4-BE49-F238E27FC236}">
                <a16:creationId xmlns:a16="http://schemas.microsoft.com/office/drawing/2014/main" id="{B1B6F0C4-6AFA-4A72-8649-D901A3206FBA}"/>
              </a:ext>
            </a:extLst>
          </p:cNvPr>
          <p:cNvSpPr>
            <a:spLocks xmlns:a="http://schemas.openxmlformats.org/drawingml/2006/main" noGrp="1"/>
          </p:cNvSpPr>
          <p:nvPr/>
        </p:nvSpPr>
        <p:spPr>
          <a:xfrm xmlns:a="http://schemas.openxmlformats.org/drawingml/2006/main">
            <a:off x="990600" y="6543601"/>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49" name="Text 47">
            <a:extLst xmlns:a="http://schemas.openxmlformats.org/drawingml/2006/main">
              <a:ext uri="{FF2B5EF4-FFF2-40B4-BE49-F238E27FC236}">
                <a16:creationId xmlns:a16="http://schemas.microsoft.com/office/drawing/2014/main" id="{DD5CFC56-0692-4309-B7CC-04C75D3AB1C7}"/>
              </a:ext>
            </a:extLst>
          </p:cNvPr>
          <p:cNvSpPr>
            <a:spLocks xmlns:a="http://schemas.openxmlformats.org/drawingml/2006/main" noGrp="1"/>
          </p:cNvSpPr>
          <p:nvPr/>
        </p:nvSpPr>
        <p:spPr>
          <a:xfrm xmlns:a="http://schemas.openxmlformats.org/drawingml/2006/main">
            <a:off x="990600" y="6178451"/>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Bill length (mm)</a:t>
            </a:r>
            <a:endParaRPr sz="2100"/>
          </a:p>
        </p:txBody>
      </p:sp>
      <p:sp>
        <p:nvSpPr>
          <p:cNvPr id="50" name="Text 48">
            <a:extLst xmlns:a="http://schemas.openxmlformats.org/drawingml/2006/main">
              <a:ext uri="{FF2B5EF4-FFF2-40B4-BE49-F238E27FC236}">
                <a16:creationId xmlns:a16="http://schemas.microsoft.com/office/drawing/2014/main" id="{AA74BE6C-515C-40E5-9F24-1B4F7C0EFADC}"/>
              </a:ext>
            </a:extLst>
          </p:cNvPr>
          <p:cNvSpPr>
            <a:spLocks xmlns:a="http://schemas.openxmlformats.org/drawingml/2006/main" noGrp="1"/>
          </p:cNvSpPr>
          <p:nvPr/>
        </p:nvSpPr>
        <p:spPr>
          <a:xfrm xmlns:a="http://schemas.openxmlformats.org/drawingml/2006/main">
            <a:off x="5507028" y="6178451"/>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18.9</a:t>
            </a:r>
            <a:endParaRPr sz="2100"/>
          </a:p>
        </p:txBody>
      </p:sp>
      <p:sp>
        <p:nvSpPr>
          <p:cNvPr id="51" name="Text 49">
            <a:extLst xmlns:a="http://schemas.openxmlformats.org/drawingml/2006/main">
              <a:ext uri="{FF2B5EF4-FFF2-40B4-BE49-F238E27FC236}">
                <a16:creationId xmlns:a16="http://schemas.microsoft.com/office/drawing/2014/main" id="{327D5C04-CD78-46FF-9F24-3B924516F8EA}"/>
              </a:ext>
            </a:extLst>
          </p:cNvPr>
          <p:cNvSpPr>
            <a:spLocks xmlns:a="http://schemas.openxmlformats.org/drawingml/2006/main" noGrp="1"/>
          </p:cNvSpPr>
          <p:nvPr/>
        </p:nvSpPr>
        <p:spPr>
          <a:xfrm xmlns:a="http://schemas.openxmlformats.org/drawingml/2006/main">
            <a:off x="8143079" y="6178451"/>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7.1</a:t>
            </a:r>
            <a:endParaRPr sz="2100"/>
          </a:p>
        </p:txBody>
      </p:sp>
      <p:sp>
        <p:nvSpPr>
          <p:cNvPr id="52" name="Text 50">
            <a:extLst xmlns:a="http://schemas.openxmlformats.org/drawingml/2006/main">
              <a:ext uri="{FF2B5EF4-FFF2-40B4-BE49-F238E27FC236}">
                <a16:creationId xmlns:a16="http://schemas.microsoft.com/office/drawing/2014/main" id="{149E6D3C-0385-4036-B609-683FBBE6D4A4}"/>
              </a:ext>
            </a:extLst>
          </p:cNvPr>
          <p:cNvSpPr>
            <a:spLocks xmlns:a="http://schemas.openxmlformats.org/drawingml/2006/main" noGrp="1"/>
          </p:cNvSpPr>
          <p:nvPr/>
        </p:nvSpPr>
        <p:spPr>
          <a:xfrm xmlns:a="http://schemas.openxmlformats.org/drawingml/2006/main">
            <a:off x="10688055" y="6178451"/>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[5, 33]</a:t>
            </a:r>
            <a:endParaRPr sz="2100"/>
          </a:p>
        </p:txBody>
      </p:sp>
      <p:sp>
        <p:nvSpPr>
          <p:cNvPr id="53" name="Text 51">
            <a:extLst xmlns:a="http://schemas.openxmlformats.org/drawingml/2006/main">
              <a:ext uri="{FF2B5EF4-FFF2-40B4-BE49-F238E27FC236}">
                <a16:creationId xmlns:a16="http://schemas.microsoft.com/office/drawing/2014/main" id="{6B41420D-18D1-4962-AED0-B8A4C1AF7C73}"/>
              </a:ext>
            </a:extLst>
          </p:cNvPr>
          <p:cNvSpPr>
            <a:spLocks xmlns:a="http://schemas.openxmlformats.org/drawingml/2006/main" noGrp="1"/>
          </p:cNvSpPr>
          <p:nvPr/>
        </p:nvSpPr>
        <p:spPr>
          <a:xfrm xmlns:a="http://schemas.openxmlformats.org/drawingml/2006/main">
            <a:off x="14294621" y="6178451"/>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0.008</a:t>
            </a:r>
            <a:endParaRPr sz="2100"/>
          </a:p>
        </p:txBody>
      </p:sp>
      <p:sp>
        <p:nvSpPr>
          <p:cNvPr id="54" name="Shape 52">
            <a:extLst xmlns:a="http://schemas.openxmlformats.org/drawingml/2006/main">
              <a:ext uri="{FF2B5EF4-FFF2-40B4-BE49-F238E27FC236}">
                <a16:creationId xmlns:a16="http://schemas.microsoft.com/office/drawing/2014/main" id="{108F37AE-9523-4EAA-9C89-A0B276A99739}"/>
              </a:ext>
            </a:extLst>
          </p:cNvPr>
          <p:cNvSpPr>
            <a:spLocks xmlns:a="http://schemas.openxmlformats.org/drawingml/2006/main" noGrp="1"/>
          </p:cNvSpPr>
          <p:nvPr/>
        </p:nvSpPr>
        <p:spPr>
          <a:xfrm xmlns:a="http://schemas.openxmlformats.org/drawingml/2006/main">
            <a:off x="990600" y="7080200"/>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55" name="Text 53">
            <a:extLst xmlns:a="http://schemas.openxmlformats.org/drawingml/2006/main">
              <a:ext uri="{FF2B5EF4-FFF2-40B4-BE49-F238E27FC236}">
                <a16:creationId xmlns:a16="http://schemas.microsoft.com/office/drawing/2014/main" id="{DB34E1C2-259E-4CD2-B04F-018FA9B0F945}"/>
              </a:ext>
            </a:extLst>
          </p:cNvPr>
          <p:cNvSpPr>
            <a:spLocks xmlns:a="http://schemas.openxmlformats.org/drawingml/2006/main" noGrp="1"/>
          </p:cNvSpPr>
          <p:nvPr/>
        </p:nvSpPr>
        <p:spPr>
          <a:xfrm xmlns:a="http://schemas.openxmlformats.org/drawingml/2006/main">
            <a:off x="990600" y="6715051"/>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Bill depth (mm)</a:t>
            </a:r>
            <a:endParaRPr sz="2100"/>
          </a:p>
        </p:txBody>
      </p:sp>
      <p:sp>
        <p:nvSpPr>
          <p:cNvPr id="56" name="Text 54">
            <a:extLst xmlns:a="http://schemas.openxmlformats.org/drawingml/2006/main">
              <a:ext uri="{FF2B5EF4-FFF2-40B4-BE49-F238E27FC236}">
                <a16:creationId xmlns:a16="http://schemas.microsoft.com/office/drawing/2014/main" id="{3BD0C128-E646-412B-A2D3-A30F4224B661}"/>
              </a:ext>
            </a:extLst>
          </p:cNvPr>
          <p:cNvSpPr>
            <a:spLocks xmlns:a="http://schemas.openxmlformats.org/drawingml/2006/main" noGrp="1"/>
          </p:cNvSpPr>
          <p:nvPr/>
        </p:nvSpPr>
        <p:spPr>
          <a:xfrm xmlns:a="http://schemas.openxmlformats.org/drawingml/2006/main">
            <a:off x="5507028" y="6715051"/>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69.3</a:t>
            </a:r>
            <a:endParaRPr sz="2100"/>
          </a:p>
        </p:txBody>
      </p:sp>
      <p:sp>
        <p:nvSpPr>
          <p:cNvPr id="57" name="Text 55">
            <a:extLst xmlns:a="http://schemas.openxmlformats.org/drawingml/2006/main">
              <a:ext uri="{FF2B5EF4-FFF2-40B4-BE49-F238E27FC236}">
                <a16:creationId xmlns:a16="http://schemas.microsoft.com/office/drawing/2014/main" id="{2EA30FDE-8DD7-4E1B-A6A4-9702B651D617}"/>
              </a:ext>
            </a:extLst>
          </p:cNvPr>
          <p:cNvSpPr>
            <a:spLocks xmlns:a="http://schemas.openxmlformats.org/drawingml/2006/main" noGrp="1"/>
          </p:cNvSpPr>
          <p:nvPr/>
        </p:nvSpPr>
        <p:spPr>
          <a:xfrm xmlns:a="http://schemas.openxmlformats.org/drawingml/2006/main">
            <a:off x="8143079" y="6715051"/>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19.9</a:t>
            </a:r>
            <a:endParaRPr sz="2100"/>
          </a:p>
        </p:txBody>
      </p:sp>
      <p:sp>
        <p:nvSpPr>
          <p:cNvPr id="58" name="Text 56">
            <a:extLst xmlns:a="http://schemas.openxmlformats.org/drawingml/2006/main">
              <a:ext uri="{FF2B5EF4-FFF2-40B4-BE49-F238E27FC236}">
                <a16:creationId xmlns:a16="http://schemas.microsoft.com/office/drawing/2014/main" id="{D50C4D7B-4229-4C6E-ACF3-F58EBB44F2F1}"/>
              </a:ext>
            </a:extLst>
          </p:cNvPr>
          <p:cNvSpPr>
            <a:spLocks xmlns:a="http://schemas.openxmlformats.org/drawingml/2006/main" noGrp="1"/>
          </p:cNvSpPr>
          <p:nvPr/>
        </p:nvSpPr>
        <p:spPr>
          <a:xfrm xmlns:a="http://schemas.openxmlformats.org/drawingml/2006/main">
            <a:off x="10688055" y="6715051"/>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[30, 108]</a:t>
            </a:r>
            <a:endParaRPr sz="2100"/>
          </a:p>
        </p:txBody>
      </p:sp>
      <p:sp>
        <p:nvSpPr>
          <p:cNvPr id="59" name="Text 57">
            <a:extLst xmlns:a="http://schemas.openxmlformats.org/drawingml/2006/main">
              <a:ext uri="{FF2B5EF4-FFF2-40B4-BE49-F238E27FC236}">
                <a16:creationId xmlns:a16="http://schemas.microsoft.com/office/drawing/2014/main" id="{E348F4F4-7C4F-4EBB-8559-2BAAE374C559}"/>
              </a:ext>
            </a:extLst>
          </p:cNvPr>
          <p:cNvSpPr>
            <a:spLocks xmlns:a="http://schemas.openxmlformats.org/drawingml/2006/main" noGrp="1"/>
          </p:cNvSpPr>
          <p:nvPr/>
        </p:nvSpPr>
        <p:spPr>
          <a:xfrm xmlns:a="http://schemas.openxmlformats.org/drawingml/2006/main">
            <a:off x="14294621" y="6715051"/>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5.6e−4</a:t>
            </a:r>
            <a:endParaRPr sz="2100"/>
          </a:p>
        </p:txBody>
      </p:sp>
      <p:sp>
        <p:nvSpPr>
          <p:cNvPr id="60" name="Shape 58">
            <a:extLst xmlns:a="http://schemas.openxmlformats.org/drawingml/2006/main">
              <a:ext uri="{FF2B5EF4-FFF2-40B4-BE49-F238E27FC236}">
                <a16:creationId xmlns:a16="http://schemas.microsoft.com/office/drawing/2014/main" id="{77FBFB0B-6F0E-4F76-8649-FBD12C8105A7}"/>
              </a:ext>
            </a:extLst>
          </p:cNvPr>
          <p:cNvSpPr>
            <a:spLocks xmlns:a="http://schemas.openxmlformats.org/drawingml/2006/main" noGrp="1"/>
          </p:cNvSpPr>
          <p:nvPr/>
        </p:nvSpPr>
        <p:spPr>
          <a:xfrm xmlns:a="http://schemas.openxmlformats.org/drawingml/2006/main">
            <a:off x="990600" y="7616800"/>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61" name="Text 59">
            <a:extLst xmlns:a="http://schemas.openxmlformats.org/drawingml/2006/main">
              <a:ext uri="{FF2B5EF4-FFF2-40B4-BE49-F238E27FC236}">
                <a16:creationId xmlns:a16="http://schemas.microsoft.com/office/drawing/2014/main" id="{A6BDB926-878B-486B-BC5E-5B71DC44912C}"/>
              </a:ext>
            </a:extLst>
          </p:cNvPr>
          <p:cNvSpPr>
            <a:spLocks xmlns:a="http://schemas.openxmlformats.org/drawingml/2006/main" noGrp="1"/>
          </p:cNvSpPr>
          <p:nvPr/>
        </p:nvSpPr>
        <p:spPr>
          <a:xfrm xmlns:a="http://schemas.openxmlformats.org/drawingml/2006/main">
            <a:off x="990600" y="7251650"/>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Flipper length (mm)</a:t>
            </a:r>
            <a:endParaRPr sz="2100"/>
          </a:p>
        </p:txBody>
      </p:sp>
      <p:sp>
        <p:nvSpPr>
          <p:cNvPr id="62" name="Text 60">
            <a:extLst xmlns:a="http://schemas.openxmlformats.org/drawingml/2006/main">
              <a:ext uri="{FF2B5EF4-FFF2-40B4-BE49-F238E27FC236}">
                <a16:creationId xmlns:a16="http://schemas.microsoft.com/office/drawing/2014/main" id="{1971705E-D338-443E-A3E6-5C6EB0A5BB59}"/>
              </a:ext>
            </a:extLst>
          </p:cNvPr>
          <p:cNvSpPr>
            <a:spLocks xmlns:a="http://schemas.openxmlformats.org/drawingml/2006/main" noGrp="1"/>
          </p:cNvSpPr>
          <p:nvPr/>
        </p:nvSpPr>
        <p:spPr>
          <a:xfrm xmlns:a="http://schemas.openxmlformats.org/drawingml/2006/main">
            <a:off x="5507028" y="7251650"/>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16.0</a:t>
            </a:r>
            <a:endParaRPr sz="2100"/>
          </a:p>
        </p:txBody>
      </p:sp>
      <p:sp>
        <p:nvSpPr>
          <p:cNvPr id="63" name="Text 61">
            <a:extLst xmlns:a="http://schemas.openxmlformats.org/drawingml/2006/main">
              <a:ext uri="{FF2B5EF4-FFF2-40B4-BE49-F238E27FC236}">
                <a16:creationId xmlns:a16="http://schemas.microsoft.com/office/drawing/2014/main" id="{F5DA04CA-ECEF-4221-AE91-BE74ACBACDBE}"/>
              </a:ext>
            </a:extLst>
          </p:cNvPr>
          <p:cNvSpPr>
            <a:spLocks xmlns:a="http://schemas.openxmlformats.org/drawingml/2006/main" noGrp="1"/>
          </p:cNvSpPr>
          <p:nvPr/>
        </p:nvSpPr>
        <p:spPr>
          <a:xfrm xmlns:a="http://schemas.openxmlformats.org/drawingml/2006/main">
            <a:off x="8143079" y="7251650"/>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3.0</a:t>
            </a:r>
            <a:endParaRPr sz="2100"/>
          </a:p>
        </p:txBody>
      </p:sp>
      <p:sp>
        <p:nvSpPr>
          <p:cNvPr id="64" name="Text 62">
            <a:extLst xmlns:a="http://schemas.openxmlformats.org/drawingml/2006/main">
              <a:ext uri="{FF2B5EF4-FFF2-40B4-BE49-F238E27FC236}">
                <a16:creationId xmlns:a16="http://schemas.microsoft.com/office/drawing/2014/main" id="{FAB116C9-6D94-43A0-820E-AC93AACDB2C0}"/>
              </a:ext>
            </a:extLst>
          </p:cNvPr>
          <p:cNvSpPr>
            <a:spLocks xmlns:a="http://schemas.openxmlformats.org/drawingml/2006/main" noGrp="1"/>
          </p:cNvSpPr>
          <p:nvPr/>
        </p:nvSpPr>
        <p:spPr>
          <a:xfrm xmlns:a="http://schemas.openxmlformats.org/drawingml/2006/main">
            <a:off x="10688055" y="7251650"/>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[10, 22]</a:t>
            </a:r>
            <a:endParaRPr sz="2100"/>
          </a:p>
        </p:txBody>
      </p:sp>
      <p:sp>
        <p:nvSpPr>
          <p:cNvPr id="65" name="Text 63">
            <a:extLst xmlns:a="http://schemas.openxmlformats.org/drawingml/2006/main">
              <a:ext uri="{FF2B5EF4-FFF2-40B4-BE49-F238E27FC236}">
                <a16:creationId xmlns:a16="http://schemas.microsoft.com/office/drawing/2014/main" id="{B557E082-9974-4B59-82A8-9DC1E5EFCC85}"/>
              </a:ext>
            </a:extLst>
          </p:cNvPr>
          <p:cNvSpPr>
            <a:spLocks xmlns:a="http://schemas.openxmlformats.org/drawingml/2006/main" noGrp="1"/>
          </p:cNvSpPr>
          <p:nvPr/>
        </p:nvSpPr>
        <p:spPr>
          <a:xfrm xmlns:a="http://schemas.openxmlformats.org/drawingml/2006/main">
            <a:off x="14294621" y="7251650"/>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2.1e−7</a:t>
            </a:r>
            <a:endParaRPr sz="2100"/>
          </a:p>
        </p:txBody>
      </p:sp>
      <p:sp>
        <p:nvSpPr>
          <p:cNvPr id="66" name="Shape 64">
            <a:extLst xmlns:a="http://schemas.openxmlformats.org/drawingml/2006/main">
              <a:ext uri="{FF2B5EF4-FFF2-40B4-BE49-F238E27FC236}">
                <a16:creationId xmlns:a16="http://schemas.microsoft.com/office/drawing/2014/main" id="{FA9120D6-94CA-4C00-91EA-187D27A9CF6F}"/>
              </a:ext>
            </a:extLst>
          </p:cNvPr>
          <p:cNvSpPr>
            <a:spLocks xmlns:a="http://schemas.openxmlformats.org/drawingml/2006/main" noGrp="1"/>
          </p:cNvSpPr>
          <p:nvPr/>
        </p:nvSpPr>
        <p:spPr>
          <a:xfrm xmlns:a="http://schemas.openxmlformats.org/drawingml/2006/main">
            <a:off x="990600" y="8153400"/>
            <a:ext cx="16306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67" name="Text 65">
            <a:extLst xmlns:a="http://schemas.openxmlformats.org/drawingml/2006/main">
              <a:ext uri="{FF2B5EF4-FFF2-40B4-BE49-F238E27FC236}">
                <a16:creationId xmlns:a16="http://schemas.microsoft.com/office/drawing/2014/main" id="{0A8AD0BC-613A-4ABD-B2C6-A195705872BA}"/>
              </a:ext>
            </a:extLst>
          </p:cNvPr>
          <p:cNvSpPr>
            <a:spLocks xmlns:a="http://schemas.openxmlformats.org/drawingml/2006/main" noGrp="1"/>
          </p:cNvSpPr>
          <p:nvPr/>
        </p:nvSpPr>
        <p:spPr>
          <a:xfrm xmlns:a="http://schemas.openxmlformats.org/drawingml/2006/main">
            <a:off x="990600" y="7788250"/>
            <a:ext cx="500448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00">
                <a:solidFill>
                  <a:srgbClr val="202C35"/>
                </a:solidFill>
                <a:latin typeface="Arial"/>
                <a:ea typeface="Arial"/>
                <a:cs typeface="Arial"/>
              </a:rPr>
              <a:t>Male vs female</a:t>
            </a:r>
            <a:endParaRPr sz="2100"/>
          </a:p>
        </p:txBody>
      </p:sp>
      <p:sp>
        <p:nvSpPr>
          <p:cNvPr id="68" name="Text 66">
            <a:extLst xmlns:a="http://schemas.openxmlformats.org/drawingml/2006/main">
              <a:ext uri="{FF2B5EF4-FFF2-40B4-BE49-F238E27FC236}">
                <a16:creationId xmlns:a16="http://schemas.microsoft.com/office/drawing/2014/main" id="{34FC1D18-7AE5-463D-90A0-DCA715A53DF5}"/>
              </a:ext>
            </a:extLst>
          </p:cNvPr>
          <p:cNvSpPr>
            <a:spLocks xmlns:a="http://schemas.openxmlformats.org/drawingml/2006/main" noGrp="1"/>
          </p:cNvSpPr>
          <p:nvPr/>
        </p:nvSpPr>
        <p:spPr>
          <a:xfrm xmlns:a="http://schemas.openxmlformats.org/drawingml/2006/main">
            <a:off x="5507028" y="7788250"/>
            <a:ext cx="2669143"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387.1</a:t>
            </a:r>
            <a:endParaRPr sz="2100"/>
          </a:p>
        </p:txBody>
      </p:sp>
      <p:sp>
        <p:nvSpPr>
          <p:cNvPr id="69" name="Text 67">
            <a:extLst xmlns:a="http://schemas.openxmlformats.org/drawingml/2006/main">
              <a:ext uri="{FF2B5EF4-FFF2-40B4-BE49-F238E27FC236}">
                <a16:creationId xmlns:a16="http://schemas.microsoft.com/office/drawing/2014/main" id="{ECC015B4-FC8E-4D3E-9029-534CED594035}"/>
              </a:ext>
            </a:extLst>
          </p:cNvPr>
          <p:cNvSpPr>
            <a:spLocks xmlns:a="http://schemas.openxmlformats.org/drawingml/2006/main" noGrp="1"/>
          </p:cNvSpPr>
          <p:nvPr/>
        </p:nvSpPr>
        <p:spPr>
          <a:xfrm xmlns:a="http://schemas.openxmlformats.org/drawingml/2006/main">
            <a:off x="8143079" y="7788250"/>
            <a:ext cx="2669061"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48.2</a:t>
            </a:r>
            <a:endParaRPr sz="2100"/>
          </a:p>
        </p:txBody>
      </p:sp>
      <p:sp>
        <p:nvSpPr>
          <p:cNvPr id="70" name="Text 68">
            <a:extLst xmlns:a="http://schemas.openxmlformats.org/drawingml/2006/main">
              <a:ext uri="{FF2B5EF4-FFF2-40B4-BE49-F238E27FC236}">
                <a16:creationId xmlns:a16="http://schemas.microsoft.com/office/drawing/2014/main" id="{4BC6ABD5-A4A5-410D-B664-03D6FC5E67ED}"/>
              </a:ext>
            </a:extLst>
          </p:cNvPr>
          <p:cNvSpPr>
            <a:spLocks xmlns:a="http://schemas.openxmlformats.org/drawingml/2006/main" noGrp="1"/>
          </p:cNvSpPr>
          <p:nvPr/>
        </p:nvSpPr>
        <p:spPr>
          <a:xfrm xmlns:a="http://schemas.openxmlformats.org/drawingml/2006/main">
            <a:off x="10688055" y="7788250"/>
            <a:ext cx="3669990"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516674"/>
                </a:solidFill>
                <a:latin typeface="Courier New"/>
                <a:ea typeface="Courier New"/>
                <a:cs typeface="Courier New"/>
              </a:rPr>
              <a:t>[293, 482]</a:t>
            </a:r>
            <a:endParaRPr sz="2100"/>
          </a:p>
        </p:txBody>
      </p:sp>
      <p:sp>
        <p:nvSpPr>
          <p:cNvPr id="71" name="Text 69">
            <a:extLst xmlns:a="http://schemas.openxmlformats.org/drawingml/2006/main">
              <a:ext uri="{FF2B5EF4-FFF2-40B4-BE49-F238E27FC236}">
                <a16:creationId xmlns:a16="http://schemas.microsoft.com/office/drawing/2014/main" id="{9746BF35-66DF-401E-B42D-1D63F198B425}"/>
              </a:ext>
            </a:extLst>
          </p:cNvPr>
          <p:cNvSpPr>
            <a:spLocks xmlns:a="http://schemas.openxmlformats.org/drawingml/2006/main" noGrp="1"/>
          </p:cNvSpPr>
          <p:nvPr/>
        </p:nvSpPr>
        <p:spPr>
          <a:xfrm xmlns:a="http://schemas.openxmlformats.org/drawingml/2006/main">
            <a:off x="14294621" y="7788250"/>
            <a:ext cx="3002704" cy="3810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r">
              <a:buNone/>
            </a:pPr>
            <a:r>
              <a:rPr sz="2100">
                <a:solidFill>
                  <a:srgbClr val="202C35"/>
                </a:solidFill>
                <a:latin typeface="Courier New"/>
                <a:ea typeface="Courier New"/>
                <a:cs typeface="Courier New"/>
              </a:rPr>
              <a:t>2.0e−14</a:t>
            </a:r>
            <a:endParaRPr sz="2100"/>
          </a:p>
        </p:txBody>
      </p:sp>
      <p:sp>
        <p:nvSpPr>
          <p:cNvPr id="72" name="Text 70">
            <a:extLst xmlns:a="http://schemas.openxmlformats.org/drawingml/2006/main">
              <a:ext uri="{FF2B5EF4-FFF2-40B4-BE49-F238E27FC236}">
                <a16:creationId xmlns:a16="http://schemas.microsoft.com/office/drawing/2014/main" id="{D8D9BC47-1D9E-49A6-8F1C-83F8AC104FB0}"/>
              </a:ext>
            </a:extLst>
          </p:cNvPr>
          <p:cNvSpPr>
            <a:spLocks xmlns:a="http://schemas.openxmlformats.org/drawingml/2006/main" noGrp="1"/>
          </p:cNvSpPr>
          <p:nvPr/>
        </p:nvSpPr>
        <p:spPr>
          <a:xfrm xmlns:a="http://schemas.openxmlformats.org/drawingml/2006/main">
            <a:off x="990600" y="8410575"/>
            <a:ext cx="16796004" cy="83820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9231"/>
              </a:lnSpc>
              <a:buNone/>
            </a:pPr>
            <a:r>
              <a:rPr sz="2100">
                <a:solidFill>
                  <a:srgbClr val="516674"/>
                </a:solidFill>
                <a:latin typeface="Arial"/>
                <a:ea typeface="Arial"/>
                <a:cs typeface="Arial"/>
              </a:rPr>
              <a:t>Reference levels: Adelie, Biscoe, clutch not completed, female. Residual standard error 284.6 g on 314 degrees of freedom; R² = 0.880, adjusted R² = 0.876; F(9, 314) = 255.3.</a:t>
            </a:r>
            <a:endParaRPr sz="2100"/>
          </a:p>
        </p:txBody>
      </p:sp>
      <p:sp>
        <p:nvSpPr>
          <p:cNvPr id="73" name="Text 71">
            <a:extLst xmlns:a="http://schemas.openxmlformats.org/drawingml/2006/main">
              <a:ext uri="{FF2B5EF4-FFF2-40B4-BE49-F238E27FC236}">
                <a16:creationId xmlns:a16="http://schemas.microsoft.com/office/drawing/2014/main" id="{FF8CFBE6-DE25-47E0-9A2B-4C6B6644C4B3}"/>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74" name="Text 72">
            <a:extLst xmlns:a="http://schemas.openxmlformats.org/drawingml/2006/main">
              <a:ext uri="{FF2B5EF4-FFF2-40B4-BE49-F238E27FC236}">
                <a16:creationId xmlns:a16="http://schemas.microsoft.com/office/drawing/2014/main" id="{BC26FAE8-1619-4886-A6BC-ECCD48BACFD2}"/>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A1</a:t>
            </a:r>
            <a:endParaRPr sz="1800"/>
          </a:p>
        </p:txBody>
      </p:sp>
    </p:spTree>
    <p:extLst>
      <p:ext uri="{BB962C8B-B14F-4D97-AF65-F5344CB8AC3E}">
        <p14:creationId xmlns:p14="http://schemas.microsoft.com/office/powerpoint/2010/main" val="466268597"/>
      </p:ext>
    </p:extLst>
  </p:cSld>
</p:sld>
</file>

<file path=ppt/slides/slide22.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F6D94B-ACC0-4CB7-A00A-43DD52631044}"/>
              </a:ext>
            </a:extLst>
          </p:cNvPr>
          <p:cNvSpPr>
            <a:spLocks xmlns:a="http://schemas.openxmlformats.org/drawingml/2006/main" noGrp="1"/>
          </p:cNvSpPr>
          <p:nvPr/>
        </p:nvSpPr>
        <p:spPr>
          <a:xfrm xmlns:a="http://schemas.openxmlformats.org/drawingml/2006/main">
            <a:off x="990600" y="766763"/>
            <a:ext cx="1813508"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APPENDIX</a:t>
            </a:r>
            <a:endParaRPr sz="1950"/>
          </a:p>
        </p:txBody>
      </p:sp>
      <p:sp>
        <p:nvSpPr>
          <p:cNvPr id="3" name="Text 1">
            <a:extLst xmlns:a="http://schemas.openxmlformats.org/drawingml/2006/main">
              <a:ext uri="{FF2B5EF4-FFF2-40B4-BE49-F238E27FC236}">
                <a16:creationId xmlns:a16="http://schemas.microsoft.com/office/drawing/2014/main" id="{14F90219-FB4F-43E0-B928-F0F9BABF1A38}"/>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A2</a:t>
            </a:r>
            <a:endParaRPr sz="1950"/>
          </a:p>
        </p:txBody>
      </p:sp>
      <p:sp>
        <p:nvSpPr>
          <p:cNvPr id="4" name="Shape 2">
            <a:extLst xmlns:a="http://schemas.openxmlformats.org/drawingml/2006/main">
              <a:ext uri="{FF2B5EF4-FFF2-40B4-BE49-F238E27FC236}">
                <a16:creationId xmlns:a16="http://schemas.microsoft.com/office/drawing/2014/main" id="{CC9E702E-937D-41DF-952F-4625CA294B8D}"/>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AE7A587F-2ABB-4539-A3D2-AD3AB9AF54DA}"/>
              </a:ext>
            </a:extLst>
          </p:cNvPr>
          <p:cNvSpPr>
            <a:spLocks xmlns:a="http://schemas.openxmlformats.org/drawingml/2006/main" noGrp="1"/>
          </p:cNvSpPr>
          <p:nvPr/>
        </p:nvSpPr>
        <p:spPr>
          <a:xfrm xmlns:a="http://schemas.openxmlformats.org/drawingml/2006/main">
            <a:off x="990600" y="1500188"/>
            <a:ext cx="17937480" cy="67582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4979"/>
              </a:lnSpc>
              <a:buNone/>
            </a:pPr>
            <a:r>
              <a:rPr sz="4650" spc="-70">
                <a:solidFill>
                  <a:srgbClr val="202C35"/>
                </a:solidFill>
                <a:latin typeface="Georgia"/>
                <a:ea typeface="Georgia"/>
                <a:cs typeface="Georgia"/>
              </a:rPr>
              <a:t>Influence diagnostics for the full model</a:t>
            </a:r>
            <a:endParaRPr sz="4650"/>
          </a:p>
        </p:txBody>
      </p:sp>
      <p:sp>
        <p:nvSpPr>
          <p:cNvPr id="6" name="Text 4">
            <a:extLst xmlns:a="http://schemas.openxmlformats.org/drawingml/2006/main">
              <a:ext uri="{FF2B5EF4-FFF2-40B4-BE49-F238E27FC236}">
                <a16:creationId xmlns:a16="http://schemas.microsoft.com/office/drawing/2014/main" id="{7C74FA74-B52C-48BA-9659-92EBD6DF49B1}"/>
              </a:ext>
            </a:extLst>
          </p:cNvPr>
          <p:cNvSpPr>
            <a:spLocks xmlns:a="http://schemas.openxmlformats.org/drawingml/2006/main" noGrp="1"/>
          </p:cNvSpPr>
          <p:nvPr/>
        </p:nvSpPr>
        <p:spPr>
          <a:xfrm xmlns:a="http://schemas.openxmlformats.org/drawingml/2006/main">
            <a:off x="990600" y="2385566"/>
            <a:ext cx="11567160" cy="3714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025">
                <a:solidFill>
                  <a:srgbClr val="516674"/>
                </a:solidFill>
                <a:latin typeface="Arial"/>
                <a:ea typeface="Arial"/>
                <a:cs typeface="Arial"/>
              </a:rPr>
              <a:t>Bubble area is proportional to Cook's distance</a:t>
            </a:r>
            <a:endParaRPr sz="2025"/>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1a7e1b20f8a1491a">
            <a:extLst>
              <a:ext uri="{96DAC541-7B7A-43D3-8B79-37D633B846F1}">
                <asvg:svgBlip xmlns:asvg="http://schemas.microsoft.com/office/drawing/2016/SVG/main" r:embed="R4a925e526d694734"/>
              </a:ext>
            </a:extLst>
          </a:blip>
          <a:stretch xmlns:a="http://schemas.openxmlformats.org/drawingml/2006/main">
            <a:fillRect l="0" t="0" r="0" b="0"/>
          </a:stretch>
        </p:blipFill>
        <p:spPr>
          <a:xfrm xmlns:a="http://schemas.openxmlformats.org/drawingml/2006/main">
            <a:off x="990600" y="2814191"/>
            <a:ext cx="10515600" cy="6185595"/>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2E518BDA-781A-4F02-B34B-DAA90636E6CB}"/>
              </a:ext>
            </a:extLst>
          </p:cNvPr>
          <p:cNvSpPr>
            <a:spLocks xmlns:a="http://schemas.openxmlformats.org/drawingml/2006/main" noGrp="1"/>
          </p:cNvSpPr>
          <p:nvPr/>
        </p:nvSpPr>
        <p:spPr>
          <a:xfrm xmlns:a="http://schemas.openxmlformats.org/drawingml/2006/main">
            <a:off x="12039600" y="3123754"/>
            <a:ext cx="5257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9" name="Text 6">
            <a:extLst xmlns:a="http://schemas.openxmlformats.org/drawingml/2006/main">
              <a:ext uri="{FF2B5EF4-FFF2-40B4-BE49-F238E27FC236}">
                <a16:creationId xmlns:a16="http://schemas.microsoft.com/office/drawing/2014/main" id="{D267D3C4-21EA-4B64-BD14-DBADF4ABF298}"/>
              </a:ext>
            </a:extLst>
          </p:cNvPr>
          <p:cNvSpPr>
            <a:spLocks xmlns:a="http://schemas.openxmlformats.org/drawingml/2006/main" noGrp="1"/>
          </p:cNvSpPr>
          <p:nvPr/>
        </p:nvSpPr>
        <p:spPr>
          <a:xfrm xmlns:a="http://schemas.openxmlformats.org/drawingml/2006/main">
            <a:off x="12039600" y="2576066"/>
            <a:ext cx="2904232"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High leverage, &gt; 2p/n</a:t>
            </a:r>
            <a:endParaRPr sz="2175"/>
          </a:p>
        </p:txBody>
      </p:sp>
      <p:sp>
        <p:nvSpPr>
          <p:cNvPr id="10" name="Text 7">
            <a:extLst xmlns:a="http://schemas.openxmlformats.org/drawingml/2006/main">
              <a:ext uri="{FF2B5EF4-FFF2-40B4-BE49-F238E27FC236}">
                <a16:creationId xmlns:a16="http://schemas.microsoft.com/office/drawing/2014/main" id="{494F7DA2-57F6-4B46-B4EA-262EFDAFFA63}"/>
              </a:ext>
            </a:extLst>
          </p:cNvPr>
          <p:cNvSpPr>
            <a:spLocks xmlns:a="http://schemas.openxmlformats.org/drawingml/2006/main" noGrp="1"/>
          </p:cNvSpPr>
          <p:nvPr/>
        </p:nvSpPr>
        <p:spPr>
          <a:xfrm xmlns:a="http://schemas.openxmlformats.org/drawingml/2006/main">
            <a:off x="16965885" y="2576066"/>
            <a:ext cx="40771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11</a:t>
            </a:r>
            <a:endParaRPr sz="2175"/>
          </a:p>
        </p:txBody>
      </p:sp>
      <p:sp>
        <p:nvSpPr>
          <p:cNvPr id="11" name="Shape 8">
            <a:extLst xmlns:a="http://schemas.openxmlformats.org/drawingml/2006/main">
              <a:ext uri="{FF2B5EF4-FFF2-40B4-BE49-F238E27FC236}">
                <a16:creationId xmlns:a16="http://schemas.microsoft.com/office/drawing/2014/main" id="{01F02EA3-C415-41D6-ADB5-9997808E5414}"/>
              </a:ext>
            </a:extLst>
          </p:cNvPr>
          <p:cNvSpPr>
            <a:spLocks xmlns:a="http://schemas.openxmlformats.org/drawingml/2006/main" noGrp="1"/>
          </p:cNvSpPr>
          <p:nvPr/>
        </p:nvSpPr>
        <p:spPr>
          <a:xfrm xmlns:a="http://schemas.openxmlformats.org/drawingml/2006/main">
            <a:off x="12039600" y="3871466"/>
            <a:ext cx="5257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2" name="Text 9">
            <a:extLst xmlns:a="http://schemas.openxmlformats.org/drawingml/2006/main">
              <a:ext uri="{FF2B5EF4-FFF2-40B4-BE49-F238E27FC236}">
                <a16:creationId xmlns:a16="http://schemas.microsoft.com/office/drawing/2014/main" id="{687EBCAE-BDA2-4272-8684-BD4737A4048D}"/>
              </a:ext>
            </a:extLst>
          </p:cNvPr>
          <p:cNvSpPr>
            <a:spLocks xmlns:a="http://schemas.openxmlformats.org/drawingml/2006/main" noGrp="1"/>
          </p:cNvSpPr>
          <p:nvPr/>
        </p:nvSpPr>
        <p:spPr>
          <a:xfrm xmlns:a="http://schemas.openxmlformats.org/drawingml/2006/main">
            <a:off x="12039600" y="3323779"/>
            <a:ext cx="3643796"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|standardised residual| &gt; 2</a:t>
            </a:r>
            <a:endParaRPr sz="2175"/>
          </a:p>
        </p:txBody>
      </p:sp>
      <p:sp>
        <p:nvSpPr>
          <p:cNvPr id="13" name="Text 10">
            <a:extLst xmlns:a="http://schemas.openxmlformats.org/drawingml/2006/main">
              <a:ext uri="{FF2B5EF4-FFF2-40B4-BE49-F238E27FC236}">
                <a16:creationId xmlns:a16="http://schemas.microsoft.com/office/drawing/2014/main" id="{F0815DCA-4C29-43DC-94AB-A92D9DEC40D6}"/>
              </a:ext>
            </a:extLst>
          </p:cNvPr>
          <p:cNvSpPr>
            <a:spLocks xmlns:a="http://schemas.openxmlformats.org/drawingml/2006/main" noGrp="1"/>
          </p:cNvSpPr>
          <p:nvPr/>
        </p:nvSpPr>
        <p:spPr>
          <a:xfrm xmlns:a="http://schemas.openxmlformats.org/drawingml/2006/main">
            <a:off x="16965885" y="3323779"/>
            <a:ext cx="40771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14</a:t>
            </a:r>
            <a:endParaRPr sz="2175"/>
          </a:p>
        </p:txBody>
      </p:sp>
      <p:sp>
        <p:nvSpPr>
          <p:cNvPr id="14" name="Shape 11">
            <a:extLst xmlns:a="http://schemas.openxmlformats.org/drawingml/2006/main">
              <a:ext uri="{FF2B5EF4-FFF2-40B4-BE49-F238E27FC236}">
                <a16:creationId xmlns:a16="http://schemas.microsoft.com/office/drawing/2014/main" id="{3C90F00F-8057-4BB7-A647-7F911669CF17}"/>
              </a:ext>
            </a:extLst>
          </p:cNvPr>
          <p:cNvSpPr>
            <a:spLocks xmlns:a="http://schemas.openxmlformats.org/drawingml/2006/main" noGrp="1"/>
          </p:cNvSpPr>
          <p:nvPr/>
        </p:nvSpPr>
        <p:spPr>
          <a:xfrm xmlns:a="http://schemas.openxmlformats.org/drawingml/2006/main">
            <a:off x="12039600" y="4619179"/>
            <a:ext cx="5257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D564DFE1-2B4B-4EF1-A636-2667D01CD6A4}"/>
              </a:ext>
            </a:extLst>
          </p:cNvPr>
          <p:cNvSpPr>
            <a:spLocks xmlns:a="http://schemas.openxmlformats.org/drawingml/2006/main" noGrp="1"/>
          </p:cNvSpPr>
          <p:nvPr/>
        </p:nvSpPr>
        <p:spPr>
          <a:xfrm xmlns:a="http://schemas.openxmlformats.org/drawingml/2006/main">
            <a:off x="12039600" y="4071491"/>
            <a:ext cx="2688788"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Cook's D &gt; 4/(n − p)</a:t>
            </a:r>
            <a:endParaRPr sz="2175"/>
          </a:p>
        </p:txBody>
      </p:sp>
      <p:sp>
        <p:nvSpPr>
          <p:cNvPr id="16" name="Text 13">
            <a:extLst xmlns:a="http://schemas.openxmlformats.org/drawingml/2006/main">
              <a:ext uri="{FF2B5EF4-FFF2-40B4-BE49-F238E27FC236}">
                <a16:creationId xmlns:a16="http://schemas.microsoft.com/office/drawing/2014/main" id="{6EA7EA04-0C1A-413B-93E6-9B142AD68F14}"/>
              </a:ext>
            </a:extLst>
          </p:cNvPr>
          <p:cNvSpPr>
            <a:spLocks xmlns:a="http://schemas.openxmlformats.org/drawingml/2006/main" noGrp="1"/>
          </p:cNvSpPr>
          <p:nvPr/>
        </p:nvSpPr>
        <p:spPr>
          <a:xfrm xmlns:a="http://schemas.openxmlformats.org/drawingml/2006/main">
            <a:off x="16965885" y="4071491"/>
            <a:ext cx="40771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18</a:t>
            </a:r>
            <a:endParaRPr sz="2175"/>
          </a:p>
        </p:txBody>
      </p:sp>
      <p:sp>
        <p:nvSpPr>
          <p:cNvPr id="17" name="Shape 14">
            <a:extLst xmlns:a="http://schemas.openxmlformats.org/drawingml/2006/main">
              <a:ext uri="{FF2B5EF4-FFF2-40B4-BE49-F238E27FC236}">
                <a16:creationId xmlns:a16="http://schemas.microsoft.com/office/drawing/2014/main" id="{3C2FAE82-7B31-485A-82FB-529385AAA49E}"/>
              </a:ext>
            </a:extLst>
          </p:cNvPr>
          <p:cNvSpPr>
            <a:spLocks xmlns:a="http://schemas.openxmlformats.org/drawingml/2006/main" noGrp="1"/>
          </p:cNvSpPr>
          <p:nvPr/>
        </p:nvSpPr>
        <p:spPr>
          <a:xfrm xmlns:a="http://schemas.openxmlformats.org/drawingml/2006/main">
            <a:off x="12039600" y="5366891"/>
            <a:ext cx="5257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DB99A4DB-A630-40F7-BAFA-DE11ED471F01}"/>
              </a:ext>
            </a:extLst>
          </p:cNvPr>
          <p:cNvSpPr>
            <a:spLocks xmlns:a="http://schemas.openxmlformats.org/drawingml/2006/main" noGrp="1"/>
          </p:cNvSpPr>
          <p:nvPr/>
        </p:nvSpPr>
        <p:spPr>
          <a:xfrm xmlns:a="http://schemas.openxmlformats.org/drawingml/2006/main">
            <a:off x="12039600" y="4819204"/>
            <a:ext cx="3245733"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Flagged by any criterion</a:t>
            </a:r>
            <a:endParaRPr sz="2175"/>
          </a:p>
        </p:txBody>
      </p:sp>
      <p:sp>
        <p:nvSpPr>
          <p:cNvPr id="19" name="Text 16">
            <a:extLst xmlns:a="http://schemas.openxmlformats.org/drawingml/2006/main">
              <a:ext uri="{FF2B5EF4-FFF2-40B4-BE49-F238E27FC236}">
                <a16:creationId xmlns:a16="http://schemas.microsoft.com/office/drawing/2014/main" id="{4E8AA72C-22DA-4F29-AF62-A286DD18FB0C}"/>
              </a:ext>
            </a:extLst>
          </p:cNvPr>
          <p:cNvSpPr>
            <a:spLocks xmlns:a="http://schemas.openxmlformats.org/drawingml/2006/main" noGrp="1"/>
          </p:cNvSpPr>
          <p:nvPr/>
        </p:nvSpPr>
        <p:spPr>
          <a:xfrm xmlns:a="http://schemas.openxmlformats.org/drawingml/2006/main">
            <a:off x="16965885" y="4819204"/>
            <a:ext cx="40771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29</a:t>
            </a:r>
            <a:endParaRPr sz="2175"/>
          </a:p>
        </p:txBody>
      </p:sp>
      <p:sp>
        <p:nvSpPr>
          <p:cNvPr id="20" name="Shape 17">
            <a:extLst xmlns:a="http://schemas.openxmlformats.org/drawingml/2006/main">
              <a:ext uri="{FF2B5EF4-FFF2-40B4-BE49-F238E27FC236}">
                <a16:creationId xmlns:a16="http://schemas.microsoft.com/office/drawing/2014/main" id="{78B9A94F-2814-4735-BE7A-B50BA342051D}"/>
              </a:ext>
            </a:extLst>
          </p:cNvPr>
          <p:cNvSpPr>
            <a:spLocks xmlns:a="http://schemas.openxmlformats.org/drawingml/2006/main" noGrp="1"/>
          </p:cNvSpPr>
          <p:nvPr/>
        </p:nvSpPr>
        <p:spPr>
          <a:xfrm xmlns:a="http://schemas.openxmlformats.org/drawingml/2006/main">
            <a:off x="12039600" y="6114604"/>
            <a:ext cx="52578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1" name="Text 18">
            <a:extLst xmlns:a="http://schemas.openxmlformats.org/drawingml/2006/main">
              <a:ext uri="{FF2B5EF4-FFF2-40B4-BE49-F238E27FC236}">
                <a16:creationId xmlns:a16="http://schemas.microsoft.com/office/drawing/2014/main" id="{36C27D52-8C28-4C45-9749-455DBE2EBE66}"/>
              </a:ext>
            </a:extLst>
          </p:cNvPr>
          <p:cNvSpPr>
            <a:spLocks xmlns:a="http://schemas.openxmlformats.org/drawingml/2006/main" noGrp="1"/>
          </p:cNvSpPr>
          <p:nvPr/>
        </p:nvSpPr>
        <p:spPr>
          <a:xfrm xmlns:a="http://schemas.openxmlformats.org/drawingml/2006/main">
            <a:off x="12039600" y="5566916"/>
            <a:ext cx="2254627"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Largest Cook's D</a:t>
            </a:r>
            <a:endParaRPr sz="2175"/>
          </a:p>
        </p:txBody>
      </p:sp>
      <p:sp>
        <p:nvSpPr>
          <p:cNvPr id="22" name="Text 19">
            <a:extLst xmlns:a="http://schemas.openxmlformats.org/drawingml/2006/main">
              <a:ext uri="{FF2B5EF4-FFF2-40B4-BE49-F238E27FC236}">
                <a16:creationId xmlns:a16="http://schemas.microsoft.com/office/drawing/2014/main" id="{44A11B2D-42E7-4651-808C-FC47CDDCCAEC}"/>
              </a:ext>
            </a:extLst>
          </p:cNvPr>
          <p:cNvSpPr>
            <a:spLocks xmlns:a="http://schemas.openxmlformats.org/drawingml/2006/main" noGrp="1"/>
          </p:cNvSpPr>
          <p:nvPr/>
        </p:nvSpPr>
        <p:spPr>
          <a:xfrm xmlns:a="http://schemas.openxmlformats.org/drawingml/2006/main">
            <a:off x="16468725" y="5566916"/>
            <a:ext cx="90487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0.037</a:t>
            </a:r>
            <a:endParaRPr sz="2175"/>
          </a:p>
        </p:txBody>
      </p:sp>
      <p:sp>
        <p:nvSpPr>
          <p:cNvPr id="23" name="Text 20">
            <a:extLst xmlns:a="http://schemas.openxmlformats.org/drawingml/2006/main">
              <a:ext uri="{FF2B5EF4-FFF2-40B4-BE49-F238E27FC236}">
                <a16:creationId xmlns:a16="http://schemas.microsoft.com/office/drawing/2014/main" id="{2E967ACC-156E-460C-ACF7-3E44523395A3}"/>
              </a:ext>
            </a:extLst>
          </p:cNvPr>
          <p:cNvSpPr>
            <a:spLocks xmlns:a="http://schemas.openxmlformats.org/drawingml/2006/main" noGrp="1"/>
          </p:cNvSpPr>
          <p:nvPr/>
        </p:nvSpPr>
        <p:spPr>
          <a:xfrm xmlns:a="http://schemas.openxmlformats.org/drawingml/2006/main">
            <a:off x="12039600" y="6333679"/>
            <a:ext cx="5415534" cy="25241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lnSpc>
                <a:spcPct val="129851"/>
              </a:lnSpc>
              <a:buNone/>
            </a:pPr>
            <a:r>
              <a:rPr sz="2175">
                <a:solidFill>
                  <a:srgbClr val="516674"/>
                </a:solidFill>
                <a:latin typeface="Arial"/>
                <a:ea typeface="Arial"/>
                <a:cs typeface="Arial"/>
              </a:rPr>
              <a:t>The 4/(n − p) rule is deliberately sensitive; with 324 observations the cut-off sits at 0.013. Judged on the conventional threshold of 1, no observation is influential, so we refit nothing and delete nothing.</a:t>
            </a:r>
            <a:endParaRPr sz="2175"/>
          </a:p>
        </p:txBody>
      </p:sp>
      <p:sp>
        <p:nvSpPr>
          <p:cNvPr id="24" name="Text 21">
            <a:extLst xmlns:a="http://schemas.openxmlformats.org/drawingml/2006/main">
              <a:ext uri="{FF2B5EF4-FFF2-40B4-BE49-F238E27FC236}">
                <a16:creationId xmlns:a16="http://schemas.microsoft.com/office/drawing/2014/main" id="{4E781885-8E0E-4C93-873F-173E8C785BC3}"/>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25" name="Text 22">
            <a:extLst xmlns:a="http://schemas.openxmlformats.org/drawingml/2006/main">
              <a:ext uri="{FF2B5EF4-FFF2-40B4-BE49-F238E27FC236}">
                <a16:creationId xmlns:a16="http://schemas.microsoft.com/office/drawing/2014/main" id="{A199F0EE-2FC3-4136-90E2-83ECE9639C7D}"/>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A2</a:t>
            </a:r>
            <a:endParaRPr sz="1800"/>
          </a:p>
        </p:txBody>
      </p:sp>
    </p:spTree>
    <p:extLst>
      <p:ext uri="{BB962C8B-B14F-4D97-AF65-F5344CB8AC3E}">
        <p14:creationId xmlns:p14="http://schemas.microsoft.com/office/powerpoint/2010/main" val="644693452"/>
      </p:ext>
    </p:extLst>
  </p:cSld>
</p:sld>
</file>

<file path=ppt/slides/slide23.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1DECDE8-93D1-4820-8C10-A6007E43E61D}"/>
              </a:ext>
            </a:extLst>
          </p:cNvPr>
          <p:cNvSpPr>
            <a:spLocks xmlns:a="http://schemas.openxmlformats.org/drawingml/2006/main" noGrp="1"/>
          </p:cNvSpPr>
          <p:nvPr/>
        </p:nvSpPr>
        <p:spPr>
          <a:xfrm xmlns:a="http://schemas.openxmlformats.org/drawingml/2006/main">
            <a:off x="990600" y="766763"/>
            <a:ext cx="1813508"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APPENDIX</a:t>
            </a:r>
            <a:endParaRPr sz="1950"/>
          </a:p>
        </p:txBody>
      </p:sp>
      <p:sp>
        <p:nvSpPr>
          <p:cNvPr id="3" name="Text 1">
            <a:extLst xmlns:a="http://schemas.openxmlformats.org/drawingml/2006/main">
              <a:ext uri="{FF2B5EF4-FFF2-40B4-BE49-F238E27FC236}">
                <a16:creationId xmlns:a16="http://schemas.microsoft.com/office/drawing/2014/main" id="{01517904-C0FA-4CAA-862E-409C45607BC1}"/>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A3</a:t>
            </a:r>
            <a:endParaRPr sz="1950"/>
          </a:p>
        </p:txBody>
      </p:sp>
      <p:sp>
        <p:nvSpPr>
          <p:cNvPr id="4" name="Shape 2">
            <a:extLst xmlns:a="http://schemas.openxmlformats.org/drawingml/2006/main">
              <a:ext uri="{FF2B5EF4-FFF2-40B4-BE49-F238E27FC236}">
                <a16:creationId xmlns:a16="http://schemas.microsoft.com/office/drawing/2014/main" id="{5725E7AC-06E1-4778-8B0F-CA8C5B4095AB}"/>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7155BB98-15C4-4B79-8F7B-B0589C79869F}"/>
              </a:ext>
            </a:extLst>
          </p:cNvPr>
          <p:cNvSpPr>
            <a:spLocks xmlns:a="http://schemas.openxmlformats.org/drawingml/2006/main" noGrp="1"/>
          </p:cNvSpPr>
          <p:nvPr/>
        </p:nvSpPr>
        <p:spPr>
          <a:xfrm xmlns:a="http://schemas.openxmlformats.org/drawingml/2006/main">
            <a:off x="990600" y="1500188"/>
            <a:ext cx="15304770" cy="1313557"/>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lnSpcReduction="10000"/>
          </a:bodyPr>
          <a:lstStyle xmlns:a="http://schemas.openxmlformats.org/drawingml/2006/main"/>
          <a:p xmlns:a="http://schemas.openxmlformats.org/drawingml/2006/main">
            <a:pPr marL="0" indent="0" algn="l">
              <a:lnSpc>
                <a:spcPct val="94979"/>
              </a:lnSpc>
              <a:buNone/>
            </a:pPr>
            <a:r>
              <a:rPr sz="4650" spc="-70">
                <a:solidFill>
                  <a:srgbClr val="202C35"/>
                </a:solidFill>
                <a:latin typeface="Georgia"/>
                <a:ea typeface="Georgia"/>
                <a:cs typeface="Georgia"/>
              </a:rPr>
              <a:t>Species and sex drive the main reduction in prediction error</a:t>
            </a:r>
            <a:endParaRPr sz="4650"/>
          </a:p>
        </p:txBody>
      </p:sp>
      <p:sp>
        <p:nvSpPr>
          <p:cNvPr id="6" name="Text 4">
            <a:extLst xmlns:a="http://schemas.openxmlformats.org/drawingml/2006/main">
              <a:ext uri="{FF2B5EF4-FFF2-40B4-BE49-F238E27FC236}">
                <a16:creationId xmlns:a16="http://schemas.microsoft.com/office/drawing/2014/main" id="{FCCB922C-BE89-47AF-A909-62B01FBB3705}"/>
              </a:ext>
            </a:extLst>
          </p:cNvPr>
          <p:cNvSpPr>
            <a:spLocks xmlns:a="http://schemas.openxmlformats.org/drawingml/2006/main" noGrp="1"/>
          </p:cNvSpPr>
          <p:nvPr/>
        </p:nvSpPr>
        <p:spPr>
          <a:xfrm xmlns:a="http://schemas.openxmlformats.org/drawingml/2006/main">
            <a:off x="990600" y="2908995"/>
            <a:ext cx="15716250" cy="423863"/>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325">
                <a:solidFill>
                  <a:srgbClr val="516674"/>
                </a:solidFill>
                <a:latin typeface="Arial"/>
                <a:ea typeface="Arial"/>
                <a:cs typeface="Arial"/>
              </a:rPr>
              <a:t>Ten-fold cross-validated root mean squared error for progressively larger models.</a:t>
            </a:r>
            <a:endParaRPr sz="2325"/>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68a987da21264a62"/>
          <a:stretch xmlns:a="http://schemas.openxmlformats.org/drawingml/2006/main">
            <a:fillRect l="0" t="0" r="0" b="0"/>
          </a:stretch>
        </p:blipFill>
        <p:spPr>
          <a:xfrm xmlns:a="http://schemas.openxmlformats.org/drawingml/2006/main" flipH="0" flipV="0">
            <a:off x="990600" y="3580507"/>
            <a:ext cx="16306800" cy="4091880"/>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5313119E-9FF7-4B89-BB0F-4CF42492502E}"/>
              </a:ext>
            </a:extLst>
          </p:cNvPr>
          <p:cNvSpPr>
            <a:spLocks xmlns:a="http://schemas.openxmlformats.org/drawingml/2006/main" noGrp="1"/>
          </p:cNvSpPr>
          <p:nvPr/>
        </p:nvSpPr>
        <p:spPr>
          <a:xfrm xmlns:a="http://schemas.openxmlformats.org/drawingml/2006/main">
            <a:off x="990600" y="7862888"/>
            <a:ext cx="15304770" cy="13668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lnSpcReduction="10000"/>
          </a:bodyPr>
          <a:lstStyle xmlns:a="http://schemas.openxmlformats.org/drawingml/2006/main"/>
          <a:p xmlns:a="http://schemas.openxmlformats.org/drawingml/2006/main">
            <a:pPr marL="0" indent="0" algn="l">
              <a:lnSpc>
                <a:spcPct val="130986"/>
              </a:lnSpc>
              <a:buNone/>
            </a:pPr>
            <a:r>
              <a:rPr sz="2325">
                <a:solidFill>
                  <a:srgbClr val="202C35"/>
                </a:solidFill>
                <a:latin typeface="Arial"/>
                <a:ea typeface="Arial"/>
                <a:cs typeface="Arial"/>
              </a:rPr>
              <a:t>Adding the two bill measurements to a flipper-only model does not reduce cross-validated error. In this sequence, species lowers RMSE from 391 to 315 g, and sex lowers it further to 288 g. This complements the BIC comparison, but answers a different out-of-sample question.</a:t>
            </a:r>
            <a:endParaRPr sz="2325"/>
          </a:p>
        </p:txBody>
      </p:sp>
      <p:sp>
        <p:nvSpPr>
          <p:cNvPr id="9" name="Text 6">
            <a:extLst xmlns:a="http://schemas.openxmlformats.org/drawingml/2006/main">
              <a:ext uri="{FF2B5EF4-FFF2-40B4-BE49-F238E27FC236}">
                <a16:creationId xmlns:a16="http://schemas.microsoft.com/office/drawing/2014/main" id="{D5D954BE-7459-492A-9F26-B51903DE731F}"/>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10" name="Text 7">
            <a:extLst xmlns:a="http://schemas.openxmlformats.org/drawingml/2006/main">
              <a:ext uri="{FF2B5EF4-FFF2-40B4-BE49-F238E27FC236}">
                <a16:creationId xmlns:a16="http://schemas.microsoft.com/office/drawing/2014/main" id="{A78CA62D-A169-4A80-AA24-5C2822CC4769}"/>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A3</a:t>
            </a:r>
            <a:endParaRPr sz="1800"/>
          </a:p>
        </p:txBody>
      </p:sp>
    </p:spTree>
    <p:extLst>
      <p:ext uri="{BB962C8B-B14F-4D97-AF65-F5344CB8AC3E}">
        <p14:creationId xmlns:p14="http://schemas.microsoft.com/office/powerpoint/2010/main" val="411317578"/>
      </p:ext>
    </p:extLst>
  </p:cSld>
</p:sld>
</file>

<file path=ppt/slides/slide24.xml><?xml version="1.0" encoding="utf-8"?>
<p:sld xmlns:p="http://schemas.openxmlformats.org/presentationml/2006/main">
  <p:cSld>
    <p:bg>
      <p:bgPr>
        <a:solidFill xmlns:a="http://schemas.openxmlformats.org/drawingml/2006/main">
          <a:srgbClr val="F8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F5B537-1AED-4EB1-9FA2-50EB8E891D6D}"/>
              </a:ext>
            </a:extLst>
          </p:cNvPr>
          <p:cNvSpPr>
            <a:spLocks xmlns:a="http://schemas.openxmlformats.org/drawingml/2006/main" noGrp="1"/>
          </p:cNvSpPr>
          <p:nvPr/>
        </p:nvSpPr>
        <p:spPr>
          <a:xfrm xmlns:a="http://schemas.openxmlformats.org/drawingml/2006/main">
            <a:off x="990600" y="766763"/>
            <a:ext cx="1813508" cy="3238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950" b="1" spc="390">
                <a:solidFill>
                  <a:srgbClr val="516674"/>
                </a:solidFill>
                <a:latin typeface="Arial"/>
                <a:ea typeface="Arial"/>
                <a:cs typeface="Arial"/>
              </a:rPr>
              <a:t>APPENDIX</a:t>
            </a:r>
            <a:endParaRPr sz="1950"/>
          </a:p>
        </p:txBody>
      </p:sp>
      <p:sp>
        <p:nvSpPr>
          <p:cNvPr id="3" name="Text 1">
            <a:extLst xmlns:a="http://schemas.openxmlformats.org/drawingml/2006/main">
              <a:ext uri="{FF2B5EF4-FFF2-40B4-BE49-F238E27FC236}">
                <a16:creationId xmlns:a16="http://schemas.microsoft.com/office/drawing/2014/main" id="{DF6F2520-54C9-4973-ACBF-9C87FC9AD210}"/>
              </a:ext>
            </a:extLst>
          </p:cNvPr>
          <p:cNvSpPr>
            <a:spLocks xmlns:a="http://schemas.openxmlformats.org/drawingml/2006/main" noGrp="1"/>
          </p:cNvSpPr>
          <p:nvPr/>
        </p:nvSpPr>
        <p:spPr>
          <a:xfrm xmlns:a="http://schemas.openxmlformats.org/drawingml/2006/main">
            <a:off x="17000190" y="742950"/>
            <a:ext cx="373410" cy="3571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950">
                <a:solidFill>
                  <a:srgbClr val="C86C5A"/>
                </a:solidFill>
                <a:latin typeface="Courier New"/>
                <a:ea typeface="Courier New"/>
                <a:cs typeface="Courier New"/>
              </a:rPr>
              <a:t>A4</a:t>
            </a:r>
            <a:endParaRPr sz="1950"/>
          </a:p>
        </p:txBody>
      </p:sp>
      <p:sp>
        <p:nvSpPr>
          <p:cNvPr id="4" name="Shape 2">
            <a:extLst xmlns:a="http://schemas.openxmlformats.org/drawingml/2006/main">
              <a:ext uri="{FF2B5EF4-FFF2-40B4-BE49-F238E27FC236}">
                <a16:creationId xmlns:a16="http://schemas.microsoft.com/office/drawing/2014/main" id="{038EF1A5-CC2A-4BBA-AE86-C1143CCEE9CF}"/>
              </a:ext>
            </a:extLst>
          </p:cNvPr>
          <p:cNvSpPr>
            <a:spLocks xmlns:a="http://schemas.openxmlformats.org/drawingml/2006/main" noGrp="1"/>
          </p:cNvSpPr>
          <p:nvPr/>
        </p:nvSpPr>
        <p:spPr>
          <a:xfrm xmlns:a="http://schemas.openxmlformats.org/drawingml/2006/main">
            <a:off x="990600" y="1214438"/>
            <a:ext cx="16306800" cy="19050"/>
          </a:xfrm>
          <a:prstGeom xmlns:a="http://schemas.openxmlformats.org/drawingml/2006/main" prst="rect">
            <a:avLst/>
          </a:prstGeom>
          <a:solidFill xmlns:a="http://schemas.openxmlformats.org/drawingml/2006/main">
            <a:srgbClr val="E3B9AF"/>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9425AD65-B69F-4D55-BA58-7DC4D875D05C}"/>
              </a:ext>
            </a:extLst>
          </p:cNvPr>
          <p:cNvSpPr>
            <a:spLocks xmlns:a="http://schemas.openxmlformats.org/drawingml/2006/main" noGrp="1"/>
          </p:cNvSpPr>
          <p:nvPr/>
        </p:nvSpPr>
        <p:spPr>
          <a:xfrm xmlns:a="http://schemas.openxmlformats.org/drawingml/2006/main">
            <a:off x="990600" y="1500188"/>
            <a:ext cx="17937480" cy="675829"/>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94979"/>
              </a:lnSpc>
              <a:buNone/>
            </a:pPr>
            <a:r>
              <a:rPr sz="4650" spc="-70">
                <a:solidFill>
                  <a:srgbClr val="202C35"/>
                </a:solidFill>
                <a:latin typeface="Georgia"/>
                <a:ea typeface="Georgia"/>
                <a:cs typeface="Georgia"/>
              </a:rPr>
              <a:t>Classifier: fit, comparison and goodness of fit</a:t>
            </a:r>
            <a:endParaRPr sz="4650"/>
          </a:p>
        </p:txBody>
      </p:sp>
      <p:sp>
        <p:nvSpPr>
          <p:cNvPr id="6" name="Text 4">
            <a:extLst xmlns:a="http://schemas.openxmlformats.org/drawingml/2006/main">
              <a:ext uri="{FF2B5EF4-FFF2-40B4-BE49-F238E27FC236}">
                <a16:creationId xmlns:a16="http://schemas.microsoft.com/office/drawing/2014/main" id="{9FF7638C-68C8-4B4E-AC39-009B0BA66DE3}"/>
              </a:ext>
            </a:extLst>
          </p:cNvPr>
          <p:cNvSpPr>
            <a:spLocks xmlns:a="http://schemas.openxmlformats.org/drawingml/2006/main" noGrp="1"/>
          </p:cNvSpPr>
          <p:nvPr/>
        </p:nvSpPr>
        <p:spPr>
          <a:xfrm xmlns:a="http://schemas.openxmlformats.org/drawingml/2006/main">
            <a:off x="990600" y="2480816"/>
            <a:ext cx="8084058"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C86C5A"/>
                </a:solidFill>
                <a:latin typeface="Arial"/>
                <a:ea typeface="Arial"/>
                <a:cs typeface="Arial"/>
              </a:rPr>
              <a:t>DEVIANCE, N = 206</a:t>
            </a:r>
            <a:endParaRPr sz="1800"/>
          </a:p>
        </p:txBody>
      </p:sp>
      <p:sp>
        <p:nvSpPr>
          <p:cNvPr id="7" name="Shape 5">
            <a:extLst xmlns:a="http://schemas.openxmlformats.org/drawingml/2006/main">
              <a:ext uri="{FF2B5EF4-FFF2-40B4-BE49-F238E27FC236}">
                <a16:creationId xmlns:a16="http://schemas.microsoft.com/office/drawing/2014/main" id="{E6B0419D-4A0B-4D24-8B2C-98E00D9A8DD5}"/>
              </a:ext>
            </a:extLst>
          </p:cNvPr>
          <p:cNvSpPr>
            <a:spLocks xmlns:a="http://schemas.openxmlformats.org/drawingml/2006/main" noGrp="1"/>
          </p:cNvSpPr>
          <p:nvPr/>
        </p:nvSpPr>
        <p:spPr>
          <a:xfrm xmlns:a="http://schemas.openxmlformats.org/drawingml/2006/main">
            <a:off x="990600" y="3576191"/>
            <a:ext cx="78486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0C6EDD3-CE03-4430-B869-546ED81D236A}"/>
              </a:ext>
            </a:extLst>
          </p:cNvPr>
          <p:cNvSpPr>
            <a:spLocks xmlns:a="http://schemas.openxmlformats.org/drawingml/2006/main" noGrp="1"/>
          </p:cNvSpPr>
          <p:nvPr/>
        </p:nvSpPr>
        <p:spPr>
          <a:xfrm xmlns:a="http://schemas.openxmlformats.org/drawingml/2006/main">
            <a:off x="990600" y="3047554"/>
            <a:ext cx="2883277"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Null deviance, 205 df</a:t>
            </a:r>
            <a:endParaRPr sz="2175"/>
          </a:p>
        </p:txBody>
      </p:sp>
      <p:sp>
        <p:nvSpPr>
          <p:cNvPr id="9" name="Text 7">
            <a:extLst xmlns:a="http://schemas.openxmlformats.org/drawingml/2006/main">
              <a:ext uri="{FF2B5EF4-FFF2-40B4-BE49-F238E27FC236}">
                <a16:creationId xmlns:a16="http://schemas.microsoft.com/office/drawing/2014/main" id="{B216099F-4E49-43CD-9687-C98A8A12EF16}"/>
              </a:ext>
            </a:extLst>
          </p:cNvPr>
          <p:cNvSpPr>
            <a:spLocks xmlns:a="http://schemas.openxmlformats.org/drawingml/2006/main" noGrp="1"/>
          </p:cNvSpPr>
          <p:nvPr/>
        </p:nvSpPr>
        <p:spPr>
          <a:xfrm xmlns:a="http://schemas.openxmlformats.org/drawingml/2006/main">
            <a:off x="8010525" y="3047554"/>
            <a:ext cx="90487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259.9</a:t>
            </a:r>
            <a:endParaRPr sz="2175"/>
          </a:p>
        </p:txBody>
      </p:sp>
      <p:sp>
        <p:nvSpPr>
          <p:cNvPr id="10" name="Shape 8">
            <a:extLst xmlns:a="http://schemas.openxmlformats.org/drawingml/2006/main">
              <a:ext uri="{FF2B5EF4-FFF2-40B4-BE49-F238E27FC236}">
                <a16:creationId xmlns:a16="http://schemas.microsoft.com/office/drawing/2014/main" id="{72323054-7411-4B16-A269-118EC2ABC2BD}"/>
              </a:ext>
            </a:extLst>
          </p:cNvPr>
          <p:cNvSpPr>
            <a:spLocks xmlns:a="http://schemas.openxmlformats.org/drawingml/2006/main" noGrp="1"/>
          </p:cNvSpPr>
          <p:nvPr/>
        </p:nvSpPr>
        <p:spPr>
          <a:xfrm xmlns:a="http://schemas.openxmlformats.org/drawingml/2006/main">
            <a:off x="990600" y="4285804"/>
            <a:ext cx="78486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98E94107-E6F8-411A-BAF7-9F204C233FAE}"/>
              </a:ext>
            </a:extLst>
          </p:cNvPr>
          <p:cNvSpPr>
            <a:spLocks xmlns:a="http://schemas.openxmlformats.org/drawingml/2006/main" noGrp="1"/>
          </p:cNvSpPr>
          <p:nvPr/>
        </p:nvSpPr>
        <p:spPr>
          <a:xfrm xmlns:a="http://schemas.openxmlformats.org/drawingml/2006/main">
            <a:off x="990600" y="3757166"/>
            <a:ext cx="3048216"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Bill length only, 204 df</a:t>
            </a:r>
            <a:endParaRPr sz="2175"/>
          </a:p>
        </p:txBody>
      </p:sp>
      <p:sp>
        <p:nvSpPr>
          <p:cNvPr id="12" name="Text 10">
            <a:extLst xmlns:a="http://schemas.openxmlformats.org/drawingml/2006/main">
              <a:ext uri="{FF2B5EF4-FFF2-40B4-BE49-F238E27FC236}">
                <a16:creationId xmlns:a16="http://schemas.microsoft.com/office/drawing/2014/main" id="{8BA88F5F-40A6-4963-BCCF-675EE0EFEE22}"/>
              </a:ext>
            </a:extLst>
          </p:cNvPr>
          <p:cNvSpPr>
            <a:spLocks xmlns:a="http://schemas.openxmlformats.org/drawingml/2006/main" noGrp="1"/>
          </p:cNvSpPr>
          <p:nvPr/>
        </p:nvSpPr>
        <p:spPr>
          <a:xfrm xmlns:a="http://schemas.openxmlformats.org/drawingml/2006/main">
            <a:off x="8176245" y="3757166"/>
            <a:ext cx="73915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50.0</a:t>
            </a:r>
            <a:endParaRPr sz="2175"/>
          </a:p>
        </p:txBody>
      </p:sp>
      <p:sp>
        <p:nvSpPr>
          <p:cNvPr id="13" name="Shape 11">
            <a:extLst xmlns:a="http://schemas.openxmlformats.org/drawingml/2006/main">
              <a:ext uri="{FF2B5EF4-FFF2-40B4-BE49-F238E27FC236}">
                <a16:creationId xmlns:a16="http://schemas.microsoft.com/office/drawing/2014/main" id="{544E5100-CCC8-4994-A9C9-4D3E7B15DC8A}"/>
              </a:ext>
            </a:extLst>
          </p:cNvPr>
          <p:cNvSpPr>
            <a:spLocks xmlns:a="http://schemas.openxmlformats.org/drawingml/2006/main" noGrp="1"/>
          </p:cNvSpPr>
          <p:nvPr/>
        </p:nvSpPr>
        <p:spPr>
          <a:xfrm xmlns:a="http://schemas.openxmlformats.org/drawingml/2006/main">
            <a:off x="990600" y="4995416"/>
            <a:ext cx="78486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DCE1840-F4D4-4598-9341-DE1F2592A61A}"/>
              </a:ext>
            </a:extLst>
          </p:cNvPr>
          <p:cNvSpPr>
            <a:spLocks xmlns:a="http://schemas.openxmlformats.org/drawingml/2006/main" noGrp="1"/>
          </p:cNvSpPr>
          <p:nvPr/>
        </p:nvSpPr>
        <p:spPr>
          <a:xfrm xmlns:a="http://schemas.openxmlformats.org/drawingml/2006/main">
            <a:off x="990600" y="4466779"/>
            <a:ext cx="2675119"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Bill + flipper, 203 df</a:t>
            </a:r>
            <a:endParaRPr sz="2175"/>
          </a:p>
        </p:txBody>
      </p:sp>
      <p:sp>
        <p:nvSpPr>
          <p:cNvPr id="15" name="Text 13">
            <a:extLst xmlns:a="http://schemas.openxmlformats.org/drawingml/2006/main">
              <a:ext uri="{FF2B5EF4-FFF2-40B4-BE49-F238E27FC236}">
                <a16:creationId xmlns:a16="http://schemas.microsoft.com/office/drawing/2014/main" id="{EE4D5AA1-0338-40B6-ACF0-181B74627F4B}"/>
              </a:ext>
            </a:extLst>
          </p:cNvPr>
          <p:cNvSpPr>
            <a:spLocks xmlns:a="http://schemas.openxmlformats.org/drawingml/2006/main" noGrp="1"/>
          </p:cNvSpPr>
          <p:nvPr/>
        </p:nvSpPr>
        <p:spPr>
          <a:xfrm xmlns:a="http://schemas.openxmlformats.org/drawingml/2006/main">
            <a:off x="8176245" y="4466779"/>
            <a:ext cx="73915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42.9</a:t>
            </a:r>
            <a:endParaRPr sz="2175"/>
          </a:p>
        </p:txBody>
      </p:sp>
      <p:sp>
        <p:nvSpPr>
          <p:cNvPr id="16" name="Shape 14">
            <a:extLst xmlns:a="http://schemas.openxmlformats.org/drawingml/2006/main">
              <a:ext uri="{FF2B5EF4-FFF2-40B4-BE49-F238E27FC236}">
                <a16:creationId xmlns:a16="http://schemas.microsoft.com/office/drawing/2014/main" id="{D5602228-27EC-4C31-A6BA-B00B2E2B7E7B}"/>
              </a:ext>
            </a:extLst>
          </p:cNvPr>
          <p:cNvSpPr>
            <a:spLocks xmlns:a="http://schemas.openxmlformats.org/drawingml/2006/main" noGrp="1"/>
          </p:cNvSpPr>
          <p:nvPr/>
        </p:nvSpPr>
        <p:spPr>
          <a:xfrm xmlns:a="http://schemas.openxmlformats.org/drawingml/2006/main">
            <a:off x="990600" y="5705029"/>
            <a:ext cx="78486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17683E2-6413-46F1-B03C-4C4FECD3923C}"/>
              </a:ext>
            </a:extLst>
          </p:cNvPr>
          <p:cNvSpPr>
            <a:spLocks xmlns:a="http://schemas.openxmlformats.org/drawingml/2006/main" noGrp="1"/>
          </p:cNvSpPr>
          <p:nvPr/>
        </p:nvSpPr>
        <p:spPr>
          <a:xfrm xmlns:a="http://schemas.openxmlformats.org/drawingml/2006/main">
            <a:off x="990600" y="5176391"/>
            <a:ext cx="3139730"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Likelihood-ratio χ², 1 df</a:t>
            </a:r>
            <a:endParaRPr sz="2175"/>
          </a:p>
        </p:txBody>
      </p:sp>
      <p:sp>
        <p:nvSpPr>
          <p:cNvPr id="18" name="Text 16">
            <a:extLst xmlns:a="http://schemas.openxmlformats.org/drawingml/2006/main">
              <a:ext uri="{FF2B5EF4-FFF2-40B4-BE49-F238E27FC236}">
                <a16:creationId xmlns:a16="http://schemas.microsoft.com/office/drawing/2014/main" id="{42904E21-82A8-4ECA-AB92-1BBF3140926B}"/>
              </a:ext>
            </a:extLst>
          </p:cNvPr>
          <p:cNvSpPr>
            <a:spLocks xmlns:a="http://schemas.openxmlformats.org/drawingml/2006/main" noGrp="1"/>
          </p:cNvSpPr>
          <p:nvPr/>
        </p:nvSpPr>
        <p:spPr>
          <a:xfrm xmlns:a="http://schemas.openxmlformats.org/drawingml/2006/main">
            <a:off x="6187380" y="5176391"/>
            <a:ext cx="2917001"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7.11 (p = 0.008)</a:t>
            </a:r>
            <a:endParaRPr sz="2175"/>
          </a:p>
        </p:txBody>
      </p:sp>
      <p:sp>
        <p:nvSpPr>
          <p:cNvPr id="19" name="Text 17">
            <a:extLst xmlns:a="http://schemas.openxmlformats.org/drawingml/2006/main">
              <a:ext uri="{FF2B5EF4-FFF2-40B4-BE49-F238E27FC236}">
                <a16:creationId xmlns:a16="http://schemas.microsoft.com/office/drawing/2014/main" id="{E0744D60-9002-44CC-9C7D-363CAF6AA948}"/>
              </a:ext>
            </a:extLst>
          </p:cNvPr>
          <p:cNvSpPr>
            <a:spLocks xmlns:a="http://schemas.openxmlformats.org/drawingml/2006/main" noGrp="1"/>
          </p:cNvSpPr>
          <p:nvPr/>
        </p:nvSpPr>
        <p:spPr>
          <a:xfrm xmlns:a="http://schemas.openxmlformats.org/drawingml/2006/main">
            <a:off x="990600" y="5981254"/>
            <a:ext cx="8084058"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C86C5A"/>
                </a:solidFill>
                <a:latin typeface="Arial"/>
                <a:ea typeface="Arial"/>
                <a:cs typeface="Arial"/>
              </a:rPr>
              <a:t>GOODNESS OF FIT</a:t>
            </a:r>
            <a:endParaRPr sz="1800"/>
          </a:p>
        </p:txBody>
      </p:sp>
      <p:sp>
        <p:nvSpPr>
          <p:cNvPr id="20" name="Shape 18">
            <a:extLst xmlns:a="http://schemas.openxmlformats.org/drawingml/2006/main">
              <a:ext uri="{FF2B5EF4-FFF2-40B4-BE49-F238E27FC236}">
                <a16:creationId xmlns:a16="http://schemas.microsoft.com/office/drawing/2014/main" id="{43C9B993-C453-487A-91A1-06E036D646FF}"/>
              </a:ext>
            </a:extLst>
          </p:cNvPr>
          <p:cNvSpPr>
            <a:spLocks xmlns:a="http://schemas.openxmlformats.org/drawingml/2006/main" noGrp="1"/>
          </p:cNvSpPr>
          <p:nvPr/>
        </p:nvSpPr>
        <p:spPr>
          <a:xfrm xmlns:a="http://schemas.openxmlformats.org/drawingml/2006/main">
            <a:off x="990600" y="7076629"/>
            <a:ext cx="78486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3FECE34F-9CE8-47DA-9C93-EAA5C5BC5539}"/>
              </a:ext>
            </a:extLst>
          </p:cNvPr>
          <p:cNvSpPr>
            <a:spLocks xmlns:a="http://schemas.openxmlformats.org/drawingml/2006/main" noGrp="1"/>
          </p:cNvSpPr>
          <p:nvPr/>
        </p:nvSpPr>
        <p:spPr>
          <a:xfrm xmlns:a="http://schemas.openxmlformats.org/drawingml/2006/main">
            <a:off x="990600" y="6547991"/>
            <a:ext cx="3715174"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Hosmer–Lemeshow χ², 8 df</a:t>
            </a:r>
            <a:endParaRPr sz="2175"/>
          </a:p>
        </p:txBody>
      </p:sp>
      <p:sp>
        <p:nvSpPr>
          <p:cNvPr id="22" name="Text 20">
            <a:extLst xmlns:a="http://schemas.openxmlformats.org/drawingml/2006/main">
              <a:ext uri="{FF2B5EF4-FFF2-40B4-BE49-F238E27FC236}">
                <a16:creationId xmlns:a16="http://schemas.microsoft.com/office/drawing/2014/main" id="{498DBFDE-A398-4A16-AD67-02F5A4133824}"/>
              </a:ext>
            </a:extLst>
          </p:cNvPr>
          <p:cNvSpPr>
            <a:spLocks xmlns:a="http://schemas.openxmlformats.org/drawingml/2006/main" noGrp="1"/>
          </p:cNvSpPr>
          <p:nvPr/>
        </p:nvSpPr>
        <p:spPr>
          <a:xfrm xmlns:a="http://schemas.openxmlformats.org/drawingml/2006/main">
            <a:off x="8176245" y="6547991"/>
            <a:ext cx="73915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100000"/>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2.19</a:t>
            </a:r>
            <a:endParaRPr sz="2175"/>
          </a:p>
        </p:txBody>
      </p:sp>
      <p:sp>
        <p:nvSpPr>
          <p:cNvPr id="23" name="Shape 21">
            <a:extLst xmlns:a="http://schemas.openxmlformats.org/drawingml/2006/main">
              <a:ext uri="{FF2B5EF4-FFF2-40B4-BE49-F238E27FC236}">
                <a16:creationId xmlns:a16="http://schemas.microsoft.com/office/drawing/2014/main" id="{27F9BC2E-30EF-433E-A81E-0894733F51D9}"/>
              </a:ext>
            </a:extLst>
          </p:cNvPr>
          <p:cNvSpPr>
            <a:spLocks xmlns:a="http://schemas.openxmlformats.org/drawingml/2006/main" noGrp="1"/>
          </p:cNvSpPr>
          <p:nvPr/>
        </p:nvSpPr>
        <p:spPr>
          <a:xfrm xmlns:a="http://schemas.openxmlformats.org/drawingml/2006/main">
            <a:off x="990600" y="7786241"/>
            <a:ext cx="7848600" cy="9525"/>
          </a:xfrm>
          <a:prstGeom xmlns:a="http://schemas.openxmlformats.org/drawingml/2006/main" prst="rect">
            <a:avLst/>
          </a:prstGeom>
          <a:solidFill xmlns:a="http://schemas.openxmlformats.org/drawingml/2006/main">
            <a:srgbClr val="E4DBD6"/>
          </a:solidFill>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C2BA2C27-D635-4C82-9A1A-1B67359A37E4}"/>
              </a:ext>
            </a:extLst>
          </p:cNvPr>
          <p:cNvSpPr>
            <a:spLocks xmlns:a="http://schemas.openxmlformats.org/drawingml/2006/main" noGrp="1"/>
          </p:cNvSpPr>
          <p:nvPr/>
        </p:nvSpPr>
        <p:spPr>
          <a:xfrm xmlns:a="http://schemas.openxmlformats.org/drawingml/2006/main">
            <a:off x="990600" y="7257604"/>
            <a:ext cx="966267"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2175">
                <a:solidFill>
                  <a:srgbClr val="202C35"/>
                </a:solidFill>
                <a:latin typeface="Arial"/>
                <a:ea typeface="Arial"/>
                <a:cs typeface="Arial"/>
              </a:rPr>
              <a:t>p value</a:t>
            </a:r>
            <a:endParaRPr sz="2175"/>
          </a:p>
        </p:txBody>
      </p:sp>
      <p:sp>
        <p:nvSpPr>
          <p:cNvPr id="25" name="Text 23">
            <a:extLst xmlns:a="http://schemas.openxmlformats.org/drawingml/2006/main">
              <a:ext uri="{FF2B5EF4-FFF2-40B4-BE49-F238E27FC236}">
                <a16:creationId xmlns:a16="http://schemas.microsoft.com/office/drawing/2014/main" id="{4CC00997-6800-4227-B75A-B31219F96226}"/>
              </a:ext>
            </a:extLst>
          </p:cNvPr>
          <p:cNvSpPr>
            <a:spLocks xmlns:a="http://schemas.openxmlformats.org/drawingml/2006/main" noGrp="1"/>
          </p:cNvSpPr>
          <p:nvPr/>
        </p:nvSpPr>
        <p:spPr>
          <a:xfrm xmlns:a="http://schemas.openxmlformats.org/drawingml/2006/main">
            <a:off x="8176245" y="7257604"/>
            <a:ext cx="739155" cy="39528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fontScale="82815"/>
          </a:bodyPr>
          <a:lstStyle xmlns:a="http://schemas.openxmlformats.org/drawingml/2006/main"/>
          <a:p xmlns:a="http://schemas.openxmlformats.org/drawingml/2006/main">
            <a:pPr marL="0" indent="0" algn="l">
              <a:buNone/>
            </a:pPr>
            <a:r>
              <a:rPr sz="2175">
                <a:solidFill>
                  <a:srgbClr val="202C35"/>
                </a:solidFill>
                <a:latin typeface="Courier New"/>
                <a:ea typeface="Courier New"/>
                <a:cs typeface="Courier New"/>
              </a:rPr>
              <a:t>0.975</a:t>
            </a:r>
            <a:endParaRPr sz="2175"/>
          </a:p>
        </p:txBody>
      </p:sp>
      <p:sp>
        <p:nvSpPr>
          <p:cNvPr id="26" name="Shape 24">
            <a:extLst xmlns:a="http://schemas.openxmlformats.org/drawingml/2006/main">
              <a:ext uri="{FF2B5EF4-FFF2-40B4-BE49-F238E27FC236}">
                <a16:creationId xmlns:a16="http://schemas.microsoft.com/office/drawing/2014/main" id="{06D84B8E-7C4F-49FA-8AAB-1007DBC9B270}"/>
              </a:ext>
            </a:extLst>
          </p:cNvPr>
          <p:cNvSpPr>
            <a:spLocks xmlns:a="http://schemas.openxmlformats.org/drawingml/2006/main" noGrp="1"/>
          </p:cNvSpPr>
          <p:nvPr/>
        </p:nvSpPr>
        <p:spPr>
          <a:xfrm xmlns:a="http://schemas.openxmlformats.org/drawingml/2006/main">
            <a:off x="9448800" y="2480816"/>
            <a:ext cx="7848600" cy="4567238"/>
          </a:xfrm>
          <a:prstGeom xmlns:a="http://schemas.openxmlformats.org/drawingml/2006/main" prst="rect">
            <a:avLst/>
          </a:prstGeom>
          <a:solidFill xmlns:a="http://schemas.openxmlformats.org/drawingml/2006/main">
            <a:srgbClr val="F6EAE6"/>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6B69393C-86C3-4AE8-AA71-89E72E0A1B92}"/>
              </a:ext>
            </a:extLst>
          </p:cNvPr>
          <p:cNvSpPr>
            <a:spLocks xmlns:a="http://schemas.openxmlformats.org/drawingml/2006/main" noGrp="1"/>
          </p:cNvSpPr>
          <p:nvPr/>
        </p:nvSpPr>
        <p:spPr>
          <a:xfrm xmlns:a="http://schemas.openxmlformats.org/drawingml/2006/main">
            <a:off x="9772650" y="2785616"/>
            <a:ext cx="7920990" cy="300038"/>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buNone/>
            </a:pPr>
            <a:r>
              <a:rPr sz="1800" b="1" spc="288">
                <a:solidFill>
                  <a:srgbClr val="516674"/>
                </a:solidFill>
                <a:latin typeface="Arial"/>
                <a:ea typeface="Arial"/>
                <a:cs typeface="Arial"/>
              </a:rPr>
              <a:t>WHY NOT THE FULL LOGISTIC MODEL</a:t>
            </a:r>
            <a:endParaRPr sz="1800"/>
          </a:p>
        </p:txBody>
      </p:sp>
      <p:sp>
        <p:nvSpPr>
          <p:cNvPr id="28" name="Text 26">
            <a:extLst xmlns:a="http://schemas.openxmlformats.org/drawingml/2006/main">
              <a:ext uri="{FF2B5EF4-FFF2-40B4-BE49-F238E27FC236}">
                <a16:creationId xmlns:a16="http://schemas.microsoft.com/office/drawing/2014/main" id="{B0929454-5772-442E-B174-3BCCFB931A8B}"/>
              </a:ext>
            </a:extLst>
          </p:cNvPr>
          <p:cNvSpPr>
            <a:spLocks xmlns:a="http://schemas.openxmlformats.org/drawingml/2006/main" noGrp="1"/>
          </p:cNvSpPr>
          <p:nvPr/>
        </p:nvSpPr>
        <p:spPr>
          <a:xfrm xmlns:a="http://schemas.openxmlformats.org/drawingml/2006/main">
            <a:off x="9772650" y="3180904"/>
            <a:ext cx="7416927" cy="218122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30435"/>
              </a:lnSpc>
              <a:buNone/>
            </a:pPr>
            <a:r>
              <a:rPr sz="2250">
                <a:solidFill>
                  <a:srgbClr val="202C35"/>
                </a:solidFill>
                <a:latin typeface="Arial"/>
                <a:ea typeface="Arial"/>
                <a:cs typeface="Arial"/>
              </a:rPr>
              <a:t>With island, clutch completion, all four measurements and sex, the fit runs into quasi-complete separation: Chinstrap are observed on Dream only, so the island coefficient diverges and its standard error explodes. The likelihood keeps increasing without a finite maximum.</a:t>
            </a:r>
            <a:endParaRPr sz="2250"/>
          </a:p>
        </p:txBody>
      </p:sp>
      <p:sp>
        <p:nvSpPr>
          <p:cNvPr id="29" name="Text 27">
            <a:extLst xmlns:a="http://schemas.openxmlformats.org/drawingml/2006/main">
              <a:ext uri="{FF2B5EF4-FFF2-40B4-BE49-F238E27FC236}">
                <a16:creationId xmlns:a16="http://schemas.microsoft.com/office/drawing/2014/main" id="{7DDA24F8-6B14-457A-B48A-9B504C34D8B3}"/>
              </a:ext>
            </a:extLst>
          </p:cNvPr>
          <p:cNvSpPr>
            <a:spLocks xmlns:a="http://schemas.openxmlformats.org/drawingml/2006/main" noGrp="1"/>
          </p:cNvSpPr>
          <p:nvPr/>
        </p:nvSpPr>
        <p:spPr>
          <a:xfrm xmlns:a="http://schemas.openxmlformats.org/drawingml/2006/main">
            <a:off x="9772650" y="5457379"/>
            <a:ext cx="7416927" cy="13239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30435"/>
              </a:lnSpc>
              <a:buNone/>
            </a:pPr>
            <a:r>
              <a:rPr sz="2250">
                <a:solidFill>
                  <a:srgbClr val="202C35"/>
                </a:solidFill>
                <a:latin typeface="Arial"/>
                <a:ea typeface="Arial"/>
                <a:cs typeface="Arial"/>
              </a:rPr>
              <a:t>We keep the two-variable model because it converges, it can be plotted, and its coefficients can be read as odds ratios.</a:t>
            </a:r>
            <a:endParaRPr sz="2250"/>
          </a:p>
        </p:txBody>
      </p:sp>
      <p:sp>
        <p:nvSpPr>
          <p:cNvPr id="30" name="Text 28">
            <a:extLst xmlns:a="http://schemas.openxmlformats.org/drawingml/2006/main">
              <a:ext uri="{FF2B5EF4-FFF2-40B4-BE49-F238E27FC236}">
                <a16:creationId xmlns:a16="http://schemas.microsoft.com/office/drawing/2014/main" id="{8CE51A39-594A-40E4-9E93-E29819FABFF4}"/>
              </a:ext>
            </a:extLst>
          </p:cNvPr>
          <p:cNvSpPr>
            <a:spLocks xmlns:a="http://schemas.openxmlformats.org/drawingml/2006/main" noGrp="1"/>
          </p:cNvSpPr>
          <p:nvPr/>
        </p:nvSpPr>
        <p:spPr>
          <a:xfrm xmlns:a="http://schemas.openxmlformats.org/drawingml/2006/main">
            <a:off x="9448800" y="7295704"/>
            <a:ext cx="8084058" cy="1695450"/>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lnSpcReduction="10000"/>
          </a:bodyPr>
          <a:lstStyle xmlns:a="http://schemas.openxmlformats.org/drawingml/2006/main"/>
          <a:p xmlns:a="http://schemas.openxmlformats.org/drawingml/2006/main">
            <a:pPr marL="0" indent="0" algn="l">
              <a:lnSpc>
                <a:spcPct val="129851"/>
              </a:lnSpc>
              <a:buNone/>
            </a:pPr>
            <a:r>
              <a:rPr sz="2175">
                <a:solidFill>
                  <a:srgbClr val="516674"/>
                </a:solidFill>
                <a:latin typeface="Arial"/>
                <a:ea typeface="Arial"/>
                <a:cs typeface="Arial"/>
              </a:rPr>
              <a:t>The Hosmer–Lemeshow test does not reject the calibration of the bivariate model, but with 8 misclassified birds out of 206 the test has very little power here. We report it for completeness, not as evidence of good calibration.</a:t>
            </a:r>
            <a:endParaRPr sz="2175"/>
          </a:p>
        </p:txBody>
      </p:sp>
      <p:sp>
        <p:nvSpPr>
          <p:cNvPr id="31" name="Text 29">
            <a:extLst xmlns:a="http://schemas.openxmlformats.org/drawingml/2006/main">
              <a:ext uri="{FF2B5EF4-FFF2-40B4-BE49-F238E27FC236}">
                <a16:creationId xmlns:a16="http://schemas.microsoft.com/office/drawing/2014/main" id="{875FE10D-05E6-466C-B4A5-68DF7F079C0D}"/>
              </a:ext>
            </a:extLst>
          </p:cNvPr>
          <p:cNvSpPr>
            <a:spLocks xmlns:a="http://schemas.openxmlformats.org/drawingml/2006/main" noGrp="1"/>
          </p:cNvSpPr>
          <p:nvPr/>
        </p:nvSpPr>
        <p:spPr>
          <a:xfrm xmlns:a="http://schemas.openxmlformats.org/drawingml/2006/main">
            <a:off x="990600" y="9382125"/>
            <a:ext cx="6018996"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Arial"/>
                <a:ea typeface="Arial"/>
                <a:cs typeface="Arial"/>
              </a:rPr>
              <a:t>Penguin Morphometrics · Statistical Inference Project</a:t>
            </a:r>
            <a:endParaRPr sz="1800"/>
          </a:p>
        </p:txBody>
      </p:sp>
      <p:sp>
        <p:nvSpPr>
          <p:cNvPr id="32" name="Text 30">
            <a:extLst xmlns:a="http://schemas.openxmlformats.org/drawingml/2006/main">
              <a:ext uri="{FF2B5EF4-FFF2-40B4-BE49-F238E27FC236}">
                <a16:creationId xmlns:a16="http://schemas.microsoft.com/office/drawing/2014/main" id="{68FAD9E8-787E-41B9-B2D9-56AA9F1A3F62}"/>
              </a:ext>
            </a:extLst>
          </p:cNvPr>
          <p:cNvSpPr>
            <a:spLocks xmlns:a="http://schemas.openxmlformats.org/drawingml/2006/main" noGrp="1"/>
          </p:cNvSpPr>
          <p:nvPr/>
        </p:nvSpPr>
        <p:spPr>
          <a:xfrm xmlns:a="http://schemas.openxmlformats.org/drawingml/2006/main">
            <a:off x="17023035" y="9382125"/>
            <a:ext cx="350565" cy="333375"/>
          </a:xfrm>
          <a:prstGeom xmlns:a="http://schemas.openxmlformats.org/drawingml/2006/main" prst="rect">
            <a:avLst/>
          </a:prstGeom>
          <a:noFill xmlns:a="http://schemas.openxmlformats.org/drawingml/2006/main"/>
        </p:spPr>
        <p:txBody>
          <a:bodyPr xmlns:a="http://schemas.openxmlformats.org/drawingml/2006/main" wrap="square" lIns="25400" tIns="25400" rIns="25400" bIns="25400" anchor="t">
            <a:normAutofit/>
          </a:bodyPr>
          <a:lstStyle xmlns:a="http://schemas.openxmlformats.org/drawingml/2006/main"/>
          <a:p xmlns:a="http://schemas.openxmlformats.org/drawingml/2006/main">
            <a:pPr marL="0" indent="0" algn="l">
              <a:buNone/>
            </a:pPr>
            <a:r>
              <a:rPr sz="1800">
                <a:solidFill>
                  <a:srgbClr val="516674"/>
                </a:solidFill>
                <a:latin typeface="Courier New"/>
                <a:ea typeface="Courier New"/>
                <a:cs typeface="Courier New"/>
              </a:rPr>
              <a:t>A4</a:t>
            </a:r>
            <a:endParaRPr sz="1800"/>
          </a:p>
        </p:txBody>
      </p:sp>
    </p:spTree>
    <p:extLst>
      <p:ext uri="{BB962C8B-B14F-4D97-AF65-F5344CB8AC3E}">
        <p14:creationId xmlns:p14="http://schemas.microsoft.com/office/powerpoint/2010/main" val="165105528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2026-09-22T09:41:24.8410000Z</dcterms:created>
  <dcterms:modified xsi:type="dcterms:W3CDTF">2026-09-22T09:41:24.8410000Z</dcterms:modified>
</coreProperties>
</file>
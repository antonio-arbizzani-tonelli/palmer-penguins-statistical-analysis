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050418f6da4a85" /><Relationship Type="http://schemas.openxmlformats.org/officeDocument/2006/relationships/extended-properties" Target="/docProps/app.xml" Id="Rb75e5fb6b9ae48c3" /><Relationship Type="http://schemas.openxmlformats.org/officeDocument/2006/relationships/officeDocument" Target="/ppt/presentation.xml" Id="Rba5d0fdf5bc44e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ded70dd11146e9"/>
  </p:sldMasterIdLst>
  <p:notesMasterIdLst>
    <p:notesMasterId xmlns:r="http://schemas.openxmlformats.org/officeDocument/2006/relationships" r:id="R7a4b7548956244a6"/>
  </p:notesMasterIdLst>
  <p:sldIdLst>
    <p:sldId xmlns:r="http://schemas.openxmlformats.org/officeDocument/2006/relationships" id="256" r:id="Rf9c7314767cb42b5"/>
    <p:sldId xmlns:r="http://schemas.openxmlformats.org/officeDocument/2006/relationships" id="257" r:id="R75823af1d6da41ee"/>
    <p:sldId xmlns:r="http://schemas.openxmlformats.org/officeDocument/2006/relationships" id="258" r:id="Rdfccc5c40b1e4d68"/>
    <p:sldId xmlns:r="http://schemas.openxmlformats.org/officeDocument/2006/relationships" id="259" r:id="R4c4b031d94b54e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e1141f00424f8e" /><Relationship Type="http://schemas.openxmlformats.org/officeDocument/2006/relationships/slideMaster" Target="/ppt/slideMasters/slideMaster1.xml" Id="R95ded70dd11146e9" /><Relationship Type="http://schemas.openxmlformats.org/officeDocument/2006/relationships/notesMaster" Target="/ppt/notesMasters/notesMaster1.xml" Id="R7a4b7548956244a6" /><Relationship Type="http://schemas.openxmlformats.org/officeDocument/2006/relationships/presProps" Target="/ppt/presProps.xml" Id="R1be2a583198a4d4c" /><Relationship Type="http://schemas.openxmlformats.org/officeDocument/2006/relationships/tableStyles" Target="/ppt/tableStyles.xml" Id="R36cf65807f52412e" /><Relationship Type="http://schemas.openxmlformats.org/officeDocument/2006/relationships/slide" Target="/ppt/slides/slide1.xml" Id="Rf9c7314767cb42b5" /><Relationship Type="http://schemas.openxmlformats.org/officeDocument/2006/relationships/slide" Target="/ppt/slides/slide2.xml" Id="R75823af1d6da41ee" /><Relationship Type="http://schemas.openxmlformats.org/officeDocument/2006/relationships/slide" Target="/ppt/slides/slide3.xml" Id="Rdfccc5c40b1e4d68" /><Relationship Type="http://schemas.openxmlformats.org/officeDocument/2006/relationships/slide" Target="/ppt/slides/slide4.xml" Id="R4c4b031d94b54e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ea30c904df4e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bef80cd64a441e" /><Relationship Type="http://schemas.openxmlformats.org/officeDocument/2006/relationships/notesMaster" Target="/ppt/notesMasters/notesMaster1.xml" Id="R5f78ba3b2d184d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980743f73b4199" /><Relationship Type="http://schemas.openxmlformats.org/officeDocument/2006/relationships/notesMaster" Target="/ppt/notesMasters/notesMaster1.xml" Id="Rd71c509e357b40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e2b189936444d5" /><Relationship Type="http://schemas.openxmlformats.org/officeDocument/2006/relationships/notesMaster" Target="/ppt/notesMasters/notesMaster1.xml" Id="Rc8bf8395f22141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3400b4849441af" /><Relationship Type="http://schemas.openxmlformats.org/officeDocument/2006/relationships/notesMaster" Target="/ppt/notesMasters/notesMaster1.xml" Id="R4d86edce985445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 supplied by the project team. Project team names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questions based on the project presentation and the accompanying R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source: Horst, Hill and Gorman (2020), palmerpenguins. The project uses a 324-row complete-case CSV snapshot.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source: Horst, Hill and Gorman (2020), palmerpenguins. Correlations calculated from the 324 complete observations used in this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c60b8f7ad48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95e7f07d8a45f0" /><Relationship Type="http://schemas.openxmlformats.org/officeDocument/2006/relationships/slideLayout" Target="/ppt/slideLayouts/slideLayout1.xml" Id="R246288e169924f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6288e169924f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777f26955412b" /><Relationship Type="http://schemas.openxmlformats.org/officeDocument/2006/relationships/image" Target="/ppt/media/image.png" Id="Rea5965cc03d24e88" /><Relationship Type="http://schemas.openxmlformats.org/officeDocument/2006/relationships/notesSlide" Target="/ppt/notesSlides/notesSlide1.xml" Id="R78295a3d844747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01a95357c4bd0" /><Relationship Type="http://schemas.openxmlformats.org/officeDocument/2006/relationships/notesSlide" Target="/ppt/notesSlides/notesSlide2.xml" Id="Rea3523fc22ec44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67d4e25384e69" /><Relationship Type="http://schemas.openxmlformats.org/officeDocument/2006/relationships/notesSlide" Target="/ppt/notesSlides/notesSlide3.xml" Id="R051b478d8d9245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0fb7dbbd74ba8" /><Relationship Type="http://schemas.openxmlformats.org/officeDocument/2006/relationships/image" Target="/ppt/media/image2.png" Id="R25f7d1c9a3144a81" /><Relationship Type="http://schemas.openxmlformats.org/officeDocument/2006/relationships/notesSlide" Target="/ppt/notesSlides/notesSlide4.xml" Id="Rce4fdc47eabe46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965cc03d24e88"/>
          <a:srcRect xmlns:a="http://schemas.openxmlformats.org/drawingml/2006/main" l="121" t="0" r="1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BC852-C250-456A-BA3A-1BB2D88E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2EB0D-BB39-4F1F-ABDC-EE9965BC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5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2F6B6-1BE8-4577-A07C-B80123BF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spc="2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825" b="1" spc="2">
                <a:solidFill>
                  <a:srgbClr val="516674"/>
                </a:solidFill>
                <a:latin typeface="Aptos"/>
                <a:ea typeface="Aptos"/>
                <a:cs typeface="Aptos"/>
              </a:rPr>
              <a:t>STATISTICAL INFERENCE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0B066-BC58-4CB8-BCBA-A80CFD5E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Penguin Morphometrics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69E7D-2F47-44F8-B214-FCF8CE53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674"/>
                </a:solidFill>
                <a:latin typeface="Aptos"/>
                <a:ea typeface="Aptos"/>
                <a:cs typeface="Aptos"/>
              </a:rPr>
              <a:t>Body mass modelling and species 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E54F8-37A6-4A71-A9F1-51AF6DB6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198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16674"/>
                </a:solidFill>
                <a:latin typeface="Aptos"/>
                <a:ea typeface="Aptos"/>
                <a:cs typeface="Aptos"/>
              </a:rPr>
              <a:t>Antonio Arbizzani Tonelli · Simone Biraghi · Samuele Cipriani · Tommaso Frignani</a:t>
            </a:r>
          </a:p>
        </p:txBody>
      </p:sp>
    </p:spTree>
    <p:extLst>
      <p:ext uri="{BB962C8B-B14F-4D97-AF65-F5344CB8AC3E}">
        <p14:creationId xmlns:p14="http://schemas.microsoft.com/office/powerpoint/2010/main" val="651848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9C3C1B-FE2D-40CF-AB62-9F9E5E0B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975" b="1" spc="2">
                <a:solidFill>
                  <a:srgbClr val="516674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D31F1-20C4-4230-A2C0-1AF576F7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6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6C5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F72A7-3014-4EB6-BA31-EE7A5803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D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8132B-0838-4670-A828-7F43F017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Research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16511-12B9-4685-B2E9-4F0277A7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16674"/>
                </a:solidFill>
                <a:latin typeface="Aptos"/>
                <a:ea typeface="Aptos"/>
                <a:cs typeface="Aptos"/>
              </a:rPr>
              <a:t>Penguin Morphometrics · Statistical Inference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D53F7-CB19-4910-9418-E7E2F4EA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166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E0B34-B4C8-41AC-8DEE-51409F0A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16674"/>
                </a:solidFill>
                <a:latin typeface="Aptos"/>
                <a:ea typeface="Aptos"/>
                <a:cs typeface="Aptos"/>
              </a:rPr>
              <a:t>Morphological measurements support two complementary analyses.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31613-BA5F-4649-A2AC-29509EF0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86C5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86C5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6D298-649B-4273-9C24-6E829ED0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What explains variation in penguin body mass?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11B70-04A8-4217-AF02-ECD55AA7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9850"/>
            <a:ext cx="95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D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CA576-03D2-46F9-9B49-BC932680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86C5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86C5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E468F-CF68-422E-8C87-435081E7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4524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Can measurements separate Adelie and Chinstrap?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24885-4D3F-4036-B92E-181F617B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24350"/>
            <a:ext cx="12192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91EC8-5CF8-4B46-B5A6-0D5459C4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spc="2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825" b="1" spc="2">
                <a:solidFill>
                  <a:srgbClr val="516674"/>
                </a:solidFill>
                <a:latin typeface="Aptos"/>
                <a:ea typeface="Aptos"/>
                <a:cs typeface="Aptos"/>
              </a:rPr>
              <a:t>ANALYTICAL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DEC99-D5E2-442C-AD49-6A7E91AD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19700"/>
            <a:ext cx="916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D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A35F6-4D89-4A87-AFF3-EC7EED75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C5A"/>
          </a:solidFill>
          <a:ln xmlns:a="http://schemas.openxmlformats.org/drawingml/2006/main" w="0">
            <a:solidFill>
              <a:srgbClr val="C86C5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DB1B3-96E9-48D3-BB4B-F2D7DB93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2476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AD0F5-E245-43AE-8E47-AAC145F9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Body mass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C665B-23C5-4D80-ABAC-32DCE456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24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16674"/>
                </a:solidFill>
                <a:latin typeface="Aptos"/>
                <a:ea typeface="Aptos"/>
                <a:cs typeface="Aptos"/>
              </a:rPr>
              <a:t>Linear regression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D1903-92E3-4A43-9E9E-8F153CF2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95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C5A"/>
          </a:solidFill>
          <a:ln xmlns:a="http://schemas.openxmlformats.org/drawingml/2006/main" w="0">
            <a:solidFill>
              <a:srgbClr val="C86C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224D7E-6017-4F85-B7A8-DFCD5424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43500"/>
            <a:ext cx="2476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514D5-10DD-418E-B435-2E0BD5E3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Species and sex effects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110BA-D176-4DD4-9363-CEF1ED0F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24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16674"/>
                </a:solidFill>
                <a:latin typeface="Aptos"/>
                <a:ea typeface="Aptos"/>
                <a:cs typeface="Aptos"/>
              </a:rPr>
              <a:t>Two-way ANOVA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C3BB20-C87D-491F-9CDA-72ECAB34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95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C5A"/>
          </a:solidFill>
          <a:ln xmlns:a="http://schemas.openxmlformats.org/drawingml/2006/main" w="0">
            <a:solidFill>
              <a:srgbClr val="C86C5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68E2E-F14D-4511-B6BA-C3AB18F3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0"/>
            <a:ext cx="2476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8359C-5628-4A10-8BE6-C21D3C68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29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Species classification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F7154F-0A9D-4224-BD79-3D7D7F1A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24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16674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439037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65582-0437-4C89-AF2C-4E6F06C4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975" b="1" spc="2">
                <a:solidFill>
                  <a:srgbClr val="516674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35A7D-92F3-48B3-BB8A-554A2D2E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6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6C5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57820-B2F6-4A96-B998-02E2FDCA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D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1DF02-841C-4F85-B93B-923A8A25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Dataset and variables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D2998-82ED-45DE-9265-885E0E2D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16674"/>
                </a:solidFill>
                <a:latin typeface="Aptos"/>
                <a:ea typeface="Aptos"/>
                <a:cs typeface="Aptos"/>
              </a:rPr>
              <a:t>Penguin Morphometrics · Statistical Inference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39444-AE9C-4AB2-8A74-BF2F0B4E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166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9B298-508F-43A2-BD8D-AF08FA0E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324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18EA8-19C6-4490-AA66-397EAA08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16674"/>
                </a:solidFill>
                <a:latin typeface="Aptos"/>
                <a:ea typeface="Aptos"/>
                <a:cs typeface="Aptos"/>
              </a:rPr>
              <a:t>complete observations</a:t>
            </a:r>
          </a:p>
          <a:p xmlns:a="http://schemas.openxmlformats.org/drawingml/2006/main">
            <a:pPr>
              <a:defRPr sz="1200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16674"/>
                </a:solidFill>
                <a:latin typeface="Aptos"/>
                <a:ea typeface="Aptos"/>
                <a:cs typeface="Aptos"/>
              </a:rPr>
              <a:t>used throughout the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CF6CE-0FE2-4430-A8EA-1B424E36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764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D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34E9D-B600-4ADE-804F-D990B2D9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764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C86C5A"/>
                </a:solidFill>
                <a:latin typeface="Aptos"/>
                <a:ea typeface="Aptos"/>
                <a:cs typeface="Aptos"/>
              </a:defRPr>
            </a:pPr>
            <a:r>
              <a:rPr sz="1050" b="1" spc="1">
                <a:solidFill>
                  <a:srgbClr val="C86C5A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C1C6E-F962-49D5-8DA9-525EA2CE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526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Body mass (g)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29E1A-B198-46F8-822D-A5E34CAD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337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D8CF9-CDAD-43C5-AC6F-38EA6E4D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385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C86C5A"/>
                </a:solidFill>
                <a:latin typeface="Aptos"/>
                <a:ea typeface="Aptos"/>
                <a:cs typeface="Aptos"/>
              </a:defRPr>
            </a:pPr>
            <a:r>
              <a:rPr sz="1050" b="1" spc="1">
                <a:solidFill>
                  <a:srgbClr val="C86C5A"/>
                </a:solidFill>
                <a:latin typeface="Aptos"/>
                <a:ea typeface="Aptos"/>
                <a:cs typeface="Aptos"/>
              </a:rPr>
              <a:t>MORPHOLOGICAL MEASUREMENTS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453CC-3BC9-4663-85B4-C641E3B5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385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Bill length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59876-7208-49EB-A811-74EB07CA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6240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16674"/>
                </a:solidFill>
                <a:latin typeface="Aptos"/>
                <a:ea typeface="Aptos"/>
                <a:cs typeface="Aptos"/>
              </a:rPr>
              <a:t>mm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5E9B0-825B-4A2B-9DD3-45A3D9EC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Bill depth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5B87D-B1DA-4EC5-8766-5F944BE2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16674"/>
                </a:solidFill>
                <a:latin typeface="Aptos"/>
                <a:ea typeface="Aptos"/>
                <a:cs typeface="Aptos"/>
              </a:rPr>
              <a:t>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DEE5C-9BF6-481C-B132-EDB2EA42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Flipper length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E7ADD-E53B-4457-AF04-93D5E945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6240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16674"/>
                </a:solidFill>
                <a:latin typeface="Aptos"/>
                <a:ea typeface="Aptos"/>
                <a:cs typeface="Aptos"/>
              </a:rPr>
              <a:t>mm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80E2C-9AB7-4E2E-96C8-8E7881F5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81D96-DC87-41CF-93AF-9E9749EB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C86C5A"/>
                </a:solidFill>
                <a:latin typeface="Aptos"/>
                <a:ea typeface="Aptos"/>
                <a:cs typeface="Aptos"/>
              </a:defRPr>
            </a:pPr>
            <a:r>
              <a:rPr sz="1050" b="1" spc="1">
                <a:solidFill>
                  <a:srgbClr val="C86C5A"/>
                </a:solidFill>
                <a:latin typeface="Aptos"/>
                <a:ea typeface="Aptos"/>
                <a:cs typeface="Aptos"/>
              </a:rPr>
              <a:t>CONTEXT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59E84-0688-4E6F-AA7A-D8C2DDFA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482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Species · Sex · Island · Clutch completion</a:t>
            </a:r>
          </a:p>
        </p:txBody>
      </p:sp>
    </p:spTree>
    <p:extLst>
      <p:ext uri="{BB962C8B-B14F-4D97-AF65-F5344CB8AC3E}">
        <p14:creationId xmlns:p14="http://schemas.microsoft.com/office/powerpoint/2010/main" val="1569766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9A583-B7E5-4880-93B7-88489395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975" b="1" spc="2">
                <a:solidFill>
                  <a:srgbClr val="516674"/>
                </a:solidFill>
                <a:latin typeface="Aptos"/>
                <a:ea typeface="Aptos"/>
                <a:cs typeface="Aptos"/>
              </a:rPr>
              <a:t>EXPLORATORY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864F6-735C-4692-A60D-356D8CCA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6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6C5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90FDA-9566-4BC4-A51C-3F76C206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D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418C0-0341-491F-9483-ED1FEB07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85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Flipper length has the strongest continuous association with body mass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A9F90-76AA-42CD-BAAD-8FFA8D1C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16674"/>
                </a:solidFill>
                <a:latin typeface="Aptos"/>
                <a:ea typeface="Aptos"/>
                <a:cs typeface="Aptos"/>
              </a:rPr>
              <a:t>Penguin Morphometrics · Statistical Inference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85A49-8C81-47EC-A95A-C94088EE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166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7d1c9a3144a81"/>
          <a:stretch xmlns:a="http://schemas.openxmlformats.org/drawingml/2006/main"/>
        </p:blipFill>
        <p:spPr>
          <a:xfrm xmlns:a="http://schemas.openxmlformats.org/drawingml/2006/main">
            <a:off x="1128713" y="2057400"/>
            <a:ext cx="5000625" cy="3333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544A1-A95B-478D-9B69-4D505565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C86C5A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C86C5A"/>
                </a:solidFill>
                <a:latin typeface="Aptos Display"/>
                <a:ea typeface="Aptos Display"/>
                <a:cs typeface="Aptos Display"/>
              </a:rPr>
              <a:t>0.88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47F3F-2083-4B30-A049-139D3C56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051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674"/>
                </a:solidFill>
                <a:latin typeface="Aptos"/>
                <a:ea typeface="Aptos"/>
                <a:cs typeface="Aptos"/>
              </a:rPr>
              <a:t>Pearson correlation</a:t>
            </a:r>
          </a:p>
          <a:p xmlns:a="http://schemas.openxmlformats.org/drawingml/2006/main">
            <a:pPr>
              <a:defRPr sz="1275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674"/>
                </a:solidFill>
                <a:latin typeface="Aptos"/>
                <a:ea typeface="Aptos"/>
                <a:cs typeface="Aptos"/>
              </a:rPr>
              <a:t>Flipper length vs body mass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55EB6-1056-4C68-9D42-3F6C29FD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147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0B039-8D57-40D2-AD7C-E6319CEA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48125"/>
            <a:ext cx="321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C35"/>
                </a:solidFill>
                <a:latin typeface="Aptos Display"/>
                <a:ea typeface="Aptos Display"/>
                <a:cs typeface="Aptos Display"/>
              </a:rPr>
              <a:t>Species and sex account for structure that the pooled correlations cannot show on their 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23103-46E8-42E2-94EA-0EED0C52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101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1667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16674"/>
                </a:solidFill>
                <a:latin typeface="Aptos"/>
                <a:ea typeface="Aptos"/>
                <a:cs typeface="Aptos"/>
              </a:rPr>
              <a:t>Pearson correlations, n = 324</a:t>
            </a:r>
          </a:p>
        </p:txBody>
      </p:sp>
    </p:spTree>
    <p:extLst>
      <p:ext uri="{BB962C8B-B14F-4D97-AF65-F5344CB8AC3E}">
        <p14:creationId xmlns:p14="http://schemas.microsoft.com/office/powerpoint/2010/main" val="1816526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2026-09-22T00:05:36.4740000Z</dcterms:created>
  <dcterms:modified xsi:type="dcterms:W3CDTF">2026-09-22T00:05:36.4740000Z</dcterms:modified>
</coreProperties>
</file>